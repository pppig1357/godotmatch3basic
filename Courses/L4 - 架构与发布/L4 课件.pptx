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7" r:id="rId14"/>
    <p:sldId id="268" r:id="rId15"/>
    <p:sldId id="269" r:id="rId16"/>
    <p:sldId id="272" r:id="rId17"/>
    <p:sldId id="273" r:id="rId18"/>
    <p:sldId id="270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0FEEBB-0C30-3673-EE2B-2532924FA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992" y="1594262"/>
            <a:ext cx="6158948" cy="193412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200" b="1" i="0">
                <a:solidFill>
                  <a:srgbClr val="4B88A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9DE1C3-684D-6B32-DBE6-5D27018EE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992" y="3607976"/>
            <a:ext cx="5632173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2038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3D5930-9F91-0D55-56FB-B38E56D45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1074088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CN" altLang="en-US" dirty="0"/>
          </a:p>
        </p:txBody>
      </p:sp>
      <p:pic>
        <p:nvPicPr>
          <p:cNvPr id="7" name="图片 6" descr="徽标&#10;&#10;描述已自动生成">
            <a:extLst>
              <a:ext uri="{FF2B5EF4-FFF2-40B4-BE49-F238E27FC236}">
                <a16:creationId xmlns:a16="http://schemas.microsoft.com/office/drawing/2014/main" id="{4711E3EF-1573-5A79-25C3-0961F05A5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91" y="0"/>
            <a:ext cx="1098458" cy="1368848"/>
          </a:xfrm>
          <a:prstGeom prst="rect">
            <a:avLst/>
          </a:prstGeom>
        </p:spPr>
      </p:pic>
      <p:sp>
        <p:nvSpPr>
          <p:cNvPr id="8" name="标题占位符 1">
            <a:extLst>
              <a:ext uri="{FF2B5EF4-FFF2-40B4-BE49-F238E27FC236}">
                <a16:creationId xmlns:a16="http://schemas.microsoft.com/office/drawing/2014/main" id="{4A0A1BEE-AB7A-B021-58AD-3DADC214E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3" name="日期占位符 4">
            <a:extLst>
              <a:ext uri="{FF2B5EF4-FFF2-40B4-BE49-F238E27FC236}">
                <a16:creationId xmlns:a16="http://schemas.microsoft.com/office/drawing/2014/main" id="{C2A25001-E83A-5DCC-38C2-B3C73FF9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23B4A6BA-6617-46E9-9990-995E90CA0243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14" name="页脚占位符 5">
            <a:extLst>
              <a:ext uri="{FF2B5EF4-FFF2-40B4-BE49-F238E27FC236}">
                <a16:creationId xmlns:a16="http://schemas.microsoft.com/office/drawing/2014/main" id="{2DE9E4BF-C630-701B-9052-23FA8A21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5" name="灯片编号占位符 6">
            <a:extLst>
              <a:ext uri="{FF2B5EF4-FFF2-40B4-BE49-F238E27FC236}">
                <a16:creationId xmlns:a16="http://schemas.microsoft.com/office/drawing/2014/main" id="{7523D007-EC50-4DD2-5583-37512B9C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7185459-CCF4-4F25-8621-177316108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112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4B88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3297B6-5546-775A-7C1B-152FCB0E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8" y="1779312"/>
            <a:ext cx="10740884" cy="198761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BA25B2-340D-E4B0-0C67-6819A0C24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558" y="3883786"/>
            <a:ext cx="10740884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864857-3A35-DB45-ABB2-4BF0B84CF9C0}"/>
              </a:ext>
            </a:extLst>
          </p:cNvPr>
          <p:cNvSpPr/>
          <p:nvPr/>
        </p:nvSpPr>
        <p:spPr>
          <a:xfrm>
            <a:off x="831850" y="3778433"/>
            <a:ext cx="105156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8" name="日期占位符 4">
            <a:extLst>
              <a:ext uri="{FF2B5EF4-FFF2-40B4-BE49-F238E27FC236}">
                <a16:creationId xmlns:a16="http://schemas.microsoft.com/office/drawing/2014/main" id="{0031AF0D-A46B-1015-979D-A70A428D35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B4A6BA-6617-46E9-9990-995E90CA0243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9" name="页脚占位符 5">
            <a:extLst>
              <a:ext uri="{FF2B5EF4-FFF2-40B4-BE49-F238E27FC236}">
                <a16:creationId xmlns:a16="http://schemas.microsoft.com/office/drawing/2014/main" id="{C74BDB59-1EB2-7B9D-B8CF-9C8FC764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6">
            <a:extLst>
              <a:ext uri="{FF2B5EF4-FFF2-40B4-BE49-F238E27FC236}">
                <a16:creationId xmlns:a16="http://schemas.microsoft.com/office/drawing/2014/main" id="{586F03AE-FFBF-9E7F-B6CB-427A8AE2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185459-CCF4-4F25-8621-177316108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61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8457D6-4AC7-1117-6149-E29FEE9EB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5558" y="1825625"/>
            <a:ext cx="529424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F5E3C3-B8ED-7462-A47D-9C2E7A340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31081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FB2790EB-88B4-5911-53A7-74B6281C9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9" name="日期占位符 4">
            <a:extLst>
              <a:ext uri="{FF2B5EF4-FFF2-40B4-BE49-F238E27FC236}">
                <a16:creationId xmlns:a16="http://schemas.microsoft.com/office/drawing/2014/main" id="{333873C1-9FDC-69E5-650D-EBE18AE026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23B4A6BA-6617-46E9-9990-995E90CA0243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10" name="页脚占位符 5">
            <a:extLst>
              <a:ext uri="{FF2B5EF4-FFF2-40B4-BE49-F238E27FC236}">
                <a16:creationId xmlns:a16="http://schemas.microsoft.com/office/drawing/2014/main" id="{FE91223E-32EA-1FD2-330A-E3D5076AA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6">
            <a:extLst>
              <a:ext uri="{FF2B5EF4-FFF2-40B4-BE49-F238E27FC236}">
                <a16:creationId xmlns:a16="http://schemas.microsoft.com/office/drawing/2014/main" id="{85357AA5-8C64-2BD8-F3BB-79670B1E6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7185459-CCF4-4F25-8621-177316108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432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4756DA-E78D-976D-3346-9B0219DFD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558" y="1681163"/>
            <a:ext cx="527201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4B88A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771981-8073-4FE5-2903-BC0F2D71A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5558" y="2505075"/>
            <a:ext cx="52720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740ED5-1F31-6745-1328-B46D92156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29424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4B88A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989F7B-4E7D-EBD1-F575-67D551DD16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29424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6DA92095-472D-9314-74C8-892B354C8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1" name="日期占位符 4">
            <a:extLst>
              <a:ext uri="{FF2B5EF4-FFF2-40B4-BE49-F238E27FC236}">
                <a16:creationId xmlns:a16="http://schemas.microsoft.com/office/drawing/2014/main" id="{DCDF135B-C85D-83F5-A01D-5252D64A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23B4A6BA-6617-46E9-9990-995E90CA0243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12" name="页脚占位符 5">
            <a:extLst>
              <a:ext uri="{FF2B5EF4-FFF2-40B4-BE49-F238E27FC236}">
                <a16:creationId xmlns:a16="http://schemas.microsoft.com/office/drawing/2014/main" id="{2D8EA4D4-25B4-E176-AF53-E3BCE2988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6">
            <a:extLst>
              <a:ext uri="{FF2B5EF4-FFF2-40B4-BE49-F238E27FC236}">
                <a16:creationId xmlns:a16="http://schemas.microsoft.com/office/drawing/2014/main" id="{151CDAE1-D70B-3EFA-B415-1295FD91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7185459-CCF4-4F25-8621-177316108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951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占位符 1">
            <a:extLst>
              <a:ext uri="{FF2B5EF4-FFF2-40B4-BE49-F238E27FC236}">
                <a16:creationId xmlns:a16="http://schemas.microsoft.com/office/drawing/2014/main" id="{96F97A67-4FF0-49A8-E3E3-2042E004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7" name="日期占位符 4">
            <a:extLst>
              <a:ext uri="{FF2B5EF4-FFF2-40B4-BE49-F238E27FC236}">
                <a16:creationId xmlns:a16="http://schemas.microsoft.com/office/drawing/2014/main" id="{C4E39087-C553-9639-58B3-8A40C66AA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23B4A6BA-6617-46E9-9990-995E90CA0243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8" name="页脚占位符 5">
            <a:extLst>
              <a:ext uri="{FF2B5EF4-FFF2-40B4-BE49-F238E27FC236}">
                <a16:creationId xmlns:a16="http://schemas.microsoft.com/office/drawing/2014/main" id="{78D3B147-F4F7-8DB3-994F-004E8D7FF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F0A95C65-54D6-59FB-44CD-D578DC23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7185459-CCF4-4F25-8621-177316108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908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3EB7D7-BD08-3133-AE9E-C6F17567F5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23B4A6BA-6617-46E9-9990-995E90CA0243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25E8F5-FBDD-693C-632F-303863AC3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0A5A26-B68A-BC16-0D7E-F6C34954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7185459-CCF4-4F25-8621-177316108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232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43F93-EE74-9FE0-A331-F5B526DDF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8" y="1461052"/>
            <a:ext cx="4046468" cy="107177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1E0ADD-4F30-9EEF-112C-2559ACF6C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37323"/>
            <a:ext cx="6283254" cy="542372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4E77E5-71F7-B92E-3BAE-963EE1B4F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5558" y="2552700"/>
            <a:ext cx="4046467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452381-A0B0-3CF8-835A-9E0501F9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23B4A6BA-6617-46E9-9990-995E90CA0243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866C01-201C-3922-E2B8-FB8E2E2C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DFF722-BEEE-5058-F67E-440784C90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7185459-CCF4-4F25-8621-177316108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30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29D51AE-23CD-9EBA-D51D-E413291224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27383"/>
            <a:ext cx="6283254" cy="5433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6CE524-6A73-D1E5-37F8-5DA916A854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B4A6BA-6617-46E9-9990-995E90CA0243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7F468C-88E0-8C6F-8A6D-6DCC46EF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B56C82-99B4-0520-D36C-AFA866C85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185459-CCF4-4F25-8621-177316108C4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C158DE60-9C59-5A42-D4E2-9CFACEC9E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8" y="1461052"/>
            <a:ext cx="4046468" cy="107177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9" name="文本占位符 3">
            <a:extLst>
              <a:ext uri="{FF2B5EF4-FFF2-40B4-BE49-F238E27FC236}">
                <a16:creationId xmlns:a16="http://schemas.microsoft.com/office/drawing/2014/main" id="{27090E57-3D33-F16E-4AF2-426295B73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5558" y="2552700"/>
            <a:ext cx="4046467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04919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664AD0-DF68-E1F9-F08D-81FA532B4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5558" y="1825625"/>
            <a:ext cx="10740884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4">
            <a:extLst>
              <a:ext uri="{FF2B5EF4-FFF2-40B4-BE49-F238E27FC236}">
                <a16:creationId xmlns:a16="http://schemas.microsoft.com/office/drawing/2014/main" id="{5FA19414-E6B1-974D-B773-4A92DDB140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23B4A6BA-6617-46E9-9990-995E90CA0243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8" name="页脚占位符 5">
            <a:extLst>
              <a:ext uri="{FF2B5EF4-FFF2-40B4-BE49-F238E27FC236}">
                <a16:creationId xmlns:a16="http://schemas.microsoft.com/office/drawing/2014/main" id="{6E536284-4379-0BC2-7595-1BAA64B8E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9C76CD63-90B6-269B-060C-C07AA9D07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7185459-CCF4-4F25-8621-177316108C4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26EA7407-B618-46E8-FDD3-2B95120A8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9" y="854764"/>
            <a:ext cx="9529784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7437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D7367E7-B967-A2DB-157E-300FA091DF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7304" y="365124"/>
            <a:ext cx="1229138" cy="5811838"/>
          </a:xfrm>
          <a:prstGeom prst="rect">
            <a:avLst/>
          </a:prstGeom>
        </p:spPr>
        <p:txBody>
          <a:bodyPr vert="eaVert" anchor="b"/>
          <a:lstStyle>
            <a:lvl1pPr algn="l">
              <a:defRPr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734F21-F187-DF61-3F9D-F838214F1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5557" y="1461051"/>
            <a:ext cx="9412355" cy="471591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4">
            <a:extLst>
              <a:ext uri="{FF2B5EF4-FFF2-40B4-BE49-F238E27FC236}">
                <a16:creationId xmlns:a16="http://schemas.microsoft.com/office/drawing/2014/main" id="{95378585-9D11-B84E-F348-EDE61C6D85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23B4A6BA-6617-46E9-9990-995E90CA0243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8" name="页脚占位符 5">
            <a:extLst>
              <a:ext uri="{FF2B5EF4-FFF2-40B4-BE49-F238E27FC236}">
                <a16:creationId xmlns:a16="http://schemas.microsoft.com/office/drawing/2014/main" id="{625ACA3C-3B00-CE1E-8E0D-BBA260977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C7CEEF96-C213-953E-A94F-B06D05D4B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7185459-CCF4-4F25-8621-177316108C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297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BE4013-808A-C812-AA9A-499D303D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CFAA95-B6DC-44A9-6330-DF671B9BE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8991" y="1825625"/>
            <a:ext cx="107740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9AD166-C292-7A67-4109-8A865BD68B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7275" y="63615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3B4A6BA-6617-46E9-9990-995E90CA0243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E2581-49CE-8F32-BE7E-BBAEB25E4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FD5F84-390A-5928-DA5F-482357AB0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98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7185459-CCF4-4F25-8621-177316108C4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4" name="图片 13" descr="徽标&#10;&#10;描述已自动生成">
            <a:extLst>
              <a:ext uri="{FF2B5EF4-FFF2-40B4-BE49-F238E27FC236}">
                <a16:creationId xmlns:a16="http://schemas.microsoft.com/office/drawing/2014/main" id="{6C208722-897C-C7D4-5817-92DA390C4D7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991" y="0"/>
            <a:ext cx="1098458" cy="136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513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3200" b="1" i="0" kern="1200" dirty="0" smtClean="0">
          <a:solidFill>
            <a:srgbClr val="4B88A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dotengine.org/zh-cn/4.x/classes/class_object.html#class-object" TargetMode="External"/><Relationship Id="rId2" Type="http://schemas.openxmlformats.org/officeDocument/2006/relationships/hyperlink" Target="https://docs.godotengine.org/zh-cn/4.x/classes/class_variant.html#class-varian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s://docs.godotengine.org/zh-cn/4.x/classes/class_callable.html#class-callable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D8EF4-AB8E-CEC5-F372-06D21FE722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4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Infoco*IGC </a:t>
            </a:r>
            <a:r>
              <a:rPr lang="zh-CN" altLang="en-US" sz="4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联合社课</a:t>
            </a:r>
            <a:br>
              <a:rPr lang="en-US" altLang="zh-CN" sz="4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z="4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游戏开发先导课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2A91BD-8A42-DF27-76E7-3B36218176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2400" dirty="0"/>
              <a:t>L4 —— UI</a:t>
            </a:r>
            <a:r>
              <a:rPr lang="zh-CN" altLang="en-US" sz="2400" dirty="0"/>
              <a:t>搭建，整体回顾和后续学习</a:t>
            </a:r>
            <a:endParaRPr lang="en-US" altLang="zh-CN" sz="2400" dirty="0"/>
          </a:p>
          <a:p>
            <a:pPr algn="r"/>
            <a:r>
              <a:rPr lang="en-US" altLang="zh-CN" dirty="0"/>
              <a:t>By</a:t>
            </a:r>
            <a:r>
              <a:rPr lang="zh-CN" altLang="en-US" dirty="0"/>
              <a:t>：</a:t>
            </a:r>
            <a:r>
              <a:rPr lang="en-US" altLang="zh-CN" dirty="0"/>
              <a:t>pppig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9738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A53EF93-07C6-A608-6EE1-810273BD2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现在我们已经完成了基本所有的代码任务：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 </a:t>
            </a:r>
            <a:r>
              <a:rPr lang="zh-CN" altLang="zh-CN" b="1" dirty="0"/>
              <a:t>main.gd  </a:t>
            </a:r>
            <a:r>
              <a:rPr lang="zh-CN" altLang="zh-CN" dirty="0"/>
              <a:t>指挥中心：流程、输入、状态机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 </a:t>
            </a:r>
            <a:r>
              <a:rPr lang="zh-CN" altLang="zh-CN" b="1" dirty="0"/>
              <a:t>board.gd</a:t>
            </a:r>
            <a:r>
              <a:rPr lang="zh-CN" altLang="zh-CN" dirty="0"/>
              <a:t>   规则权威：最长</a:t>
            </a:r>
            <a:r>
              <a:rPr lang="zh-CN" altLang="en-US" dirty="0"/>
              <a:t>的代码</a:t>
            </a:r>
            <a:r>
              <a:rPr lang="zh-CN" altLang="zh-CN" dirty="0"/>
              <a:t>，一切规则</a:t>
            </a:r>
            <a:r>
              <a:rPr lang="zh-CN" altLang="en-US" dirty="0"/>
              <a:t>的统领</a:t>
            </a:r>
            <a:r>
              <a:rPr lang="zh-CN" altLang="zh-CN" dirty="0"/>
              <a:t> 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 </a:t>
            </a:r>
            <a:r>
              <a:rPr lang="zh-CN" altLang="zh-CN" b="1" dirty="0"/>
              <a:t>gem.gd</a:t>
            </a:r>
            <a:r>
              <a:rPr lang="zh-CN" altLang="zh-CN" dirty="0"/>
              <a:t>    棋子：表现层，最短的"零件" 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今天我们只有</a:t>
            </a:r>
            <a:r>
              <a:rPr lang="en-US" altLang="zh-CN" dirty="0"/>
              <a:t>30+</a:t>
            </a:r>
            <a:r>
              <a:rPr lang="zh-CN" altLang="en-US" dirty="0"/>
              <a:t>代码的书写任务，然后完成</a:t>
            </a:r>
            <a:r>
              <a:rPr lang="en-US" altLang="zh-CN" dirty="0"/>
              <a:t>UI</a:t>
            </a:r>
            <a:r>
              <a:rPr lang="zh-CN" altLang="en-US" dirty="0"/>
              <a:t>搭建，让游戏趋近于完整</a:t>
            </a:r>
            <a:r>
              <a:rPr lang="en-US" altLang="zh-CN" dirty="0"/>
              <a:t>~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B5643DF-5F39-F90E-63F0-4D73D5FE0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迅速回顾和今日内容速览：</a:t>
            </a:r>
          </a:p>
        </p:txBody>
      </p:sp>
    </p:spTree>
    <p:extLst>
      <p:ext uri="{BB962C8B-B14F-4D97-AF65-F5344CB8AC3E}">
        <p14:creationId xmlns:p14="http://schemas.microsoft.com/office/powerpoint/2010/main" val="3325796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58FA403-A4B7-5C2B-CB47-971597B0C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dirty="0"/>
              <a:t>HUD (CanvasLayer)         ← 界面独立成层，不被棋盘遮挡</a:t>
            </a:r>
          </a:p>
          <a:p>
            <a:pPr marL="0" indent="0">
              <a:buNone/>
            </a:pPr>
            <a:r>
              <a:rPr lang="zh-CN" altLang="zh-CN" dirty="0"/>
              <a:t>├── Mask (ColorRect)      ← 半透明幕布（alpha 0.72），标题画面</a:t>
            </a:r>
          </a:p>
          <a:p>
            <a:pPr marL="0" indent="0">
              <a:buNone/>
            </a:pPr>
            <a:r>
              <a:rPr lang="zh-CN" altLang="zh-CN" dirty="0"/>
              <a:t>│   └── TitlePanel        ← 亮黄底板（随 Mask 显隐）</a:t>
            </a:r>
          </a:p>
          <a:p>
            <a:pPr marL="0" indent="0">
              <a:buNone/>
            </a:pPr>
            <a:r>
              <a:rPr lang="zh-CN" altLang="zh-CN" dirty="0"/>
              <a:t>├── ScoreLabel (Label)    ← 分数显示（左上角，初始隐藏）</a:t>
            </a:r>
          </a:p>
          <a:p>
            <a:pPr marL="0" indent="0">
              <a:buNone/>
            </a:pPr>
            <a:r>
              <a:rPr lang="zh-CN" altLang="zh-CN" dirty="0"/>
              <a:t>├── RestartButton (Button)← 重新开始（右上角，初始隐藏）</a:t>
            </a:r>
          </a:p>
          <a:p>
            <a:pPr marL="0" indent="0">
              <a:buNone/>
            </a:pPr>
            <a:r>
              <a:rPr lang="zh-CN" altLang="zh-CN" dirty="0"/>
              <a:t>├── Message (Label)       ← 标题文字「宝石迷阵」</a:t>
            </a:r>
          </a:p>
          <a:p>
            <a:pPr marL="0" indent="0">
              <a:buNone/>
            </a:pPr>
            <a:r>
              <a:rPr lang="zh-CN" altLang="zh-CN" dirty="0"/>
              <a:t>└── StartButton (Button)  ← 开始游戏（亮黄主按钮）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49244AC-34B7-B9D1-D67A-6E2E4FCF5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hud.tscn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图纸：</a:t>
            </a:r>
          </a:p>
        </p:txBody>
      </p:sp>
    </p:spTree>
    <p:extLst>
      <p:ext uri="{BB962C8B-B14F-4D97-AF65-F5344CB8AC3E}">
        <p14:creationId xmlns:p14="http://schemas.microsoft.com/office/powerpoint/2010/main" val="2553495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1C973BF-F14E-AF3D-9E3D-6BC408D08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60" y="1444167"/>
            <a:ext cx="814313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创建</a:t>
            </a:r>
            <a:r>
              <a:rPr lang="en-US" altLang="zh-CN" sz="2400" dirty="0" err="1"/>
              <a:t>ColorRect</a:t>
            </a:r>
            <a:r>
              <a:rPr lang="zh-CN" altLang="en-US" sz="2400" dirty="0"/>
              <a:t>，颜色调为半透明灰色，覆盖全屏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创建</a:t>
            </a:r>
            <a:r>
              <a:rPr lang="en-US" altLang="zh-CN" sz="2400" dirty="0" err="1"/>
              <a:t>NinePatchRect</a:t>
            </a:r>
            <a:r>
              <a:rPr lang="zh-CN" altLang="en-US" sz="2400" dirty="0"/>
              <a:t>为</a:t>
            </a:r>
            <a:r>
              <a:rPr lang="en-US" altLang="zh-CN" sz="2400" dirty="0" err="1"/>
              <a:t>ColorRect</a:t>
            </a:r>
            <a:r>
              <a:rPr lang="zh-CN" altLang="en-US" sz="2400" dirty="0"/>
              <a:t>的子节点，右栏检查器中拖入素材包里的黄色任意按钮充当标题背景图，位于场景中间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创建</a:t>
            </a:r>
            <a:r>
              <a:rPr lang="en-US" altLang="zh-CN" sz="2400" dirty="0"/>
              <a:t>Label</a:t>
            </a:r>
            <a:r>
              <a:rPr lang="zh-CN" altLang="en-US" sz="2400" dirty="0"/>
              <a:t>，输入“宝石迷阵”然后在右栏</a:t>
            </a:r>
            <a:r>
              <a:rPr lang="en-US" altLang="zh-CN" sz="2400" dirty="0"/>
              <a:t>Label settings</a:t>
            </a:r>
            <a:r>
              <a:rPr lang="zh-CN" altLang="en-US" sz="2400" dirty="0"/>
              <a:t>点击倒三角，新建设置，然后调整</a:t>
            </a:r>
            <a:r>
              <a:rPr lang="en-US" altLang="zh-CN" sz="2400" dirty="0"/>
              <a:t>Size</a:t>
            </a:r>
            <a:r>
              <a:rPr lang="zh-CN" altLang="en-US" sz="2400" dirty="0"/>
              <a:t>和</a:t>
            </a:r>
            <a:r>
              <a:rPr lang="en-US" altLang="zh-CN" sz="2400" dirty="0"/>
              <a:t>Color</a:t>
            </a:r>
            <a:r>
              <a:rPr lang="zh-CN" altLang="en-US" sz="2400" dirty="0"/>
              <a:t>，同时记得让文字居中显示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solidFill>
                  <a:schemeClr val="accent6"/>
                </a:solidFill>
              </a:rPr>
              <a:t>注：在编辑界面中，你可以找到右上角的锚点预设迅速调整视图</a:t>
            </a:r>
            <a:endParaRPr lang="en-US" altLang="zh-CN" sz="2000" dirty="0">
              <a:solidFill>
                <a:schemeClr val="accent6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6A2F7B8-39A4-60BA-CB8B-B375A90D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一步一步来：背景和标题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2C04A9-CA4F-C398-E020-B890EA49F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7" y="4294685"/>
            <a:ext cx="8513395" cy="249986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8EBD22F-809B-4394-E8D1-8315FEA6B1D7}"/>
              </a:ext>
            </a:extLst>
          </p:cNvPr>
          <p:cNvSpPr/>
          <p:nvPr/>
        </p:nvSpPr>
        <p:spPr>
          <a:xfrm>
            <a:off x="6921911" y="4271110"/>
            <a:ext cx="1697192" cy="252344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440ECBE-C695-C09F-8482-7DC008354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6547" y="468693"/>
            <a:ext cx="3299746" cy="6302286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6E4AD74C-E787-076B-CBC3-7B7C4F278B92}"/>
              </a:ext>
            </a:extLst>
          </p:cNvPr>
          <p:cNvSpPr/>
          <p:nvPr/>
        </p:nvSpPr>
        <p:spPr>
          <a:xfrm>
            <a:off x="8786547" y="2369901"/>
            <a:ext cx="3299746" cy="442465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4A6BFC5-C762-3E79-4C6A-9688926EF311}"/>
              </a:ext>
            </a:extLst>
          </p:cNvPr>
          <p:cNvCxnSpPr/>
          <p:nvPr/>
        </p:nvCxnSpPr>
        <p:spPr>
          <a:xfrm>
            <a:off x="9011264" y="4424516"/>
            <a:ext cx="55060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01E7AC7-EB20-CA8B-FD3F-A1E545279445}"/>
              </a:ext>
            </a:extLst>
          </p:cNvPr>
          <p:cNvCxnSpPr/>
          <p:nvPr/>
        </p:nvCxnSpPr>
        <p:spPr>
          <a:xfrm>
            <a:off x="9030929" y="4783394"/>
            <a:ext cx="55060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FAB602B-CD35-6A3F-847A-BE342A600011}"/>
              </a:ext>
            </a:extLst>
          </p:cNvPr>
          <p:cNvCxnSpPr>
            <a:cxnSpLocks/>
          </p:cNvCxnSpPr>
          <p:nvPr/>
        </p:nvCxnSpPr>
        <p:spPr>
          <a:xfrm>
            <a:off x="8868698" y="6331974"/>
            <a:ext cx="156772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4351658-CC51-1D8B-681E-E7230C999AAC}"/>
              </a:ext>
            </a:extLst>
          </p:cNvPr>
          <p:cNvCxnSpPr>
            <a:cxnSpLocks/>
          </p:cNvCxnSpPr>
          <p:nvPr/>
        </p:nvCxnSpPr>
        <p:spPr>
          <a:xfrm>
            <a:off x="8868698" y="6676103"/>
            <a:ext cx="156772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804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6703E58-B38C-D99B-5166-E56A6602A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198" y="1368847"/>
            <a:ext cx="10049603" cy="5352449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06B4AAAC-6846-2BA4-A7F7-F11113A82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按照刚刚的流程制作计分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Label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486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2CA9B94-FF91-5769-8B19-F59184C22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29" y="1563329"/>
            <a:ext cx="8357419" cy="461363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创建</a:t>
            </a:r>
            <a:r>
              <a:rPr lang="en-US" altLang="zh-CN" dirty="0"/>
              <a:t>Button</a:t>
            </a:r>
            <a:r>
              <a:rPr lang="zh-CN" altLang="en-US" dirty="0"/>
              <a:t>，按照自己的审美开始调配按钮</a:t>
            </a:r>
            <a:r>
              <a:rPr lang="en-US" altLang="zh-CN" dirty="0"/>
              <a:t>~</a:t>
            </a:r>
          </a:p>
          <a:p>
            <a:pPr marL="0" indent="0">
              <a:buNone/>
            </a:pPr>
            <a:r>
              <a:rPr lang="zh-CN" altLang="en-US" dirty="0"/>
              <a:t>如何修改按钮的材质？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找到</a:t>
            </a:r>
            <a:r>
              <a:rPr lang="en-US" altLang="zh-CN" dirty="0"/>
              <a:t>Theme Overrides</a:t>
            </a:r>
            <a:r>
              <a:rPr lang="zh-CN" altLang="en-US" dirty="0"/>
              <a:t>，然后在</a:t>
            </a:r>
            <a:r>
              <a:rPr lang="en-US" altLang="zh-CN" dirty="0"/>
              <a:t>Styles</a:t>
            </a:r>
            <a:r>
              <a:rPr lang="zh-CN" altLang="en-US" dirty="0"/>
              <a:t>中为</a:t>
            </a:r>
            <a:r>
              <a:rPr lang="en-US" altLang="zh-CN" dirty="0"/>
              <a:t>Normal</a:t>
            </a:r>
            <a:r>
              <a:rPr lang="zh-CN" altLang="en-US" dirty="0"/>
              <a:t>，</a:t>
            </a:r>
            <a:r>
              <a:rPr lang="en-US" altLang="zh-CN" dirty="0"/>
              <a:t>Pressed</a:t>
            </a:r>
            <a:r>
              <a:rPr lang="zh-CN" altLang="en-US" dirty="0"/>
              <a:t>，</a:t>
            </a:r>
            <a:r>
              <a:rPr lang="en-US" altLang="zh-CN" dirty="0"/>
              <a:t>Hover</a:t>
            </a:r>
            <a:r>
              <a:rPr lang="zh-CN" altLang="en-US" dirty="0"/>
              <a:t>，</a:t>
            </a:r>
            <a:r>
              <a:rPr lang="en-US" altLang="zh-CN" dirty="0"/>
              <a:t>focus</a:t>
            </a:r>
            <a:r>
              <a:rPr lang="zh-CN" altLang="en-US" dirty="0"/>
              <a:t>添加</a:t>
            </a:r>
            <a:r>
              <a:rPr lang="en-US" altLang="zh-CN" dirty="0" err="1"/>
              <a:t>StyleBoxTexture</a:t>
            </a:r>
            <a:r>
              <a:rPr lang="zh-CN" altLang="en-US" dirty="0"/>
              <a:t>，然后在子页面中的</a:t>
            </a:r>
            <a:r>
              <a:rPr lang="en-US" altLang="zh-CN" dirty="0"/>
              <a:t>Texture</a:t>
            </a:r>
            <a:r>
              <a:rPr lang="zh-CN" altLang="en-US" dirty="0"/>
              <a:t>拖入图片即可</a:t>
            </a:r>
            <a:r>
              <a:rPr lang="en-US" altLang="zh-CN" dirty="0"/>
              <a:t>~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请按照这样的流程制作两个按钮，</a:t>
            </a:r>
            <a:br>
              <a:rPr lang="en-US" altLang="zh-CN" dirty="0"/>
            </a:br>
            <a:r>
              <a:rPr lang="zh-CN" altLang="en-US" dirty="0"/>
              <a:t>用于开始游戏和重新开始</a:t>
            </a:r>
            <a:r>
              <a:rPr lang="en-US" altLang="zh-CN" dirty="0"/>
              <a:t>~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223BE39-DBE3-8E45-8A9F-FFB5C2A3B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接下来调配按钮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81B2E29-1FC8-95CD-EAC7-FD3D271BA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7023" y="221321"/>
            <a:ext cx="3147157" cy="641535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F0506EC-F054-3D2D-3D60-811381C52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743" y="4139381"/>
            <a:ext cx="2591543" cy="2494360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7F001D9-6C00-93CD-4A73-60273154342D}"/>
              </a:ext>
            </a:extLst>
          </p:cNvPr>
          <p:cNvCxnSpPr>
            <a:cxnSpLocks/>
          </p:cNvCxnSpPr>
          <p:nvPr/>
        </p:nvCxnSpPr>
        <p:spPr>
          <a:xfrm flipH="1" flipV="1">
            <a:off x="8249265" y="4139381"/>
            <a:ext cx="747251" cy="193695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4568553-6D47-300F-BBA6-4863599329FF}"/>
              </a:ext>
            </a:extLst>
          </p:cNvPr>
          <p:cNvCxnSpPr>
            <a:cxnSpLocks/>
          </p:cNvCxnSpPr>
          <p:nvPr/>
        </p:nvCxnSpPr>
        <p:spPr>
          <a:xfrm flipH="1">
            <a:off x="8249265" y="6341806"/>
            <a:ext cx="747251" cy="2919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02C419C3-76A7-5604-EF2E-A6B50EE9840D}"/>
              </a:ext>
            </a:extLst>
          </p:cNvPr>
          <p:cNvSpPr/>
          <p:nvPr/>
        </p:nvSpPr>
        <p:spPr>
          <a:xfrm>
            <a:off x="8987043" y="4463845"/>
            <a:ext cx="2988647" cy="193695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8302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8DF898A-EA1C-A69F-BEB4-9D6A20B65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5794" y="1449558"/>
            <a:ext cx="9940412" cy="5315035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97B7F6FA-F8F7-0CAD-501B-28CB5F481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整体效果参考</a:t>
            </a:r>
          </a:p>
        </p:txBody>
      </p:sp>
    </p:spTree>
    <p:extLst>
      <p:ext uri="{BB962C8B-B14F-4D97-AF65-F5344CB8AC3E}">
        <p14:creationId xmlns:p14="http://schemas.microsoft.com/office/powerpoint/2010/main" val="3770545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FC57846-A296-0F9F-A458-225B2906C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6029202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现在只是完成了</a:t>
            </a:r>
            <a:r>
              <a:rPr lang="en-US" altLang="zh-CN" dirty="0"/>
              <a:t>UI</a:t>
            </a:r>
            <a:r>
              <a:rPr lang="zh-CN" altLang="en-US" dirty="0"/>
              <a:t>的外壳，我们还不足以让</a:t>
            </a:r>
            <a:r>
              <a:rPr lang="en-US" altLang="zh-CN" dirty="0"/>
              <a:t>UI</a:t>
            </a:r>
            <a:r>
              <a:rPr lang="zh-CN" altLang="en-US" dirty="0"/>
              <a:t>完整运行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最后，创建一份</a:t>
            </a:r>
            <a:r>
              <a:rPr lang="en-US" altLang="zh-CN" dirty="0"/>
              <a:t>hud.gd</a:t>
            </a:r>
            <a:r>
              <a:rPr lang="zh-CN" altLang="en-US" dirty="0"/>
              <a:t>，让我们让</a:t>
            </a:r>
            <a:r>
              <a:rPr lang="en-US" altLang="zh-CN" dirty="0" err="1"/>
              <a:t>ui</a:t>
            </a:r>
            <a:r>
              <a:rPr lang="zh-CN" altLang="en-US" dirty="0"/>
              <a:t>活起来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658D272-CD3C-3328-E9D1-6391803B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开始为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HUD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添加脚本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797E6E-304E-2985-6546-92617B68E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16" y="1786817"/>
            <a:ext cx="4620093" cy="441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39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816C4F5-1E55-47B0-873C-FAF44FCF2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275" y="1540489"/>
            <a:ext cx="7533538" cy="3909255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signal </a:t>
            </a:r>
            <a:r>
              <a:rPr lang="en-US" altLang="zh-CN" sz="2000" dirty="0" err="1">
                <a:latin typeface="Consolas" panose="020B0609020204030204" pitchFamily="49" charset="0"/>
              </a:rPr>
              <a:t>start_game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signal restart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@onready var </a:t>
            </a:r>
            <a:r>
              <a:rPr lang="en-US" altLang="zh-CN" sz="2000" dirty="0" err="1">
                <a:latin typeface="Consolas" panose="020B0609020204030204" pitchFamily="49" charset="0"/>
              </a:rPr>
              <a:t>score_label</a:t>
            </a:r>
            <a:r>
              <a:rPr lang="en-US" altLang="zh-CN" sz="2000" dirty="0">
                <a:latin typeface="Consolas" panose="020B0609020204030204" pitchFamily="49" charset="0"/>
              </a:rPr>
              <a:t>: Label = $</a:t>
            </a:r>
            <a:r>
              <a:rPr lang="en-US" altLang="zh-CN" sz="2000" dirty="0" err="1">
                <a:latin typeface="Consolas" panose="020B0609020204030204" pitchFamily="49" charset="0"/>
              </a:rPr>
              <a:t>ScoreLabel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@onready var </a:t>
            </a:r>
            <a:r>
              <a:rPr lang="en-US" altLang="zh-CN" sz="2000" dirty="0" err="1">
                <a:latin typeface="Consolas" panose="020B0609020204030204" pitchFamily="49" charset="0"/>
              </a:rPr>
              <a:t>restart_button</a:t>
            </a:r>
            <a:r>
              <a:rPr lang="en-US" altLang="zh-CN" sz="2000" dirty="0">
                <a:latin typeface="Consolas" panose="020B0609020204030204" pitchFamily="49" charset="0"/>
              </a:rPr>
              <a:t>: Button = $</a:t>
            </a:r>
            <a:r>
              <a:rPr lang="en-US" altLang="zh-CN" sz="2000" dirty="0" err="1">
                <a:latin typeface="Consolas" panose="020B0609020204030204" pitchFamily="49" charset="0"/>
              </a:rPr>
              <a:t>RestartButton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</a:rPr>
              <a:t> _</a:t>
            </a:r>
            <a:r>
              <a:rPr lang="en-US" altLang="zh-CN" sz="2000" dirty="0" err="1">
                <a:latin typeface="Consolas" panose="020B0609020204030204" pitchFamily="49" charset="0"/>
              </a:rPr>
              <a:t>on_start_button_pressed</a:t>
            </a:r>
            <a:r>
              <a:rPr lang="en-US" altLang="zh-CN" sz="2000" dirty="0">
                <a:latin typeface="Consolas" panose="020B0609020204030204" pitchFamily="49" charset="0"/>
              </a:rPr>
              <a:t>() -&gt; void: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start_game.emit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</a:rPr>
              <a:t> _</a:t>
            </a:r>
            <a:r>
              <a:rPr lang="en-US" altLang="zh-CN" sz="2000" dirty="0" err="1">
                <a:latin typeface="Consolas" panose="020B0609020204030204" pitchFamily="49" charset="0"/>
              </a:rPr>
              <a:t>on_restart_button_pressed</a:t>
            </a:r>
            <a:r>
              <a:rPr lang="en-US" altLang="zh-CN" sz="2000" dirty="0">
                <a:latin typeface="Consolas" panose="020B0609020204030204" pitchFamily="49" charset="0"/>
              </a:rPr>
              <a:t>() -&gt; void: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restart.emit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6F993F6-D268-F28F-CDBC-392095CB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Hud.gd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的初始准备：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16857F-E53E-A900-10C7-1B4481195E02}"/>
              </a:ext>
            </a:extLst>
          </p:cNvPr>
          <p:cNvSpPr/>
          <p:nvPr/>
        </p:nvSpPr>
        <p:spPr>
          <a:xfrm>
            <a:off x="157315" y="1408256"/>
            <a:ext cx="7737988" cy="4205964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58ED3A-CD99-1F7F-12D4-E1E34CBD9067}"/>
              </a:ext>
            </a:extLst>
          </p:cNvPr>
          <p:cNvSpPr txBox="1"/>
          <p:nvPr/>
        </p:nvSpPr>
        <p:spPr>
          <a:xfrm>
            <a:off x="8170606" y="1368847"/>
            <a:ext cx="35101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创建</a:t>
            </a:r>
            <a:r>
              <a:rPr lang="en-US" altLang="zh-CN" sz="2400" dirty="0"/>
              <a:t>Signal</a:t>
            </a:r>
            <a:r>
              <a:rPr lang="zh-CN" altLang="en-US" sz="2400" dirty="0"/>
              <a:t>，声明此信号的存在性，不直接参与发送信号</a:t>
            </a:r>
            <a:r>
              <a:rPr lang="en-US" altLang="zh-CN" sz="2400" dirty="0"/>
              <a:t>/</a:t>
            </a:r>
            <a:r>
              <a:rPr lang="zh-CN" altLang="en-US" sz="2400" dirty="0"/>
              <a:t>将信号转换为输出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zh-CN" sz="2400" dirty="0"/>
              <a:t> </a:t>
            </a:r>
            <a:r>
              <a:rPr lang="zh-CN" altLang="zh-CN" sz="2400" b="1" dirty="0"/>
              <a:t>@onready</a:t>
            </a:r>
            <a:r>
              <a:rPr lang="zh-CN" altLang="zh-CN" sz="2400" dirty="0"/>
              <a:t> 注解能够将成员变量的初始化推迟到调用 </a:t>
            </a:r>
            <a:r>
              <a:rPr lang="zh-CN" altLang="zh-CN" sz="2400" b="1" dirty="0"/>
              <a:t>_ready()</a:t>
            </a:r>
            <a:r>
              <a:rPr lang="zh-CN" altLang="zh-CN" sz="2400" dirty="0"/>
              <a:t> </a:t>
            </a:r>
            <a:r>
              <a:rPr lang="zh-CN" altLang="en-US" sz="2400" dirty="0"/>
              <a:t>的</a:t>
            </a:r>
            <a:r>
              <a:rPr lang="zh-CN" altLang="zh-CN" sz="2400" dirty="0"/>
              <a:t>时</a:t>
            </a:r>
            <a:r>
              <a:rPr lang="zh-CN" altLang="en-US" sz="2400" dirty="0"/>
              <a:t>候</a:t>
            </a:r>
            <a:endParaRPr lang="en-US" altLang="zh-CN" sz="2400" dirty="0"/>
          </a:p>
          <a:p>
            <a:r>
              <a:rPr lang="zh-CN" altLang="en-US" sz="2400" dirty="0"/>
              <a:t>（</a:t>
            </a:r>
            <a:r>
              <a:rPr lang="en-US" altLang="zh-CN" sz="2400" dirty="0"/>
              <a:t>L1</a:t>
            </a:r>
            <a:r>
              <a:rPr lang="zh-CN" altLang="en-US" sz="2400" dirty="0"/>
              <a:t>已讲）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两个函数才是发出自定义信号的部分</a:t>
            </a:r>
            <a:r>
              <a:rPr lang="en-US" altLang="zh-CN" sz="2400" dirty="0"/>
              <a:t>~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74318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7EBB3DD-A3AF-F34F-0D05-CADE293BF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b="1" dirty="0"/>
              <a:t>Signal</a:t>
            </a:r>
            <a:r>
              <a:rPr lang="zh-CN" altLang="zh-CN" sz="2400" dirty="0"/>
              <a:t> 是一种内置的 </a:t>
            </a:r>
            <a:r>
              <a:rPr lang="zh-CN" altLang="zh-CN" sz="2400" dirty="0">
                <a:hlinkClick r:id="rId2"/>
              </a:rPr>
              <a:t>Variant</a:t>
            </a:r>
            <a:r>
              <a:rPr lang="zh-CN" altLang="en-US" sz="2400" dirty="0"/>
              <a:t>（变量）</a:t>
            </a:r>
            <a:r>
              <a:rPr lang="zh-CN" altLang="zh-CN" sz="2400" dirty="0"/>
              <a:t> 类型，它代表了一个 </a:t>
            </a:r>
            <a:r>
              <a:rPr lang="zh-CN" altLang="zh-CN" sz="2400" dirty="0">
                <a:hlinkClick r:id="rId3"/>
              </a:rPr>
              <a:t>Object</a:t>
            </a:r>
            <a:r>
              <a:rPr lang="zh-CN" altLang="zh-CN" sz="2400" dirty="0"/>
              <a:t> 实例的信号。和所有的 </a:t>
            </a:r>
            <a:r>
              <a:rPr lang="zh-CN" altLang="zh-CN" sz="2400" dirty="0">
                <a:hlinkClick r:id="rId2"/>
              </a:rPr>
              <a:t>Variant</a:t>
            </a:r>
            <a:r>
              <a:rPr lang="zh-CN" altLang="zh-CN" sz="2400" dirty="0"/>
              <a:t> 类型一样，它可以被存储在变量中，也可以被传递给函数。信号允许所有已连接的 </a:t>
            </a:r>
            <a:r>
              <a:rPr lang="zh-CN" altLang="zh-CN" sz="2400" dirty="0">
                <a:hlinkClick r:id="rId4"/>
              </a:rPr>
              <a:t>Callable</a:t>
            </a:r>
            <a:r>
              <a:rPr lang="zh-CN" altLang="zh-CN" sz="2400" dirty="0"/>
              <a:t>（以及它们各自所属的对象）去监听并响应事件，而无需彼此之间直接引用。这种设计让代码保持了极高的灵活性，也更易于管理。</a:t>
            </a:r>
            <a:endParaRPr lang="en-US" altLang="zh-CN" sz="2400" dirty="0"/>
          </a:p>
          <a:p>
            <a:pPr marL="0" indent="0" algn="r">
              <a:buNone/>
            </a:pPr>
            <a:r>
              <a:rPr lang="en-US" altLang="zh-CN" sz="2400" dirty="0"/>
              <a:t>——</a:t>
            </a:r>
            <a:r>
              <a:rPr lang="zh-CN" altLang="en-US" sz="2400" dirty="0"/>
              <a:t>摘自官方文档</a:t>
            </a:r>
            <a:endParaRPr lang="en-US" altLang="zh-CN" sz="2400" dirty="0"/>
          </a:p>
          <a:p>
            <a:pPr marL="0" indent="0" algn="r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简单讲，我们可以用</a:t>
            </a:r>
            <a:r>
              <a:rPr lang="en-US" altLang="zh-CN" sz="2400" dirty="0"/>
              <a:t>Signal</a:t>
            </a:r>
            <a:r>
              <a:rPr lang="zh-CN" altLang="en-US" sz="2400" dirty="0"/>
              <a:t>来</a:t>
            </a:r>
            <a:r>
              <a:rPr lang="zh-CN" altLang="en-US" sz="2400" dirty="0">
                <a:solidFill>
                  <a:srgbClr val="FF0000"/>
                </a:solidFill>
              </a:rPr>
              <a:t>传递更方便的信号</a:t>
            </a:r>
            <a:r>
              <a:rPr lang="zh-CN" altLang="en-US" sz="2400" dirty="0"/>
              <a:t>，这样既能省代码又可以方便检查，现在我们就可以看到右栏的信号检查器中的信号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9E0D46B-1204-7E64-E350-3F9FDB4C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详细的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Signal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介绍：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E034F7-E41C-2FBF-20AE-00174E991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9041" y="4940264"/>
            <a:ext cx="3467400" cy="177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332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0B21663-85CE-F262-D847-0A35A8092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选中</a:t>
            </a:r>
            <a:r>
              <a:rPr lang="en-US" altLang="zh-CN" dirty="0"/>
              <a:t>HUD</a:t>
            </a:r>
            <a:r>
              <a:rPr lang="zh-CN" altLang="en-US" dirty="0"/>
              <a:t>中的按钮，然后在右侧栏查看信号：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找到</a:t>
            </a:r>
            <a:r>
              <a:rPr lang="en-US" altLang="zh-CN" dirty="0"/>
              <a:t>pressed</a:t>
            </a:r>
            <a:r>
              <a:rPr lang="zh-CN" altLang="en-US" dirty="0"/>
              <a:t>（）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然后找到我们的接收方法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连接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这样，按钮在按下后，便会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调用一次这个方法</a:t>
            </a:r>
            <a:r>
              <a:rPr lang="en-US" altLang="zh-CN" dirty="0"/>
              <a:t>~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911D9CD-E3E7-FC7C-7168-BF4BFA65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为按钮配置信号：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679934-2FC5-6B6D-584E-BBD72F5EE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4316" y="324464"/>
            <a:ext cx="3026067" cy="63092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094F6B6-6146-5367-8651-51039EB84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255" y="2611263"/>
            <a:ext cx="3163061" cy="40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272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59BB691-DE4C-BB99-C14B-CEBD38D1B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6334002" cy="356245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prepare_playing</a:t>
            </a:r>
            <a:r>
              <a:rPr lang="en-US" altLang="zh-CN" sz="2000" dirty="0">
                <a:latin typeface="Consolas" panose="020B0609020204030204" pitchFamily="49" charset="0"/>
              </a:rPr>
              <a:t>() -&gt; void: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$</a:t>
            </a:r>
            <a:r>
              <a:rPr lang="en-US" altLang="zh-CN" sz="2000" dirty="0" err="1">
                <a:latin typeface="Consolas" panose="020B0609020204030204" pitchFamily="49" charset="0"/>
              </a:rPr>
              <a:t>Mask.hide</a:t>
            </a:r>
            <a:r>
              <a:rPr lang="en-US" altLang="zh-CN" sz="2000" dirty="0">
                <a:latin typeface="Consolas" panose="020B0609020204030204" pitchFamily="49" charset="0"/>
              </a:rPr>
              <a:t>()            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$</a:t>
            </a:r>
            <a:r>
              <a:rPr lang="en-US" altLang="zh-CN" sz="2000" dirty="0" err="1">
                <a:latin typeface="Consolas" panose="020B0609020204030204" pitchFamily="49" charset="0"/>
              </a:rPr>
              <a:t>Message.hide</a:t>
            </a:r>
            <a:r>
              <a:rPr lang="en-US" altLang="zh-CN" sz="2000" dirty="0">
                <a:latin typeface="Consolas" panose="020B0609020204030204" pitchFamily="49" charset="0"/>
              </a:rPr>
              <a:t>()         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$</a:t>
            </a:r>
            <a:r>
              <a:rPr lang="en-US" altLang="zh-CN" sz="2000" dirty="0" err="1">
                <a:latin typeface="Consolas" panose="020B0609020204030204" pitchFamily="49" charset="0"/>
              </a:rPr>
              <a:t>StartButton.hide</a:t>
            </a:r>
            <a:r>
              <a:rPr lang="en-US" altLang="zh-CN" sz="2000" dirty="0">
                <a:latin typeface="Consolas" panose="020B0609020204030204" pitchFamily="49" charset="0"/>
              </a:rPr>
              <a:t>()     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restart_button.show</a:t>
            </a:r>
            <a:r>
              <a:rPr lang="en-US" altLang="zh-CN" sz="2000" dirty="0">
                <a:latin typeface="Consolas" panose="020B0609020204030204" pitchFamily="49" charset="0"/>
              </a:rPr>
              <a:t>()   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score_label.show</a:t>
            </a:r>
            <a:r>
              <a:rPr lang="en-US" altLang="zh-CN" sz="2000" dirty="0">
                <a:latin typeface="Consolas" panose="020B0609020204030204" pitchFamily="49" charset="0"/>
              </a:rPr>
              <a:t>()      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update_score</a:t>
            </a:r>
            <a:r>
              <a:rPr lang="en-US" altLang="zh-CN" sz="2000" dirty="0">
                <a:latin typeface="Consolas" panose="020B0609020204030204" pitchFamily="49" charset="0"/>
              </a:rPr>
              <a:t>(score: int) -&gt; void: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score_label.text</a:t>
            </a:r>
            <a:r>
              <a:rPr lang="en-US" altLang="zh-CN" sz="2000" dirty="0">
                <a:latin typeface="Consolas" panose="020B0609020204030204" pitchFamily="49" charset="0"/>
              </a:rPr>
              <a:t> = "</a:t>
            </a:r>
            <a:r>
              <a:rPr lang="zh-CN" altLang="en-US" sz="2000" dirty="0">
                <a:latin typeface="Consolas" panose="020B0609020204030204" pitchFamily="49" charset="0"/>
              </a:rPr>
              <a:t>分数</a:t>
            </a:r>
            <a:r>
              <a:rPr lang="en-US" altLang="zh-CN" sz="2000" dirty="0">
                <a:latin typeface="Consolas" panose="020B0609020204030204" pitchFamily="49" charset="0"/>
              </a:rPr>
              <a:t>: %d" % score 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3F5A7F1-9C2C-23C1-63E0-D1541DF0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初始准备和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score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刷新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F9D59E-4A2A-222E-555E-72DF0E5CFC41}"/>
              </a:ext>
            </a:extLst>
          </p:cNvPr>
          <p:cNvSpPr/>
          <p:nvPr/>
        </p:nvSpPr>
        <p:spPr>
          <a:xfrm>
            <a:off x="619431" y="1740442"/>
            <a:ext cx="6440130" cy="3647635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272F12-9902-1F88-79EF-3F8B91A6CE47}"/>
              </a:ext>
            </a:extLst>
          </p:cNvPr>
          <p:cNvSpPr txBox="1"/>
          <p:nvPr/>
        </p:nvSpPr>
        <p:spPr>
          <a:xfrm>
            <a:off x="7374194" y="1740442"/>
            <a:ext cx="410881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藏 3 个（遮罩/标题/开始按钮），亮 2 个（分数/重开按钮）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zh-CN" sz="2400" b="1" dirty="0"/>
              <a:t>%d 是占位符</a:t>
            </a:r>
            <a:r>
              <a:rPr lang="zh-CN" altLang="zh-CN" sz="2400" dirty="0"/>
              <a:t>，被后面的数字替换。"分数: %d" % 30 = 分数: 30——</a:t>
            </a:r>
            <a:r>
              <a:rPr lang="zh-CN" altLang="zh-CN" sz="2400" b="1" dirty="0"/>
              <a:t>格式化字符串</a:t>
            </a:r>
            <a:endParaRPr lang="zh-CN" altLang="zh-CN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8951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83161C1-1196-DEB9-BD90-5E5D8B450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new_game</a:t>
            </a:r>
            <a:r>
              <a:rPr lang="en-US" altLang="zh-CN" sz="2000" dirty="0">
                <a:latin typeface="Consolas" panose="020B0609020204030204" pitchFamily="49" charset="0"/>
              </a:rPr>
              <a:t>() -&gt; void: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_deselect()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board.reset_game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hud.prepare_playing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hud.update_score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board.score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state = </a:t>
            </a:r>
            <a:r>
              <a:rPr lang="en-US" altLang="zh-CN" sz="2000" dirty="0" err="1">
                <a:latin typeface="Consolas" panose="020B0609020204030204" pitchFamily="49" charset="0"/>
              </a:rPr>
              <a:t>State.IDLE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$</a:t>
            </a:r>
            <a:r>
              <a:rPr lang="en-US" altLang="zh-CN" sz="2000" dirty="0" err="1">
                <a:latin typeface="Consolas" panose="020B0609020204030204" pitchFamily="49" charset="0"/>
              </a:rPr>
              <a:t>SfxClick.play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if not $</a:t>
            </a:r>
            <a:r>
              <a:rPr lang="en-US" altLang="zh-CN" sz="2000" dirty="0" err="1">
                <a:latin typeface="Consolas" panose="020B0609020204030204" pitchFamily="49" charset="0"/>
              </a:rPr>
              <a:t>Music.playing</a:t>
            </a:r>
            <a:r>
              <a:rPr lang="en-US" altLang="zh-CN" sz="20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$</a:t>
            </a:r>
            <a:r>
              <a:rPr lang="en-US" altLang="zh-CN" sz="2000" dirty="0" err="1">
                <a:latin typeface="Consolas" panose="020B0609020204030204" pitchFamily="49" charset="0"/>
              </a:rPr>
              <a:t>Music.play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ED06FD0-54F9-8E0C-56CC-BEB6FAF4B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回到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main.gd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，添加运行部分：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7D27B2-9F99-4555-3985-4B82DD5D1778}"/>
              </a:ext>
            </a:extLst>
          </p:cNvPr>
          <p:cNvSpPr/>
          <p:nvPr/>
        </p:nvSpPr>
        <p:spPr>
          <a:xfrm>
            <a:off x="619431" y="1740442"/>
            <a:ext cx="5338917" cy="3863945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A54A024-DBEB-4129-BDF3-1BDB4C0BDF5B}"/>
              </a:ext>
            </a:extLst>
          </p:cNvPr>
          <p:cNvSpPr txBox="1"/>
          <p:nvPr/>
        </p:nvSpPr>
        <p:spPr>
          <a:xfrm>
            <a:off x="6272981" y="1750142"/>
            <a:ext cx="52100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new_game 是</a:t>
            </a:r>
            <a:r>
              <a:rPr lang="zh-CN" altLang="zh-CN" sz="2400" b="1" dirty="0"/>
              <a:t>开局函数</a:t>
            </a:r>
            <a:r>
              <a:rPr lang="zh-CN" altLang="zh-CN" sz="2400" dirty="0"/>
              <a:t>——点开始、点重开，最后都会走到这里</a:t>
            </a:r>
          </a:p>
          <a:p>
            <a:endParaRPr lang="en-US" altLang="zh-CN" sz="2400" dirty="0"/>
          </a:p>
          <a:p>
            <a:r>
              <a:rPr lang="zh-CN" altLang="zh-CN" sz="2400" dirty="0"/>
              <a:t>Dodge the Creeps 里也有 new_game()——官方 HUD 架构的核心函数，我们复刻了它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32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AA484D2-D245-EBBB-C253-AA63A6BA7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</a:rPr>
              <a:t> _</a:t>
            </a:r>
            <a:r>
              <a:rPr lang="en-US" altLang="zh-CN" sz="2000" dirty="0" err="1">
                <a:latin typeface="Consolas" panose="020B0609020204030204" pitchFamily="49" charset="0"/>
              </a:rPr>
              <a:t>on_match_cleared</a:t>
            </a:r>
            <a:r>
              <a:rPr lang="en-US" altLang="zh-CN" sz="2000" dirty="0">
                <a:latin typeface="Consolas" panose="020B0609020204030204" pitchFamily="49" charset="0"/>
              </a:rPr>
              <a:t>() -&gt; void: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$</a:t>
            </a:r>
            <a:r>
              <a:rPr lang="en-US" altLang="zh-CN" sz="2000" dirty="0" err="1">
                <a:latin typeface="Consolas" panose="020B0609020204030204" pitchFamily="49" charset="0"/>
              </a:rPr>
              <a:t>SfxClear.play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</a:rPr>
              <a:t> _</a:t>
            </a:r>
            <a:r>
              <a:rPr lang="en-US" altLang="zh-CN" sz="2000" dirty="0" err="1">
                <a:latin typeface="Consolas" panose="020B0609020204030204" pitchFamily="49" charset="0"/>
              </a:rPr>
              <a:t>setup_music_loop</a:t>
            </a:r>
            <a:r>
              <a:rPr lang="en-US" altLang="zh-CN" sz="2000" dirty="0">
                <a:latin typeface="Consolas" panose="020B0609020204030204" pitchFamily="49" charset="0"/>
              </a:rPr>
              <a:t>() -&gt; void: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if $</a:t>
            </a:r>
            <a:r>
              <a:rPr lang="en-US" altLang="zh-CN" sz="2000" dirty="0" err="1">
                <a:latin typeface="Consolas" panose="020B0609020204030204" pitchFamily="49" charset="0"/>
              </a:rPr>
              <a:t>Music.stream</a:t>
            </a:r>
            <a:r>
              <a:rPr lang="en-US" altLang="zh-CN" sz="2000" dirty="0">
                <a:latin typeface="Consolas" panose="020B0609020204030204" pitchFamily="49" charset="0"/>
              </a:rPr>
              <a:t> is </a:t>
            </a:r>
            <a:r>
              <a:rPr lang="en-US" altLang="zh-CN" sz="2000" dirty="0" err="1">
                <a:latin typeface="Consolas" panose="020B0609020204030204" pitchFamily="49" charset="0"/>
              </a:rPr>
              <a:t>AudioStreamOggVorbis</a:t>
            </a:r>
            <a:r>
              <a:rPr lang="en-US" altLang="zh-CN" sz="20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($</a:t>
            </a:r>
            <a:r>
              <a:rPr lang="en-US" altLang="zh-CN" sz="2000" dirty="0" err="1">
                <a:latin typeface="Consolas" panose="020B0609020204030204" pitchFamily="49" charset="0"/>
              </a:rPr>
              <a:t>Music.stream</a:t>
            </a:r>
            <a:r>
              <a:rPr lang="en-US" altLang="zh-CN" sz="2000" dirty="0">
                <a:latin typeface="Consolas" panose="020B0609020204030204" pitchFamily="49" charset="0"/>
              </a:rPr>
              <a:t> as </a:t>
            </a:r>
            <a:r>
              <a:rPr lang="en-US" altLang="zh-CN" sz="2000" dirty="0" err="1">
                <a:latin typeface="Consolas" panose="020B0609020204030204" pitchFamily="49" charset="0"/>
              </a:rPr>
              <a:t>AudioStreamOggVorbis</a:t>
            </a:r>
            <a:r>
              <a:rPr lang="en-US" altLang="zh-CN" sz="2000" dirty="0">
                <a:latin typeface="Consolas" panose="020B0609020204030204" pitchFamily="49" charset="0"/>
              </a:rPr>
              <a:t>).loop = true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201A4C7-5E09-C828-DAFF-8632BDEC3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音效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音乐播放器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10C60C-3AFE-7409-83AA-F78380C425CA}"/>
              </a:ext>
            </a:extLst>
          </p:cNvPr>
          <p:cNvSpPr/>
          <p:nvPr/>
        </p:nvSpPr>
        <p:spPr>
          <a:xfrm>
            <a:off x="619431" y="1740442"/>
            <a:ext cx="9409472" cy="2723403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CAEC80-374D-089E-4FA8-61C0D5F6128C}"/>
              </a:ext>
            </a:extLst>
          </p:cNvPr>
          <p:cNvSpPr txBox="1"/>
          <p:nvPr/>
        </p:nvSpPr>
        <p:spPr>
          <a:xfrm>
            <a:off x="353961" y="4558860"/>
            <a:ext cx="111290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_on_match_cleared()——B3 第四条线 board.match_cleared.connect(_on_match_cleared) 的</a:t>
            </a:r>
            <a:r>
              <a:rPr lang="zh-CN" altLang="zh-CN" sz="2400" b="1" dirty="0"/>
              <a:t>接听方</a:t>
            </a:r>
            <a:r>
              <a:rPr lang="zh-CN" altLang="zh-CN" sz="2400" dirty="0"/>
              <a:t>：board 每次开始消除会发 match_cleared 信号（L3 的伏笔！），main 接住 → 播消除音效</a:t>
            </a:r>
            <a:endParaRPr lang="en-US" altLang="zh-CN" sz="2400" dirty="0"/>
          </a:p>
          <a:p>
            <a:r>
              <a:rPr lang="zh-CN" altLang="zh-CN" sz="2400" dirty="0"/>
              <a:t> _setup_music_loop()——把 BGM 的 loop 设为 true，音乐无缝循环。is / as = 类型判断和转换：$Music.stream 返回的类型不确定，先确认是 ogg 再设属性</a:t>
            </a:r>
          </a:p>
        </p:txBody>
      </p:sp>
    </p:spTree>
    <p:extLst>
      <p:ext uri="{BB962C8B-B14F-4D97-AF65-F5344CB8AC3E}">
        <p14:creationId xmlns:p14="http://schemas.microsoft.com/office/powerpoint/2010/main" val="2350016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BA08489-0695-A62E-932C-E3A905DF8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</a:rPr>
              <a:t> _ready() -&gt; void: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hud.start_game.connect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new_game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hud.restart.connect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new_game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board.score_changed.connect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hud.update_score</a:t>
            </a:r>
            <a:r>
              <a:rPr lang="en-US" altLang="zh-CN" sz="2000" dirty="0">
                <a:latin typeface="Consolas" panose="020B0609020204030204" pitchFamily="49" charset="0"/>
              </a:rPr>
              <a:t>)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board.match_cleared.connect</a:t>
            </a:r>
            <a:r>
              <a:rPr lang="en-US" altLang="zh-CN" sz="2000" dirty="0">
                <a:latin typeface="Consolas" panose="020B0609020204030204" pitchFamily="49" charset="0"/>
              </a:rPr>
              <a:t>(_</a:t>
            </a:r>
            <a:r>
              <a:rPr lang="en-US" altLang="zh-CN" sz="2000" dirty="0" err="1">
                <a:latin typeface="Consolas" panose="020B0609020204030204" pitchFamily="49" charset="0"/>
              </a:rPr>
              <a:t>on_match_cleared</a:t>
            </a:r>
            <a:r>
              <a:rPr lang="en-US" altLang="zh-CN" sz="2000" dirty="0">
                <a:latin typeface="Consolas" panose="020B0609020204030204" pitchFamily="49" charset="0"/>
              </a:rPr>
              <a:t>)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_</a:t>
            </a:r>
            <a:r>
              <a:rPr lang="en-US" altLang="zh-CN" sz="2000" dirty="0" err="1">
                <a:latin typeface="Consolas" panose="020B0609020204030204" pitchFamily="49" charset="0"/>
              </a:rPr>
              <a:t>setup_music_loop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hud.update_score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board.score</a:t>
            </a:r>
            <a:r>
              <a:rPr lang="en-US" altLang="zh-CN" sz="2000" dirty="0">
                <a:latin typeface="Consolas" panose="020B0609020204030204" pitchFamily="49" charset="0"/>
              </a:rPr>
              <a:t>)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$</a:t>
            </a:r>
            <a:r>
              <a:rPr lang="en-US" altLang="zh-CN" sz="2000" dirty="0" err="1">
                <a:latin typeface="Consolas" panose="020B0609020204030204" pitchFamily="49" charset="0"/>
              </a:rPr>
              <a:t>Music.play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57734D3-688A-6BD9-7467-10FA4AA0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总装：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_ready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51E895-0207-610A-319E-F763EF6985D8}"/>
              </a:ext>
            </a:extLst>
          </p:cNvPr>
          <p:cNvSpPr/>
          <p:nvPr/>
        </p:nvSpPr>
        <p:spPr>
          <a:xfrm>
            <a:off x="619431" y="1740442"/>
            <a:ext cx="7757653" cy="3490319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546181-81B8-8EF8-1535-D3E4A33E87FE}"/>
              </a:ext>
            </a:extLst>
          </p:cNvPr>
          <p:cNvSpPr txBox="1"/>
          <p:nvPr/>
        </p:nvSpPr>
        <p:spPr>
          <a:xfrm>
            <a:off x="452284" y="5555226"/>
            <a:ext cx="111399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信号.connect(函数) </a:t>
            </a:r>
            <a:r>
              <a:rPr lang="zh-CN" altLang="zh-CN" sz="2400" dirty="0"/>
              <a:t>= "听到喊声就执行这个函数"——</a:t>
            </a:r>
            <a:r>
              <a:rPr lang="zh-CN" altLang="zh-CN" sz="2400" b="1" dirty="0"/>
              <a:t>连接</a:t>
            </a:r>
            <a:r>
              <a:rPr lang="zh-CN" altLang="zh-CN" sz="2400" dirty="0"/>
              <a:t>是唯一的接线动作，</a:t>
            </a:r>
            <a:r>
              <a:rPr lang="zh-CN" altLang="zh-CN" sz="2400" b="1" dirty="0"/>
              <a:t>全部在 _ready 一次接完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305628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6859619-C920-D3DB-93F2-3C68309CB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5596583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来到</a:t>
            </a:r>
            <a:r>
              <a:rPr lang="en-US" altLang="zh-CN" dirty="0"/>
              <a:t>Main</a:t>
            </a:r>
            <a:r>
              <a:rPr lang="zh-CN" altLang="en-US" dirty="0"/>
              <a:t>场景，右键根节点，然后实例化子场景，选中</a:t>
            </a:r>
            <a:r>
              <a:rPr lang="en-US" altLang="zh-CN" dirty="0" err="1"/>
              <a:t>hud.tscn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实例化子场景是</a:t>
            </a:r>
            <a:r>
              <a:rPr lang="en-US" altLang="zh-CN" dirty="0"/>
              <a:t>Godot</a:t>
            </a:r>
            <a:r>
              <a:rPr lang="zh-CN" altLang="en-US" dirty="0"/>
              <a:t>特别方便的功能：</a:t>
            </a:r>
            <a:r>
              <a:rPr lang="zh-CN" altLang="zh-CN" dirty="0"/>
              <a:t>场景就是模板，你可以用场景来创建出任意数量的复制品，这种的操作就叫作实例化（instancing）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B2FF641-BB78-9C38-8955-7E18D19DA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总装：实例化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FDBC4D8-3B16-7295-FDB7-DDAEAE59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153" y="681037"/>
            <a:ext cx="5036287" cy="159267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88D34B0-3D62-4644-81B1-121CCE01B062}"/>
              </a:ext>
            </a:extLst>
          </p:cNvPr>
          <p:cNvSpPr/>
          <p:nvPr/>
        </p:nvSpPr>
        <p:spPr>
          <a:xfrm>
            <a:off x="7757651" y="1572169"/>
            <a:ext cx="3708789" cy="33429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6670BF6-A949-2B51-7F86-D2A139D0A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153" y="2272507"/>
            <a:ext cx="5036287" cy="391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029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4765CBD-F326-112E-2BD3-5795847D4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7877877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现在，补充最后的音效：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SfxClick</a:t>
            </a:r>
            <a:r>
              <a:rPr lang="zh-CN" altLang="en-US" dirty="0"/>
              <a:t>，</a:t>
            </a:r>
            <a:r>
              <a:rPr lang="en-US" altLang="zh-CN" dirty="0" err="1"/>
              <a:t>SfxSelect</a:t>
            </a:r>
            <a:r>
              <a:rPr lang="zh-CN" altLang="en-US" dirty="0"/>
              <a:t>，</a:t>
            </a:r>
            <a:r>
              <a:rPr lang="en-US" altLang="zh-CN" dirty="0" err="1"/>
              <a:t>SfxSwap</a:t>
            </a:r>
            <a:r>
              <a:rPr lang="zh-CN" altLang="en-US" dirty="0"/>
              <a:t>，</a:t>
            </a:r>
            <a:r>
              <a:rPr lang="en-US" altLang="zh-CN" dirty="0" err="1"/>
              <a:t>SfxClear</a:t>
            </a:r>
            <a:r>
              <a:rPr lang="zh-CN" altLang="en-US" dirty="0"/>
              <a:t>，</a:t>
            </a:r>
            <a:r>
              <a:rPr lang="en-US" altLang="zh-CN" dirty="0"/>
              <a:t>Music</a:t>
            </a:r>
          </a:p>
          <a:p>
            <a:pPr marL="0" indent="0">
              <a:buNone/>
            </a:pPr>
            <a:r>
              <a:rPr lang="zh-CN" altLang="zh-CN" dirty="0"/>
              <a:t>Music → assets/House In a Forest Loop.ogg、SfxClear → tap-a.ogg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现在，我们</a:t>
            </a:r>
            <a:r>
              <a:rPr lang="en-US" altLang="zh-CN" dirty="0"/>
              <a:t>main</a:t>
            </a:r>
            <a:r>
              <a:rPr lang="zh-CN" altLang="en-US" dirty="0"/>
              <a:t>场景的结构如右图所示：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4E42A63-AD6F-5CFA-059E-4A22F162F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总装：音效补全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53E7DA-9D82-DB83-ECE7-CC49D0D22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3436" y="1825625"/>
            <a:ext cx="2863005" cy="435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31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3635559-F0E8-887A-B9D4-B66CDF518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0957" y="1687973"/>
            <a:ext cx="6595907" cy="4929137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9671E52D-1FE9-4B0F-12F3-2C646799C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达成成就：结束了？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7488A9-A002-5024-46C8-D22AF5627A5E}"/>
              </a:ext>
            </a:extLst>
          </p:cNvPr>
          <p:cNvSpPr txBox="1"/>
          <p:nvPr/>
        </p:nvSpPr>
        <p:spPr>
          <a:xfrm>
            <a:off x="786581" y="3173361"/>
            <a:ext cx="42278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现在，我们按下</a:t>
            </a:r>
            <a:r>
              <a:rPr lang="en-US" altLang="zh-CN" sz="2800" dirty="0"/>
              <a:t>F5</a:t>
            </a:r>
            <a:r>
              <a:rPr lang="zh-CN" altLang="en-US" sz="2800" dirty="0"/>
              <a:t>，就可以游玩游戏，现在，我们游戏总装完成！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937533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04EDB9F-F803-9001-4C90-AE8ECBE6E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1764" y="1630358"/>
            <a:ext cx="8097113" cy="4733418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D1D0A824-1852-892F-E4FD-6FD79444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接下来准备导出游戏：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3DA289-EA8E-2090-DFBD-92B45DEE7344}"/>
              </a:ext>
            </a:extLst>
          </p:cNvPr>
          <p:cNvSpPr txBox="1"/>
          <p:nvPr/>
        </p:nvSpPr>
        <p:spPr>
          <a:xfrm>
            <a:off x="609600" y="2442795"/>
            <a:ext cx="273336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上栏，打开项目，然后点击“导出</a:t>
            </a:r>
            <a:r>
              <a:rPr lang="en-US" altLang="zh-CN" sz="2800" dirty="0"/>
              <a:t>…</a:t>
            </a:r>
            <a:r>
              <a:rPr lang="zh-CN" altLang="en-US" sz="2800" dirty="0"/>
              <a:t>”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现在，你可能会看到这样空空的界面：</a:t>
            </a:r>
          </a:p>
        </p:txBody>
      </p:sp>
    </p:spTree>
    <p:extLst>
      <p:ext uri="{BB962C8B-B14F-4D97-AF65-F5344CB8AC3E}">
        <p14:creationId xmlns:p14="http://schemas.microsoft.com/office/powerpoint/2010/main" val="3421299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B62F038-B909-1C0A-F809-4B08E07EF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6550312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现在，添加一份预设：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点击</a:t>
            </a:r>
            <a:r>
              <a:rPr lang="en-US" altLang="zh-CN" dirty="0"/>
              <a:t>Windows Desktop</a:t>
            </a:r>
            <a:r>
              <a:rPr lang="zh-CN" altLang="en-US" dirty="0"/>
              <a:t>，然后为你的项目命名，填写基本信息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导出项目，命名，保存！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7524DC4-65E7-DE61-7AB8-CF33EC19A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添加预设：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9C52A9C-FA9B-B0CD-CB01-BAAE97C46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629" y="1825625"/>
            <a:ext cx="4105812" cy="465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39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AD83229-E601-0722-1E46-FC0B854696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0115" y="1825624"/>
            <a:ext cx="7607755" cy="4758761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E7993C82-5260-87A3-40A6-5FF89B373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达成成就：结束了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52965A-8D3C-BF7D-D8CC-67AAFEA32F63}"/>
              </a:ext>
            </a:extLst>
          </p:cNvPr>
          <p:cNvSpPr txBox="1"/>
          <p:nvPr/>
        </p:nvSpPr>
        <p:spPr>
          <a:xfrm>
            <a:off x="747252" y="1966452"/>
            <a:ext cx="33036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看到你们自己导出的项目了吗？现在，你已经有了自己的第一款游戏</a:t>
            </a:r>
            <a:r>
              <a:rPr lang="en-US" altLang="zh-CN" sz="2800" dirty="0"/>
              <a:t>~</a:t>
            </a:r>
          </a:p>
          <a:p>
            <a:endParaRPr lang="en-US" altLang="zh-CN" sz="2800" dirty="0"/>
          </a:p>
          <a:p>
            <a:r>
              <a:rPr lang="zh-CN" altLang="en-US" sz="2800" dirty="0"/>
              <a:t>你们的</a:t>
            </a:r>
            <a:r>
              <a:rPr lang="en-US" altLang="zh-CN" sz="2800" dirty="0"/>
              <a:t>exe</a:t>
            </a:r>
            <a:r>
              <a:rPr lang="zh-CN" altLang="en-US" sz="2800" dirty="0"/>
              <a:t>文件是可以独立运行的单文件，发给你们的好基友们品鉴吧</a:t>
            </a:r>
            <a:r>
              <a:rPr lang="en-US" altLang="zh-CN" sz="2800" dirty="0"/>
              <a:t>~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9045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55A4937-2807-63F0-63D2-79A6BE60E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dirty="0"/>
              <a:t>L1 改一行：搭环境、建项目、生成 64 颗宝石</a:t>
            </a:r>
          </a:p>
          <a:p>
            <a:pPr marL="0" indent="0">
              <a:buNone/>
            </a:pPr>
            <a:r>
              <a:rPr lang="zh-CN" altLang="zh-CN" dirty="0"/>
              <a:t>L2 读代码：点选、交换、三消判定——看懂规则怎么写的</a:t>
            </a:r>
          </a:p>
          <a:p>
            <a:pPr marL="0" indent="0">
              <a:buNone/>
            </a:pPr>
            <a:r>
              <a:rPr lang="zh-CN" altLang="zh-CN" dirty="0"/>
              <a:t>L3 写函数：_calc_score——人生第一个函数，连锁循环</a:t>
            </a:r>
          </a:p>
          <a:p>
            <a:pPr marL="0" indent="0">
              <a:buNone/>
            </a:pPr>
            <a:r>
              <a:rPr lang="zh-CN" altLang="zh-CN" dirty="0"/>
              <a:t>L4 连线发布：信号流串起整台机器，打包 exe 发出去</a:t>
            </a:r>
          </a:p>
          <a:p>
            <a:pPr marL="0" indent="0">
              <a:buNone/>
            </a:pPr>
            <a:br>
              <a:rPr lang="zh-CN" altLang="zh-CN" dirty="0"/>
            </a:b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  零基础 → 做出一个能玩、能分发的游戏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C8735B4-20E9-C844-034E-6CE42F9B9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结课回顾：</a:t>
            </a:r>
          </a:p>
        </p:txBody>
      </p:sp>
    </p:spTree>
    <p:extLst>
      <p:ext uri="{BB962C8B-B14F-4D97-AF65-F5344CB8AC3E}">
        <p14:creationId xmlns:p14="http://schemas.microsoft.com/office/powerpoint/2010/main" val="2722499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1D82CDD-50AA-BA5F-5608-F8A811E95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进阶玩法（完整版 M5 有实现，源码可对照）：</a:t>
            </a:r>
          </a:p>
          <a:p>
            <a:pPr marL="457200" lvl="1" indent="0">
              <a:buNone/>
            </a:pPr>
            <a:r>
              <a:rPr lang="zh-CN" altLang="zh-CN" dirty="0"/>
              <a:t>   特殊宝石：四连闪电 / 五连魔方 / T 形炸弹</a:t>
            </a:r>
            <a:r>
              <a:rPr lang="en-US" altLang="zh-CN" dirty="0"/>
              <a:t> / 6</a:t>
            </a:r>
            <a:r>
              <a:rPr lang="zh-CN" altLang="en-US"/>
              <a:t>连超新星</a:t>
            </a:r>
            <a:endParaRPr lang="zh-CN" altLang="zh-CN" dirty="0"/>
          </a:p>
          <a:p>
            <a:pPr marL="457200" lvl="1" indent="0">
              <a:buNone/>
            </a:pPr>
            <a:r>
              <a:rPr lang="zh-CN" altLang="zh-CN" dirty="0"/>
              <a:t>   模式切换：步数 / 限时 / 无尽 / 关卡目标</a:t>
            </a:r>
          </a:p>
          <a:p>
            <a:pPr marL="457200" lvl="1" indent="0">
              <a:buNone/>
            </a:pPr>
            <a:r>
              <a:rPr lang="zh-CN" altLang="zh-CN" dirty="0"/>
              <a:t>   存档、提示、分数榜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官方教程自学（Godot 官网）：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Step by step（基础概念）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Your first 2D game · Dodge the Creeps（物理/碰撞/动画）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7D196AD-536D-268B-03A2-38C572F6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后续学习方向：</a:t>
            </a:r>
          </a:p>
        </p:txBody>
      </p:sp>
    </p:spTree>
    <p:extLst>
      <p:ext uri="{BB962C8B-B14F-4D97-AF65-F5344CB8AC3E}">
        <p14:creationId xmlns:p14="http://schemas.microsoft.com/office/powerpoint/2010/main" val="4267589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0DAA678-3A3A-FE34-1F3A-1986BC515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欢迎来到饺子醋环节：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本期社课项目的完整版由</a:t>
            </a:r>
            <a:r>
              <a:rPr lang="en-US" altLang="zh-CN" b="1" dirty="0"/>
              <a:t>Cursor</a:t>
            </a:r>
            <a:r>
              <a:rPr lang="zh-CN" altLang="en-US" dirty="0"/>
              <a:t>完成，教学版是由</a:t>
            </a:r>
            <a:r>
              <a:rPr lang="en-US" altLang="zh-CN" dirty="0" err="1"/>
              <a:t>Openclaw</a:t>
            </a:r>
            <a:r>
              <a:rPr lang="zh-CN" altLang="en-US" dirty="0"/>
              <a:t>（</a:t>
            </a:r>
            <a:r>
              <a:rPr lang="en-US" altLang="zh-CN" dirty="0"/>
              <a:t>model</a:t>
            </a:r>
            <a:r>
              <a:rPr lang="zh-CN" altLang="en-US" dirty="0"/>
              <a:t>为</a:t>
            </a:r>
            <a:r>
              <a:rPr lang="en-US" altLang="zh-CN" dirty="0"/>
              <a:t>DeepseekV4</a:t>
            </a:r>
            <a:r>
              <a:rPr lang="zh-CN" altLang="en-US" dirty="0"/>
              <a:t>）和我自己进行精简完成，其中的免费素材，音效等内容由</a:t>
            </a:r>
            <a:r>
              <a:rPr lang="en-US" altLang="zh-CN" dirty="0" err="1"/>
              <a:t>Openclaw</a:t>
            </a:r>
            <a:r>
              <a:rPr lang="zh-CN" altLang="en-US" dirty="0"/>
              <a:t>寻找的。</a:t>
            </a:r>
            <a:endParaRPr lang="en-US" altLang="zh-CN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zh-CN" altLang="en-US" dirty="0"/>
              <a:t>课件内容大纲，课件编写，</a:t>
            </a:r>
            <a:r>
              <a:rPr lang="en-US" altLang="zh-CN" dirty="0"/>
              <a:t>bug</a:t>
            </a:r>
            <a:r>
              <a:rPr lang="zh-CN" altLang="en-US" dirty="0"/>
              <a:t>搜查和修改由自己完成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87D19FE-4FF8-EB77-E017-3FE53A3A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管栈简述</a:t>
            </a:r>
          </a:p>
        </p:txBody>
      </p:sp>
    </p:spTree>
    <p:extLst>
      <p:ext uri="{BB962C8B-B14F-4D97-AF65-F5344CB8AC3E}">
        <p14:creationId xmlns:p14="http://schemas.microsoft.com/office/powerpoint/2010/main" val="2864690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74E22D2-21CC-ED3B-101B-A026F3814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生产流程：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构思 → 确定三消作为授课内容 → 玩法拆解 → 由</a:t>
            </a:r>
            <a:r>
              <a:rPr lang="en-US" altLang="zh-CN" dirty="0" err="1"/>
              <a:t>openclaw</a:t>
            </a:r>
            <a:r>
              <a:rPr lang="zh-CN" altLang="en-US" dirty="0"/>
              <a:t>生成</a:t>
            </a:r>
            <a:r>
              <a:rPr lang="en-US" altLang="zh-CN" dirty="0"/>
              <a:t>prompt</a:t>
            </a:r>
            <a:r>
              <a:rPr lang="zh-CN" altLang="en-US" dirty="0"/>
              <a:t> → 交给</a:t>
            </a:r>
            <a:r>
              <a:rPr lang="en-US" altLang="zh-CN" dirty="0"/>
              <a:t>Cursor</a:t>
            </a:r>
            <a:r>
              <a:rPr lang="zh-CN" altLang="en-US" dirty="0"/>
              <a:t>进行可行性评估然后提出修改建议 → 两个</a:t>
            </a:r>
            <a:r>
              <a:rPr lang="en-US" altLang="zh-CN" dirty="0"/>
              <a:t>AI</a:t>
            </a:r>
            <a:r>
              <a:rPr lang="zh-CN" altLang="en-US" dirty="0"/>
              <a:t>和我进行修补 → 产出最终</a:t>
            </a:r>
            <a:r>
              <a:rPr lang="en-US" altLang="zh-CN" dirty="0"/>
              <a:t>prompt </a:t>
            </a:r>
            <a:r>
              <a:rPr lang="zh-CN" altLang="en-US" dirty="0"/>
              <a:t>→ 交给</a:t>
            </a:r>
            <a:r>
              <a:rPr lang="en-US" altLang="zh-CN" dirty="0"/>
              <a:t>Cursor</a:t>
            </a:r>
            <a:r>
              <a:rPr lang="zh-CN" altLang="en-US" dirty="0"/>
              <a:t>实行 → </a:t>
            </a:r>
            <a:r>
              <a:rPr lang="en-US" altLang="zh-CN" dirty="0"/>
              <a:t>bug</a:t>
            </a:r>
            <a:r>
              <a:rPr lang="zh-CN" altLang="en-US" dirty="0"/>
              <a:t>维修 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基础版由完整版精简修改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简单讲，我的生产方式是个人介入式的两个</a:t>
            </a:r>
            <a:r>
              <a:rPr lang="en-US" altLang="zh-CN" dirty="0"/>
              <a:t>AI</a:t>
            </a:r>
            <a:r>
              <a:rPr lang="zh-CN" altLang="en-US" dirty="0"/>
              <a:t>击剑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98DD626-C45E-5A6C-91A4-E4EE69DA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管栈</a:t>
            </a:r>
          </a:p>
        </p:txBody>
      </p:sp>
    </p:spTree>
    <p:extLst>
      <p:ext uri="{BB962C8B-B14F-4D97-AF65-F5344CB8AC3E}">
        <p14:creationId xmlns:p14="http://schemas.microsoft.com/office/powerpoint/2010/main" val="808982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5014CA5-2B20-B698-36C8-F29C4A7B7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今年暑假实训期间，我用了一个月时间从一个白模</a:t>
            </a:r>
            <a:r>
              <a:rPr lang="en-US" altLang="zh-CN" dirty="0"/>
              <a:t>demo</a:t>
            </a:r>
            <a:r>
              <a:rPr lang="zh-CN" altLang="en-US" dirty="0"/>
              <a:t>完成了一个完整游戏，在此之前，我用了一个半月时间从</a:t>
            </a:r>
            <a:r>
              <a:rPr lang="en-US" altLang="zh-CN" dirty="0"/>
              <a:t>0</a:t>
            </a:r>
            <a:r>
              <a:rPr lang="zh-CN" altLang="en-US" dirty="0"/>
              <a:t>编写了一份原创卡牌游戏的部分底层架构（卡牌数据，对局流程）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后续让</a:t>
            </a:r>
            <a:r>
              <a:rPr lang="en-US" altLang="zh-CN" dirty="0"/>
              <a:t>AI</a:t>
            </a:r>
            <a:r>
              <a:rPr lang="zh-CN" altLang="en-US" dirty="0"/>
              <a:t>接手后，它只用了半个月的时间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完成了我一个半月工作量的三倍之多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也就是说：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AI</a:t>
            </a:r>
            <a:r>
              <a:rPr lang="zh-CN" altLang="en-US" dirty="0">
                <a:solidFill>
                  <a:srgbClr val="FF0000"/>
                </a:solidFill>
              </a:rPr>
              <a:t>的工作效率是我的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  <a:r>
              <a:rPr lang="zh-CN" altLang="en-US" dirty="0">
                <a:solidFill>
                  <a:srgbClr val="FF0000"/>
                </a:solidFill>
              </a:rPr>
              <a:t>倍甚至</a:t>
            </a:r>
            <a:r>
              <a:rPr lang="en-US" altLang="zh-CN" dirty="0">
                <a:solidFill>
                  <a:srgbClr val="FF0000"/>
                </a:solidFill>
              </a:rPr>
              <a:t>9</a:t>
            </a:r>
            <a:r>
              <a:rPr lang="zh-CN" altLang="en-US" dirty="0">
                <a:solidFill>
                  <a:srgbClr val="FF0000"/>
                </a:solidFill>
              </a:rPr>
              <a:t>倍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122D028-4966-8C41-C117-FC99BBDEC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开发经历：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C9BB24-C775-F15B-B1AC-AE48B288E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367" y="3836360"/>
            <a:ext cx="4161073" cy="234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6791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C380C2D-F4E8-5662-61BE-EA3CA6AC2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zh-CN" altLang="en-US" sz="9600" b="1" dirty="0"/>
              <a:t>心累。</a:t>
            </a:r>
            <a:endParaRPr lang="en-US" altLang="zh-CN" sz="9600" b="1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41BB40B-C7C9-984D-0055-0D0B2F5AD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看法</a:t>
            </a:r>
          </a:p>
        </p:txBody>
      </p:sp>
    </p:spTree>
    <p:extLst>
      <p:ext uri="{BB962C8B-B14F-4D97-AF65-F5344CB8AC3E}">
        <p14:creationId xmlns:p14="http://schemas.microsoft.com/office/powerpoint/2010/main" val="5612987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D4B296C-9ABB-889B-2AC1-240F80645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4000" b="1" dirty="0"/>
              <a:t>我不知道我是不是在使用</a:t>
            </a:r>
            <a:r>
              <a:rPr lang="en-US" altLang="zh-CN" sz="4000" b="1" dirty="0"/>
              <a:t>AI</a:t>
            </a:r>
            <a:r>
              <a:rPr lang="zh-CN" altLang="en-US" sz="4000" b="1" dirty="0"/>
              <a:t>，我也不知道我是不是在进步，这是</a:t>
            </a:r>
            <a:r>
              <a:rPr lang="en-US" altLang="zh-CN" sz="4000" b="1" dirty="0"/>
              <a:t>AI</a:t>
            </a:r>
            <a:r>
              <a:rPr lang="zh-CN" altLang="en-US" sz="4000" b="1" dirty="0"/>
              <a:t>让我最害怕的部分。</a:t>
            </a:r>
            <a:endParaRPr lang="en-US" altLang="zh-CN" sz="4000" b="1" dirty="0"/>
          </a:p>
          <a:p>
            <a:pPr marL="0" indent="0">
              <a:buNone/>
            </a:pPr>
            <a:endParaRPr lang="en-US" altLang="zh-CN" sz="4000" b="1" dirty="0"/>
          </a:p>
          <a:p>
            <a:pPr marL="0" indent="0">
              <a:buNone/>
            </a:pPr>
            <a:r>
              <a:rPr lang="zh-CN" altLang="en-US" sz="4000" b="1" dirty="0"/>
              <a:t>所以我在编写课件期间死命般的巩固基础知识，但我还是对此感到不踏实，甚至是惶恐不安。</a:t>
            </a:r>
            <a:endParaRPr lang="en-US" altLang="zh-CN" sz="4000" b="1" dirty="0"/>
          </a:p>
          <a:p>
            <a:pPr marL="0" indent="0">
              <a:buNone/>
            </a:pPr>
            <a:endParaRPr lang="zh-CN" altLang="en-US" sz="4000" b="1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C1FE218-909E-618D-89F5-780704E8D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看法</a:t>
            </a:r>
          </a:p>
        </p:txBody>
      </p:sp>
    </p:spTree>
    <p:extLst>
      <p:ext uri="{BB962C8B-B14F-4D97-AF65-F5344CB8AC3E}">
        <p14:creationId xmlns:p14="http://schemas.microsoft.com/office/powerpoint/2010/main" val="19307375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AFBA44B-A201-49B7-1377-A51A45C18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我不知道未来会怎样，不止你们，我们的未来，更是整个游戏行业的未来。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现在我只能做的，我们只能做的，是顺应时代发展，</a:t>
            </a:r>
            <a:r>
              <a:rPr lang="zh-CN" altLang="en-US" dirty="0">
                <a:solidFill>
                  <a:srgbClr val="FF0000"/>
                </a:solidFill>
              </a:rPr>
              <a:t>在浪潮之中，我们还有站稳脚跟的余地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BF06CC3-04B7-27D1-8F54-C8F2FDDB2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结语</a:t>
            </a:r>
          </a:p>
        </p:txBody>
      </p:sp>
    </p:spTree>
    <p:extLst>
      <p:ext uri="{BB962C8B-B14F-4D97-AF65-F5344CB8AC3E}">
        <p14:creationId xmlns:p14="http://schemas.microsoft.com/office/powerpoint/2010/main" val="1806206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0D2D958-98E4-3F57-8CC2-B8B0F58E1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125" y="1651898"/>
            <a:ext cx="10740884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9600" dirty="0"/>
              <a:t>谢谢！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B1E2F09-22CB-043D-D0AE-53737223B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580281"/>
      </p:ext>
    </p:extLst>
  </p:cSld>
  <p:clrMapOvr>
    <a:masterClrMapping/>
  </p:clrMapOvr>
</p:sld>
</file>

<file path=ppt/theme/theme1.xml><?xml version="1.0" encoding="utf-8"?>
<a:theme xmlns:a="http://schemas.openxmlformats.org/drawingml/2006/main" name="InfoCo PPT模板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演示文稿1" id="{F96998C9-D3D4-074E-89A7-692BD15AF1A0}" vid="{5F379A9C-F887-0E43-8519-9C6CB54CE4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InfoCo PPT模板</Template>
  <TotalTime>683</TotalTime>
  <Words>3097</Words>
  <Application>Microsoft Office PowerPoint</Application>
  <PresentationFormat>宽屏</PresentationFormat>
  <Paragraphs>182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5" baseType="lpstr">
      <vt:lpstr>Microsoft YaHei UI</vt:lpstr>
      <vt:lpstr>Arial</vt:lpstr>
      <vt:lpstr>Consolas</vt:lpstr>
      <vt:lpstr>Times New Roman</vt:lpstr>
      <vt:lpstr>InfoCo PPT模板</vt:lpstr>
      <vt:lpstr>Infoco*IGC 联合社课 游戏开发先导课</vt:lpstr>
      <vt:lpstr>迅速回顾和今日内容速览：</vt:lpstr>
      <vt:lpstr>hud.tscn图纸：</vt:lpstr>
      <vt:lpstr>一步一步来：背景和标题</vt:lpstr>
      <vt:lpstr>按照刚刚的流程制作计分Label</vt:lpstr>
      <vt:lpstr>接下来调配按钮</vt:lpstr>
      <vt:lpstr>整体效果参考</vt:lpstr>
      <vt:lpstr>开始为HUD添加脚本</vt:lpstr>
      <vt:lpstr>Hud.gd的初始准备：</vt:lpstr>
      <vt:lpstr>详细的Signal介绍：</vt:lpstr>
      <vt:lpstr>为按钮配置信号：</vt:lpstr>
      <vt:lpstr>初始准备和score刷新</vt:lpstr>
      <vt:lpstr>回到main.gd，添加运行部分：</vt:lpstr>
      <vt:lpstr>音效/音乐播放器</vt:lpstr>
      <vt:lpstr>总装：_ready（）</vt:lpstr>
      <vt:lpstr>总装：实例化</vt:lpstr>
      <vt:lpstr>总装：音效补全</vt:lpstr>
      <vt:lpstr>达成成就：结束了？</vt:lpstr>
      <vt:lpstr>接下来准备导出游戏：</vt:lpstr>
      <vt:lpstr>添加预设：</vt:lpstr>
      <vt:lpstr>达成成就：结束了</vt:lpstr>
      <vt:lpstr>结课回顾：</vt:lpstr>
      <vt:lpstr>后续学习方向：</vt:lpstr>
      <vt:lpstr>AI管栈简述</vt:lpstr>
      <vt:lpstr>AI管栈</vt:lpstr>
      <vt:lpstr>AI开发经历：</vt:lpstr>
      <vt:lpstr>看法</vt:lpstr>
      <vt:lpstr>看法</vt:lpstr>
      <vt:lpstr>结语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mingqi he</dc:creator>
  <cp:lastModifiedBy>mingqi he</cp:lastModifiedBy>
  <cp:revision>11</cp:revision>
  <dcterms:created xsi:type="dcterms:W3CDTF">2026-09-14T08:37:13Z</dcterms:created>
  <dcterms:modified xsi:type="dcterms:W3CDTF">2026-09-19T08:29:15Z</dcterms:modified>
</cp:coreProperties>
</file>