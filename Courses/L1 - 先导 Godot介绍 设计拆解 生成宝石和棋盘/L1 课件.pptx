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2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84" r:id="rId23"/>
    <p:sldId id="283" r:id="rId24"/>
    <p:sldId id="276" r:id="rId25"/>
    <p:sldId id="285" r:id="rId26"/>
    <p:sldId id="286" r:id="rId27"/>
    <p:sldId id="277" r:id="rId28"/>
    <p:sldId id="278" r:id="rId29"/>
    <p:sldId id="279" r:id="rId30"/>
    <p:sldId id="280" r:id="rId31"/>
    <p:sldId id="281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D926CF-5B71-444B-9FE5-08EDB33A330E}" type="doc">
      <dgm:prSet loTypeId="urn:microsoft.com/office/officeart/2009/layout/CircleArrowProcess" loCatId="process" qsTypeId="urn:microsoft.com/office/officeart/2005/8/quickstyle/simple1#2" qsCatId="simple" csTypeId="urn:microsoft.com/office/officeart/2005/8/colors/colorful3#2" csCatId="colorful" phldr="1"/>
      <dgm:spPr/>
      <dgm:t>
        <a:bodyPr/>
        <a:lstStyle/>
        <a:p>
          <a:endParaRPr lang="zh-CN" altLang="en-US"/>
        </a:p>
      </dgm:t>
    </dgm:pt>
    <dgm:pt modelId="{20AE018A-62B8-4ED9-9C59-129BD40346F8}">
      <dgm:prSet phldrT="[文本]"/>
      <dgm:spPr/>
      <dgm:t>
        <a:bodyPr/>
        <a:lstStyle/>
        <a:p>
          <a:r>
            <a:rPr lang="zh-CN" altLang="en-US" dirty="0"/>
            <a:t>换</a:t>
          </a:r>
        </a:p>
      </dgm:t>
    </dgm:pt>
    <dgm:pt modelId="{B373E07D-9D05-4CF7-A525-4795F19CCF51}" type="parTrans" cxnId="{4B37EA0B-FFB3-4E01-AC69-DCE176B3EAD2}">
      <dgm:prSet/>
      <dgm:spPr/>
      <dgm:t>
        <a:bodyPr/>
        <a:lstStyle/>
        <a:p>
          <a:endParaRPr lang="zh-CN" altLang="en-US"/>
        </a:p>
      </dgm:t>
    </dgm:pt>
    <dgm:pt modelId="{A67A57EC-CFFF-41AE-9133-B2E0D1FDE363}" type="sibTrans" cxnId="{4B37EA0B-FFB3-4E01-AC69-DCE176B3EAD2}">
      <dgm:prSet/>
      <dgm:spPr/>
      <dgm:t>
        <a:bodyPr/>
        <a:lstStyle/>
        <a:p>
          <a:endParaRPr lang="zh-CN" altLang="en-US"/>
        </a:p>
      </dgm:t>
    </dgm:pt>
    <dgm:pt modelId="{344799E7-3DB0-4B15-B66A-DC83CFE43179}">
      <dgm:prSet phldrT="[文本]"/>
      <dgm:spPr/>
      <dgm:t>
        <a:bodyPr/>
        <a:lstStyle/>
        <a:p>
          <a:r>
            <a:rPr lang="zh-CN" altLang="en-US" dirty="0"/>
            <a:t>消</a:t>
          </a:r>
        </a:p>
      </dgm:t>
    </dgm:pt>
    <dgm:pt modelId="{245D4771-9D56-4BBE-A667-D2999EAF3C8E}" type="parTrans" cxnId="{EF541572-B0D9-4AC0-B02A-4D8909A39ECE}">
      <dgm:prSet/>
      <dgm:spPr/>
      <dgm:t>
        <a:bodyPr/>
        <a:lstStyle/>
        <a:p>
          <a:endParaRPr lang="zh-CN" altLang="en-US"/>
        </a:p>
      </dgm:t>
    </dgm:pt>
    <dgm:pt modelId="{D07FCC14-1E5E-41FF-A766-CE184F9A3904}" type="sibTrans" cxnId="{EF541572-B0D9-4AC0-B02A-4D8909A39ECE}">
      <dgm:prSet/>
      <dgm:spPr/>
      <dgm:t>
        <a:bodyPr/>
        <a:lstStyle/>
        <a:p>
          <a:endParaRPr lang="zh-CN" altLang="en-US"/>
        </a:p>
      </dgm:t>
    </dgm:pt>
    <dgm:pt modelId="{4D128938-0559-483C-B0D7-F17E6E50A888}">
      <dgm:prSet phldrT="[文本]"/>
      <dgm:spPr/>
      <dgm:t>
        <a:bodyPr/>
        <a:lstStyle/>
        <a:p>
          <a:r>
            <a:rPr lang="zh-CN" altLang="en-US" dirty="0"/>
            <a:t>掉</a:t>
          </a:r>
        </a:p>
      </dgm:t>
    </dgm:pt>
    <dgm:pt modelId="{82594BFB-734B-4424-8D67-B681F6B2EBD4}" type="parTrans" cxnId="{5D72B60D-0786-4853-81BB-663ADC7D3413}">
      <dgm:prSet/>
      <dgm:spPr/>
      <dgm:t>
        <a:bodyPr/>
        <a:lstStyle/>
        <a:p>
          <a:endParaRPr lang="zh-CN" altLang="en-US"/>
        </a:p>
      </dgm:t>
    </dgm:pt>
    <dgm:pt modelId="{53AC93BB-6C4B-40E4-840E-31CDA4AC3D6E}" type="sibTrans" cxnId="{5D72B60D-0786-4853-81BB-663ADC7D3413}">
      <dgm:prSet/>
      <dgm:spPr/>
      <dgm:t>
        <a:bodyPr/>
        <a:lstStyle/>
        <a:p>
          <a:endParaRPr lang="zh-CN" altLang="en-US"/>
        </a:p>
      </dgm:t>
    </dgm:pt>
    <dgm:pt modelId="{3AFE2C4D-B03E-4B5A-820C-AC4DDD212EAB}" type="pres">
      <dgm:prSet presAssocID="{AED926CF-5B71-444B-9FE5-08EDB33A330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D8A2E165-7330-4A2E-83D8-177CD4227D69}" type="pres">
      <dgm:prSet presAssocID="{20AE018A-62B8-4ED9-9C59-129BD40346F8}" presName="Accent1" presStyleCnt="0"/>
      <dgm:spPr/>
    </dgm:pt>
    <dgm:pt modelId="{63635CE1-0E39-4AE7-8388-EC2B4F01F716}" type="pres">
      <dgm:prSet presAssocID="{20AE018A-62B8-4ED9-9C59-129BD40346F8}" presName="Accent" presStyleLbl="node1" presStyleIdx="0" presStyleCnt="3"/>
      <dgm:spPr/>
    </dgm:pt>
    <dgm:pt modelId="{DFD10BDE-DA9E-425F-967F-9BC95E00F3E3}" type="pres">
      <dgm:prSet presAssocID="{20AE018A-62B8-4ED9-9C59-129BD40346F8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D8280A77-C146-4952-AB30-D7DB0EA1B943}" type="pres">
      <dgm:prSet presAssocID="{344799E7-3DB0-4B15-B66A-DC83CFE43179}" presName="Accent2" presStyleCnt="0"/>
      <dgm:spPr/>
    </dgm:pt>
    <dgm:pt modelId="{1922C507-4D78-48E9-9C43-AB6927F68B60}" type="pres">
      <dgm:prSet presAssocID="{344799E7-3DB0-4B15-B66A-DC83CFE43179}" presName="Accent" presStyleLbl="node1" presStyleIdx="1" presStyleCnt="3"/>
      <dgm:spPr/>
    </dgm:pt>
    <dgm:pt modelId="{31D3744C-EAF8-48D4-9728-225ABD015D3F}" type="pres">
      <dgm:prSet presAssocID="{344799E7-3DB0-4B15-B66A-DC83CFE43179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319833E1-3B8C-49B6-A949-A6D8A7B7BF55}" type="pres">
      <dgm:prSet presAssocID="{4D128938-0559-483C-B0D7-F17E6E50A888}" presName="Accent3" presStyleCnt="0"/>
      <dgm:spPr/>
    </dgm:pt>
    <dgm:pt modelId="{D4EC447E-7514-40FA-80E1-74E3B346AC9A}" type="pres">
      <dgm:prSet presAssocID="{4D128938-0559-483C-B0D7-F17E6E50A888}" presName="Accent" presStyleLbl="node1" presStyleIdx="2" presStyleCnt="3"/>
      <dgm:spPr/>
    </dgm:pt>
    <dgm:pt modelId="{4E5271FD-5BAF-46F0-9A3D-D2031DBBB907}" type="pres">
      <dgm:prSet presAssocID="{4D128938-0559-483C-B0D7-F17E6E50A888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619D2A09-B67A-432F-BD92-8650E0995F75}" type="presOf" srcId="{20AE018A-62B8-4ED9-9C59-129BD40346F8}" destId="{DFD10BDE-DA9E-425F-967F-9BC95E00F3E3}" srcOrd="0" destOrd="0" presId="urn:microsoft.com/office/officeart/2009/layout/CircleArrowProcess"/>
    <dgm:cxn modelId="{4B37EA0B-FFB3-4E01-AC69-DCE176B3EAD2}" srcId="{AED926CF-5B71-444B-9FE5-08EDB33A330E}" destId="{20AE018A-62B8-4ED9-9C59-129BD40346F8}" srcOrd="0" destOrd="0" parTransId="{B373E07D-9D05-4CF7-A525-4795F19CCF51}" sibTransId="{A67A57EC-CFFF-41AE-9133-B2E0D1FDE363}"/>
    <dgm:cxn modelId="{5D72B60D-0786-4853-81BB-663ADC7D3413}" srcId="{AED926CF-5B71-444B-9FE5-08EDB33A330E}" destId="{4D128938-0559-483C-B0D7-F17E6E50A888}" srcOrd="2" destOrd="0" parTransId="{82594BFB-734B-4424-8D67-B681F6B2EBD4}" sibTransId="{53AC93BB-6C4B-40E4-840E-31CDA4AC3D6E}"/>
    <dgm:cxn modelId="{A6784218-BF2A-45E5-AED3-C985495879E5}" type="presOf" srcId="{4D128938-0559-483C-B0D7-F17E6E50A888}" destId="{4E5271FD-5BAF-46F0-9A3D-D2031DBBB907}" srcOrd="0" destOrd="0" presId="urn:microsoft.com/office/officeart/2009/layout/CircleArrowProcess"/>
    <dgm:cxn modelId="{FDC7E564-B38D-4589-8450-ECEF31751B52}" type="presOf" srcId="{AED926CF-5B71-444B-9FE5-08EDB33A330E}" destId="{3AFE2C4D-B03E-4B5A-820C-AC4DDD212EAB}" srcOrd="0" destOrd="0" presId="urn:microsoft.com/office/officeart/2009/layout/CircleArrowProcess"/>
    <dgm:cxn modelId="{EF541572-B0D9-4AC0-B02A-4D8909A39ECE}" srcId="{AED926CF-5B71-444B-9FE5-08EDB33A330E}" destId="{344799E7-3DB0-4B15-B66A-DC83CFE43179}" srcOrd="1" destOrd="0" parTransId="{245D4771-9D56-4BBE-A667-D2999EAF3C8E}" sibTransId="{D07FCC14-1E5E-41FF-A766-CE184F9A3904}"/>
    <dgm:cxn modelId="{0591E7F7-C754-4325-A00C-557F3370B483}" type="presOf" srcId="{344799E7-3DB0-4B15-B66A-DC83CFE43179}" destId="{31D3744C-EAF8-48D4-9728-225ABD015D3F}" srcOrd="0" destOrd="0" presId="urn:microsoft.com/office/officeart/2009/layout/CircleArrowProcess"/>
    <dgm:cxn modelId="{452F4552-B234-44C7-9ED7-83DCE99F3E8E}" type="presParOf" srcId="{3AFE2C4D-B03E-4B5A-820C-AC4DDD212EAB}" destId="{D8A2E165-7330-4A2E-83D8-177CD4227D69}" srcOrd="0" destOrd="0" presId="urn:microsoft.com/office/officeart/2009/layout/CircleArrowProcess"/>
    <dgm:cxn modelId="{4988A1B8-CCFB-427B-82CF-69F4B0E42B24}" type="presParOf" srcId="{D8A2E165-7330-4A2E-83D8-177CD4227D69}" destId="{63635CE1-0E39-4AE7-8388-EC2B4F01F716}" srcOrd="0" destOrd="0" presId="urn:microsoft.com/office/officeart/2009/layout/CircleArrowProcess"/>
    <dgm:cxn modelId="{71C2E9D8-878D-4ABB-AB68-3DB24A06ABD6}" type="presParOf" srcId="{3AFE2C4D-B03E-4B5A-820C-AC4DDD212EAB}" destId="{DFD10BDE-DA9E-425F-967F-9BC95E00F3E3}" srcOrd="1" destOrd="0" presId="urn:microsoft.com/office/officeart/2009/layout/CircleArrowProcess"/>
    <dgm:cxn modelId="{CAD3004C-76F5-4ED5-90B0-CF7BD347E567}" type="presParOf" srcId="{3AFE2C4D-B03E-4B5A-820C-AC4DDD212EAB}" destId="{D8280A77-C146-4952-AB30-D7DB0EA1B943}" srcOrd="2" destOrd="0" presId="urn:microsoft.com/office/officeart/2009/layout/CircleArrowProcess"/>
    <dgm:cxn modelId="{A217C7B4-679C-4CE8-BC88-A7E5AD2CA2AB}" type="presParOf" srcId="{D8280A77-C146-4952-AB30-D7DB0EA1B943}" destId="{1922C507-4D78-48E9-9C43-AB6927F68B60}" srcOrd="0" destOrd="0" presId="urn:microsoft.com/office/officeart/2009/layout/CircleArrowProcess"/>
    <dgm:cxn modelId="{0FEAA68D-A9E1-4572-A18E-7E8DAAA09BC6}" type="presParOf" srcId="{3AFE2C4D-B03E-4B5A-820C-AC4DDD212EAB}" destId="{31D3744C-EAF8-48D4-9728-225ABD015D3F}" srcOrd="3" destOrd="0" presId="urn:microsoft.com/office/officeart/2009/layout/CircleArrowProcess"/>
    <dgm:cxn modelId="{8CD2F074-F33B-453E-B3E5-8D1875984AC4}" type="presParOf" srcId="{3AFE2C4D-B03E-4B5A-820C-AC4DDD212EAB}" destId="{319833E1-3B8C-49B6-A949-A6D8A7B7BF55}" srcOrd="4" destOrd="0" presId="urn:microsoft.com/office/officeart/2009/layout/CircleArrowProcess"/>
    <dgm:cxn modelId="{8A12957C-B361-40EA-835C-D9CD9F8C4464}" type="presParOf" srcId="{319833E1-3B8C-49B6-A949-A6D8A7B7BF55}" destId="{D4EC447E-7514-40FA-80E1-74E3B346AC9A}" srcOrd="0" destOrd="0" presId="urn:microsoft.com/office/officeart/2009/layout/CircleArrowProcess"/>
    <dgm:cxn modelId="{00F33258-DD42-452E-9C35-779BFB5DE5A8}" type="presParOf" srcId="{3AFE2C4D-B03E-4B5A-820C-AC4DDD212EAB}" destId="{4E5271FD-5BAF-46F0-9A3D-D2031DBBB907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35CE1-0E39-4AE7-8388-EC2B4F01F716}">
      <dsp:nvSpPr>
        <dsp:cNvPr id="0" name=""/>
        <dsp:cNvSpPr/>
      </dsp:nvSpPr>
      <dsp:spPr>
        <a:xfrm>
          <a:off x="1245565" y="0"/>
          <a:ext cx="2094415" cy="209473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10BDE-DA9E-425F-967F-9BC95E00F3E3}">
      <dsp:nvSpPr>
        <dsp:cNvPr id="0" name=""/>
        <dsp:cNvSpPr/>
      </dsp:nvSpPr>
      <dsp:spPr>
        <a:xfrm>
          <a:off x="1708499" y="756262"/>
          <a:ext cx="1163826" cy="58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换</a:t>
          </a:r>
        </a:p>
      </dsp:txBody>
      <dsp:txXfrm>
        <a:off x="1708499" y="756262"/>
        <a:ext cx="1163826" cy="581773"/>
      </dsp:txXfrm>
    </dsp:sp>
    <dsp:sp modelId="{1922C507-4D78-48E9-9C43-AB6927F68B60}">
      <dsp:nvSpPr>
        <dsp:cNvPr id="0" name=""/>
        <dsp:cNvSpPr/>
      </dsp:nvSpPr>
      <dsp:spPr>
        <a:xfrm>
          <a:off x="663848" y="1203580"/>
          <a:ext cx="2094415" cy="209473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3744C-EAF8-48D4-9728-225ABD015D3F}">
      <dsp:nvSpPr>
        <dsp:cNvPr id="0" name=""/>
        <dsp:cNvSpPr/>
      </dsp:nvSpPr>
      <dsp:spPr>
        <a:xfrm>
          <a:off x="1129143" y="1966804"/>
          <a:ext cx="1163826" cy="58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消</a:t>
          </a:r>
        </a:p>
      </dsp:txBody>
      <dsp:txXfrm>
        <a:off x="1129143" y="1966804"/>
        <a:ext cx="1163826" cy="581773"/>
      </dsp:txXfrm>
    </dsp:sp>
    <dsp:sp modelId="{D4EC447E-7514-40FA-80E1-74E3B346AC9A}">
      <dsp:nvSpPr>
        <dsp:cNvPr id="0" name=""/>
        <dsp:cNvSpPr/>
      </dsp:nvSpPr>
      <dsp:spPr>
        <a:xfrm>
          <a:off x="1394632" y="2551189"/>
          <a:ext cx="1799427" cy="180014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271FD-5BAF-46F0-9A3D-D2031DBBB907}">
      <dsp:nvSpPr>
        <dsp:cNvPr id="0" name=""/>
        <dsp:cNvSpPr/>
      </dsp:nvSpPr>
      <dsp:spPr>
        <a:xfrm>
          <a:off x="1711252" y="3179087"/>
          <a:ext cx="1163826" cy="58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掉</a:t>
          </a:r>
        </a:p>
      </dsp:txBody>
      <dsp:txXfrm>
        <a:off x="1711252" y="3179087"/>
        <a:ext cx="1163826" cy="581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A688E-9FDA-59B3-B74A-82C18D466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92EA3-386B-E0C5-5DBC-FA321455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3715A-5386-633E-2D89-F855B5AD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3E40A-6705-19F9-FC0B-669F00D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180C3-B3A7-1C5D-E2EC-77BA1052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27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D74E9-75C8-1853-297D-B052857E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DC167-22C8-5FDB-899B-A9F6816C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0068D-7C93-190F-BF7C-79003108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C4ED5-4D0C-89E5-B40F-DCBEF6E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7F81-1245-ED87-7BCB-25653B3D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35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C953D-37ED-84FC-6CF7-92EFEF32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00041-5F5E-5944-42DA-F34057F9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B38FD-D12D-953A-A84E-B6B93AD8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7523-FA4A-F79A-C38D-D0B7467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CA338-BA04-ED7A-7977-37C97EB2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2E200-2162-4C19-A867-EC45EDC4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A5808-052F-B91E-6E63-5F681A85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DC0E4-5E42-5497-36A2-7899BEDB2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6AE4E-46CC-3153-BF43-0305BEE4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B5BCB-BCB6-DBCA-1AE5-1EB6D07B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D82F6A-9958-EF10-DF2A-C8504A67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7553A-7D0D-931C-7C0B-3BB6864D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5166E-B41C-FAF8-058D-845B845C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9CC38-1572-120B-CE2B-2B5F017F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13AED5-FB50-F116-0425-9C68DF178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C13686-6334-57AE-5B6C-CB5F0FA72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44E92-5DAF-5B3D-332B-5D7DD72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0358D7-E2DF-35DF-8893-CD24CC5A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6AE83A-3DCE-7359-820D-CF18CA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24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F992-1CEC-CF70-1BAA-D3A0DB14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A80A22-7AD7-E08D-9451-46B528BD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67016-B0B1-8A6A-A527-AAEF322F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112C4E-A82C-A87D-7E57-A7DBC6DD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23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036A6-0C69-45A4-5426-592D16E0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47C57F-E80D-3E00-A28E-70974A38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B53FEF-BFDC-6CC8-53A0-19B04AE1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1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19D22-DE7A-8AD2-3FF5-D9076133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01796-0E77-AB7E-59E8-F44E34AD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114AF-55BD-94BF-65B8-B424CE8D4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568C4-EDC0-0F40-A85E-22483CA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735A5-474E-B17B-18BF-4F7D567C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2E2E4-1951-AB88-5EB3-0618F59B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2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C782D-0115-C8E6-9AC6-673F733B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3FBED3-3D63-EA82-CA3E-43F31DC51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E28866-EB01-BB69-8CA9-C0648CD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9D480-729A-8E13-4B39-428A02B0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DE747-0656-39B3-874E-4B89D71D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5AA65-3D6E-1CBE-81E3-6786FFEA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5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AF086-E626-9070-4E08-5464676A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9641E-3321-5349-0F03-EB617251F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CD200-2817-9AA1-1804-2679A174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DD6C5-FB80-EB4A-DC3E-2457421B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BC19D-8B5D-71B2-1013-7C22AE92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1556DB-D2D9-C470-F858-8D8BE4B7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7423F4-93C4-A2B6-28F6-5B85861F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47146-0607-FF2D-440E-741FEAC0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77185-1E47-18D8-938C-81504B79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5DA51-2D5B-7DDF-DD10-B5A3D4F8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3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AF52B-5465-7A48-95CC-3B1E27A4BFCA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1C3DBC-66A6-3747-B537-D9767DBD74A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6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E0C56D-70E1-AD1D-8EC4-F8056CAF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E0841-C32B-C633-3F04-A2792EC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69D1A-D870-46AD-B610-1CA6C87F0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AED07-58B0-490A-8690-F56B04D5E0C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B9112-AF41-4F87-7AEE-0BD50D935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101A8-BCDB-2232-D51A-02242E3C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83AF52B-5465-7A48-95CC-3B1E27A4BFCA}" type="datetimeFigureOut">
              <a:rPr kumimoji="1" lang="zh-CN" altLang="en-US" smtClean="0"/>
              <a:pPr/>
              <a:t>2026/10/2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41C3DBC-66A6-3747-B537-D9767DBD74A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designhub.top/topic/71/%E4%BB%8Eunity%E8%BF%81%E7%A7%BB%E5%88%B0godot%E5%86%8D%E5%88%B0%E5%85%A5%E5%9D%9F" TargetMode="External"/><Relationship Id="rId3" Type="http://schemas.openxmlformats.org/officeDocument/2006/relationships/hyperlink" Target="https://github.com/pppig1357/GodotMatch3Basic" TargetMode="External"/><Relationship Id="rId7" Type="http://schemas.openxmlformats.org/officeDocument/2006/relationships/hyperlink" Target="https://www.godotvillage.com/#/tutorial" TargetMode="External"/><Relationship Id="rId2" Type="http://schemas.openxmlformats.org/officeDocument/2006/relationships/hyperlink" Target="https://godotengine.org/download/windows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godotengine.org/zh-cn/4.x/" TargetMode="External"/><Relationship Id="rId5" Type="http://schemas.openxmlformats.org/officeDocument/2006/relationships/hyperlink" Target="https://gdquest.github.io/learn-gdscript/" TargetMode="External"/><Relationship Id="rId4" Type="http://schemas.openxmlformats.org/officeDocument/2006/relationships/hyperlink" Target="https://github.com/pppig1357/GodotMatch3Fu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542BC-B697-92F4-A462-FC1ECEA2F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71" y="1545167"/>
            <a:ext cx="7728155" cy="1934129"/>
          </a:xfrm>
        </p:spPr>
        <p:txBody>
          <a:bodyPr>
            <a:normAutofit/>
          </a:bodyPr>
          <a:lstStyle/>
          <a:p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Infoco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*IGC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联合社课</a:t>
            </a:r>
            <a:b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游戏开发先导课</a:t>
            </a:r>
            <a:endParaRPr kumimoji="1"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D0EC7-E1E8-71DD-ECDB-7AFCE071C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2671" y="3657071"/>
            <a:ext cx="6897329" cy="1655762"/>
          </a:xfrm>
        </p:spPr>
        <p:txBody>
          <a:bodyPr>
            <a:normAutofit/>
          </a:bodyPr>
          <a:lstStyle/>
          <a:p>
            <a:r>
              <a:rPr kumimoji="1" lang="en-US" altLang="zh-CN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	——L1 </a:t>
            </a:r>
            <a:r>
              <a:rPr kumimoji="1"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引擎介绍，设计拆解，棋盘生成</a:t>
            </a:r>
            <a:r>
              <a:rPr kumimoji="1" lang="en-US" altLang="zh-CN" sz="2800" i="1" dirty="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</a:p>
          <a:p>
            <a:r>
              <a:rPr kumimoji="1" lang="en-US" altLang="zh-CN" sz="2800" i="1" dirty="0">
                <a:latin typeface="华文行楷" panose="02010800040101010101" pitchFamily="2" charset="-122"/>
                <a:ea typeface="华文行楷" panose="02010800040101010101" pitchFamily="2" charset="-122"/>
              </a:rPr>
              <a:t>				By </a:t>
            </a:r>
            <a:r>
              <a:rPr kumimoji="1" lang="en-US" altLang="zh-CN" sz="2800" i="1" dirty="0" err="1">
                <a:latin typeface="华文行楷" panose="02010800040101010101" pitchFamily="2" charset="-122"/>
                <a:ea typeface="华文行楷" panose="02010800040101010101" pitchFamily="2" charset="-122"/>
              </a:rPr>
              <a:t>pppig</a:t>
            </a:r>
            <a:endParaRPr kumimoji="1" lang="zh-CN" alt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92545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chemeClr val="tx2">
                <a:lumMod val="10000"/>
                <a:lumOff val="90000"/>
              </a:schemeClr>
            </a:gs>
            <a:gs pos="67000">
              <a:schemeClr val="accent1">
                <a:lumMod val="45000"/>
                <a:lumOff val="55000"/>
              </a:schemeClr>
            </a:gs>
            <a:gs pos="97000">
              <a:srgbClr val="002060">
                <a:alpha val="81000"/>
                <a:lumMod val="80000"/>
                <a:lumOff val="20000"/>
              </a:srgbClr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C128B-6316-7A8C-EA6E-6AD13CD6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612490"/>
            <a:ext cx="10740884" cy="4994787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首先预警</a:t>
            </a:r>
            <a:r>
              <a:rPr lang="zh-CN" altLang="en-US" sz="2400" dirty="0"/>
              <a:t>：游戏开发是一个需要投入</a:t>
            </a:r>
            <a:r>
              <a:rPr lang="zh-CN" altLang="en-US" sz="2400" dirty="0">
                <a:solidFill>
                  <a:srgbClr val="C00000"/>
                </a:solidFill>
              </a:rPr>
              <a:t>时间，精力，金钱，人脉</a:t>
            </a:r>
            <a:r>
              <a:rPr lang="zh-CN" altLang="en-US" sz="2400" dirty="0"/>
              <a:t>等许多你能想到甚至想不到的东西</a:t>
            </a:r>
            <a:endParaRPr lang="en-US" altLang="zh-CN" sz="2400" dirty="0"/>
          </a:p>
          <a:p>
            <a:r>
              <a:rPr lang="en-US" altLang="zh-CN" sz="2400" dirty="0"/>
              <a:t>AI Agent</a:t>
            </a:r>
            <a:r>
              <a:rPr lang="zh-CN" altLang="en-US" sz="2400" dirty="0"/>
              <a:t>的出现，改变的是</a:t>
            </a:r>
            <a:r>
              <a:rPr lang="zh-CN" altLang="en-US" sz="2400" dirty="0">
                <a:solidFill>
                  <a:srgbClr val="C00000"/>
                </a:solidFill>
              </a:rPr>
              <a:t>降低游戏基础制作的门槛</a:t>
            </a:r>
            <a:r>
              <a:rPr lang="zh-CN" altLang="en-US" sz="2400" dirty="0"/>
              <a:t>，现在大家有更少的时间验证游戏原型，但不代表你可以用更少的时间打磨出商业成品</a:t>
            </a:r>
            <a:endParaRPr lang="en-US" altLang="zh-CN" sz="2400" dirty="0"/>
          </a:p>
          <a:p>
            <a:r>
              <a:rPr lang="zh-CN" altLang="en-US" sz="2400" dirty="0"/>
              <a:t>请</a:t>
            </a:r>
            <a:r>
              <a:rPr lang="zh-CN" altLang="en-US" sz="2400" dirty="0">
                <a:solidFill>
                  <a:srgbClr val="C00000"/>
                </a:solidFill>
              </a:rPr>
              <a:t>老老实实学基础知识</a:t>
            </a:r>
            <a:r>
              <a:rPr lang="zh-CN" altLang="en-US" sz="2400" dirty="0"/>
              <a:t>（引擎操作，代码内容，游戏设计原理等）这也是这系列课程教的</a:t>
            </a:r>
            <a:r>
              <a:rPr lang="en-US" altLang="zh-CN" sz="2400" dirty="0"/>
              <a:t>~</a:t>
            </a:r>
          </a:p>
          <a:p>
            <a:r>
              <a:rPr lang="zh-CN" altLang="zh-CN" sz="2400" dirty="0"/>
              <a:t>但这条路最迷人的地方，是你能</a:t>
            </a:r>
            <a:r>
              <a:rPr lang="zh-CN" altLang="zh-CN" sz="2400" dirty="0">
                <a:solidFill>
                  <a:srgbClr val="C00000"/>
                </a:solidFill>
              </a:rPr>
              <a:t>亲手做出这个世界上还不存在的东西</a:t>
            </a:r>
            <a:endParaRPr lang="en-US" altLang="zh-CN" sz="2400" dirty="0">
              <a:solidFill>
                <a:srgbClr val="C00000"/>
              </a:solidFill>
            </a:endParaRPr>
          </a:p>
          <a:p>
            <a:endParaRPr lang="en-US" altLang="zh-CN" sz="2400" dirty="0"/>
          </a:p>
          <a:p>
            <a:pPr marL="0" indent="0" algn="ctr">
              <a:buNone/>
            </a:pPr>
            <a:r>
              <a:rPr lang="zh-CN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如果能接受这些，我们就开始吧</a:t>
            </a:r>
            <a:r>
              <a:rPr lang="en-US" altLang="zh-CN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</a:p>
          <a:p>
            <a:pPr marL="0" indent="0" algn="ctr">
              <a:buNone/>
            </a:pPr>
            <a:r>
              <a:rPr lang="zh-CN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想跑趁现在，不然就没机会了（笑）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073EA5B-9E63-5706-3036-414F7ED1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欢迎走上这条无底的不归路！（模拟浇冷水的背景图）</a:t>
            </a:r>
          </a:p>
        </p:txBody>
      </p:sp>
    </p:spTree>
    <p:extLst>
      <p:ext uri="{BB962C8B-B14F-4D97-AF65-F5344CB8AC3E}">
        <p14:creationId xmlns:p14="http://schemas.microsoft.com/office/powerpoint/2010/main" val="149247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504BD-E96F-6CE7-9C8C-0291E8FED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第 1 课 </a:t>
            </a:r>
            <a:r>
              <a:rPr lang="zh-CN" altLang="en-US" sz="2400" dirty="0"/>
              <a:t>：</a:t>
            </a:r>
            <a:r>
              <a:rPr lang="zh-CN" altLang="zh-CN" sz="2400" dirty="0"/>
              <a:t>看到 8×8 彩色宝石棋盘        </a:t>
            </a:r>
            <a:endParaRPr lang="en-US" altLang="zh-CN" sz="2400" dirty="0"/>
          </a:p>
          <a:p>
            <a:pPr marL="0" indent="0">
              <a:buNone/>
            </a:pPr>
            <a:endParaRPr lang="zh-CN" altLang="zh-CN" sz="2400" dirty="0"/>
          </a:p>
          <a:p>
            <a:r>
              <a:rPr lang="zh-CN" altLang="zh-CN" sz="2400" dirty="0"/>
              <a:t>第 2 课 </a:t>
            </a:r>
            <a:r>
              <a:rPr lang="zh-CN" altLang="en-US" sz="2400" dirty="0"/>
              <a:t>：</a:t>
            </a:r>
            <a:r>
              <a:rPr lang="zh-CN" altLang="zh-CN" sz="2400" dirty="0"/>
              <a:t>点宝石能选中、能交换、能消除   </a:t>
            </a:r>
            <a:endParaRPr lang="en-US" altLang="zh-CN" sz="2400" dirty="0"/>
          </a:p>
          <a:p>
            <a:pPr marL="0" indent="0">
              <a:buNone/>
            </a:pPr>
            <a:endParaRPr lang="zh-CN" altLang="zh-CN" sz="2400" dirty="0"/>
          </a:p>
          <a:p>
            <a:r>
              <a:rPr lang="zh-CN" altLang="zh-CN" sz="2400" dirty="0"/>
              <a:t>第 3 课 </a:t>
            </a:r>
            <a:r>
              <a:rPr lang="zh-CN" altLang="en-US" sz="2400" dirty="0"/>
              <a:t>：</a:t>
            </a:r>
            <a:r>
              <a:rPr lang="zh-CN" altLang="zh-CN" sz="2400" dirty="0"/>
              <a:t>消除→下落→连锁自动转 + 分数  </a:t>
            </a:r>
            <a:endParaRPr lang="en-US" altLang="zh-CN" sz="2400" dirty="0"/>
          </a:p>
          <a:p>
            <a:pPr marL="0" indent="0">
              <a:buNone/>
            </a:pPr>
            <a:endParaRPr lang="zh-CN" altLang="zh-CN" sz="2400" dirty="0"/>
          </a:p>
          <a:p>
            <a:r>
              <a:rPr lang="zh-CN" altLang="zh-CN" sz="2400" dirty="0"/>
              <a:t>第 4 课 </a:t>
            </a:r>
            <a:r>
              <a:rPr lang="zh-CN" altLang="en-US" sz="2400" dirty="0"/>
              <a:t>：</a:t>
            </a:r>
            <a:r>
              <a:rPr lang="zh-CN" altLang="zh-CN" sz="2400" dirty="0"/>
              <a:t>打包成 exe 发给朋友玩 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F9FD1A3-97DC-17E4-9802-84C363DC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课程计划：一份基础三消游戏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728E6D-A12E-9AA3-876A-AA4C5C2DF1C6}"/>
              </a:ext>
            </a:extLst>
          </p:cNvPr>
          <p:cNvSpPr txBox="1"/>
          <p:nvPr/>
        </p:nvSpPr>
        <p:spPr>
          <a:xfrm>
            <a:off x="7030065" y="3696929"/>
            <a:ext cx="47293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总目标：</a:t>
            </a:r>
            <a:b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一个完整游戏 + Godot 入门能力 +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游戏怎么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做”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的底层认知</a:t>
            </a:r>
          </a:p>
        </p:txBody>
      </p:sp>
    </p:spTree>
    <p:extLst>
      <p:ext uri="{BB962C8B-B14F-4D97-AF65-F5344CB8AC3E}">
        <p14:creationId xmlns:p14="http://schemas.microsoft.com/office/powerpoint/2010/main" val="415037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506D68-DA82-71E4-734C-944CEA9F6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好好动手去操作去写，跟上咱的操作步骤，跟上课件安排的节奏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别着急也别气馁，快的同学可以看课件</a:t>
            </a:r>
            <a:r>
              <a:rPr lang="en-US" altLang="zh-CN" dirty="0"/>
              <a:t>/</a:t>
            </a:r>
            <a:r>
              <a:rPr lang="zh-CN" altLang="en-US" dirty="0"/>
              <a:t>项目包尝试接下来的步骤，甚至研究完整版项目的那些进阶玩法</a:t>
            </a:r>
            <a:r>
              <a:rPr lang="en-US" altLang="zh-CN" dirty="0"/>
              <a:t>/</a:t>
            </a:r>
            <a:r>
              <a:rPr lang="zh-CN" altLang="en-US" dirty="0"/>
              <a:t>功能，慢的同学有问题记得提问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准备好你的 </a:t>
            </a:r>
            <a:r>
              <a:rPr lang="en-US" altLang="zh-CN" dirty="0"/>
              <a:t>Godot </a:t>
            </a:r>
            <a:r>
              <a:rPr lang="zh-CN" altLang="en-US" dirty="0"/>
              <a:t>和本次项目包，没装的同学现在抓紧</a:t>
            </a:r>
            <a:r>
              <a:rPr lang="en-US" altLang="zh-CN" dirty="0"/>
              <a:t>~</a:t>
            </a:r>
          </a:p>
          <a:p>
            <a:pPr marL="514350" indent="-514350">
              <a:buAutoNum type="arabicPeriod"/>
            </a:pPr>
            <a:r>
              <a:rPr lang="zh-CN" altLang="en-US" dirty="0"/>
              <a:t>降低心理预期（对此我们准备了单独的一节</a:t>
            </a:r>
            <a:r>
              <a:rPr lang="en-US" altLang="zh-CN" dirty="0"/>
              <a:t>PPT</a:t>
            </a:r>
            <a:r>
              <a:rPr lang="zh-CN" altLang="en-US" dirty="0"/>
              <a:t>，没错吧）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81DB053-0294-2E37-0399-8D84295C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需要你去做的：</a:t>
            </a:r>
          </a:p>
        </p:txBody>
      </p:sp>
    </p:spTree>
    <p:extLst>
      <p:ext uri="{BB962C8B-B14F-4D97-AF65-F5344CB8AC3E}">
        <p14:creationId xmlns:p14="http://schemas.microsoft.com/office/powerpoint/2010/main" val="80310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BDD225-4F98-9F24-D3F0-B406AD2D6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825625"/>
            <a:ext cx="11592232" cy="4351338"/>
          </a:xfrm>
        </p:spPr>
        <p:txBody>
          <a:bodyPr>
            <a:normAutofit lnSpcReduction="1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引擎和课件：</a:t>
            </a:r>
            <a:endParaRPr lang="en-US" altLang="zh-CN" dirty="0">
              <a:hlinkClick r:id="rId2"/>
            </a:endParaRPr>
          </a:p>
          <a:p>
            <a:r>
              <a:rPr lang="zh-CN" altLang="zh-CN" sz="2000" dirty="0">
                <a:hlinkClick r:id="rId2"/>
              </a:rPr>
              <a:t>Download for Windows – Godot Engine</a:t>
            </a:r>
            <a:r>
              <a:rPr lang="en-US" altLang="zh-CN" sz="2000" dirty="0"/>
              <a:t> </a:t>
            </a:r>
            <a:r>
              <a:rPr lang="zh-CN" altLang="en-US" sz="1800" dirty="0"/>
              <a:t>（官网链接）</a:t>
            </a:r>
            <a:endParaRPr lang="en-US" altLang="zh-CN" sz="1800" dirty="0"/>
          </a:p>
          <a:p>
            <a:r>
              <a:rPr lang="zh-CN" altLang="zh-CN" sz="2000" dirty="0">
                <a:hlinkClick r:id="rId3"/>
              </a:rPr>
              <a:t>pppig1357/GodotMatch3Basic: 项目源码，包括美术素材，gd脚本，以及为AI agent使用的prompt，供授课使用（什）</a:t>
            </a:r>
            <a:endParaRPr lang="en-US" altLang="zh-CN" sz="2000" dirty="0"/>
          </a:p>
          <a:p>
            <a:r>
              <a:rPr lang="zh-CN" altLang="zh-CN" sz="2000" dirty="0">
                <a:hlinkClick r:id="rId4"/>
              </a:rPr>
              <a:t>pppig1357/GodotMatch3Full: 完整版，包括步数，时间，无尽，关卡（占位符） 新增特殊宝石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>
              <a:hlinkClick r:id="rId5"/>
            </a:endParaRPr>
          </a:p>
          <a:p>
            <a:pPr marL="0" indent="0">
              <a:buNone/>
            </a:pPr>
            <a:r>
              <a:rPr lang="zh-CN" altLang="en-US" sz="2400" dirty="0"/>
              <a:t>后续学习：</a:t>
            </a:r>
            <a:endParaRPr lang="en-US" altLang="zh-CN" sz="2000" dirty="0">
              <a:hlinkClick r:id="rId5"/>
            </a:endParaRPr>
          </a:p>
          <a:p>
            <a:r>
              <a:rPr lang="zh-CN" altLang="zh-CN" sz="2000" dirty="0">
                <a:hlinkClick r:id="rId5"/>
              </a:rPr>
              <a:t>Learn to Code From Zero with Godot</a:t>
            </a:r>
            <a:r>
              <a:rPr lang="en-US" altLang="zh-CN" sz="2000" dirty="0"/>
              <a:t> </a:t>
            </a:r>
            <a:r>
              <a:rPr lang="zh-CN" altLang="en-US" sz="1600" dirty="0"/>
              <a:t>（</a:t>
            </a:r>
            <a:r>
              <a:rPr lang="en-US" altLang="zh-CN" sz="1600" dirty="0"/>
              <a:t>GD quest</a:t>
            </a:r>
            <a:r>
              <a:rPr lang="zh-CN" altLang="en-US" sz="1600" dirty="0"/>
              <a:t>提供的</a:t>
            </a:r>
            <a:r>
              <a:rPr lang="en-US" altLang="zh-CN" sz="1600" dirty="0"/>
              <a:t>GD</a:t>
            </a:r>
            <a:r>
              <a:rPr lang="zh-CN" altLang="en-US" sz="1600" dirty="0"/>
              <a:t>脚本入门，简单易懂）</a:t>
            </a:r>
            <a:endParaRPr lang="en-US" altLang="zh-CN" sz="1600" dirty="0"/>
          </a:p>
          <a:p>
            <a:r>
              <a:rPr lang="zh-CN" altLang="zh-CN" sz="2000" dirty="0">
                <a:hlinkClick r:id="rId6"/>
              </a:rPr>
              <a:t>Godot 文档 - master 分支 — Godot Engine (4.x) 简体中文文档</a:t>
            </a:r>
            <a:r>
              <a:rPr lang="en-US" altLang="zh-CN" sz="2000" dirty="0"/>
              <a:t> </a:t>
            </a:r>
            <a:r>
              <a:rPr lang="zh-CN" altLang="en-US" sz="1600" dirty="0"/>
              <a:t>（感谢文档中的</a:t>
            </a:r>
            <a:r>
              <a:rPr lang="en-US" altLang="zh-CN" sz="1600" dirty="0"/>
              <a:t>Dodge the Creeps</a:t>
            </a:r>
            <a:r>
              <a:rPr lang="zh-CN" altLang="en-US" sz="1600" dirty="0"/>
              <a:t>提供课件灵感）</a:t>
            </a:r>
            <a:endParaRPr lang="en-US" altLang="zh-CN" sz="1600" dirty="0"/>
          </a:p>
          <a:p>
            <a:r>
              <a:rPr lang="zh-CN" altLang="zh-CN" sz="2000" dirty="0">
                <a:hlinkClick r:id="rId7"/>
              </a:rPr>
              <a:t>教程中心 - Godot新手村</a:t>
            </a:r>
            <a:r>
              <a:rPr lang="en-US" altLang="zh-CN" sz="2000" dirty="0"/>
              <a:t> </a:t>
            </a:r>
            <a:r>
              <a:rPr lang="zh-CN" altLang="en-US" sz="1600" dirty="0"/>
              <a:t>（国内</a:t>
            </a:r>
            <a:r>
              <a:rPr lang="en-US" altLang="zh-CN" sz="1600" dirty="0"/>
              <a:t>Godot</a:t>
            </a:r>
            <a:r>
              <a:rPr lang="zh-CN" altLang="en-US" sz="1600" dirty="0"/>
              <a:t>社区，资源管饱，不过得好好学而且大部分资源有门槛）</a:t>
            </a:r>
            <a:endParaRPr lang="en-US" altLang="zh-CN" sz="1600" dirty="0"/>
          </a:p>
          <a:p>
            <a:r>
              <a:rPr lang="zh-CN" altLang="zh-CN" sz="2000" dirty="0">
                <a:hlinkClick r:id="rId8"/>
              </a:rPr>
              <a:t>从Unity迁移到Godot再到入坟 | Design Hub</a:t>
            </a:r>
            <a:r>
              <a:rPr lang="en-US" altLang="zh-CN" sz="2000" dirty="0"/>
              <a:t> </a:t>
            </a:r>
            <a:r>
              <a:rPr lang="zh-CN" altLang="en-US" sz="1600" dirty="0"/>
              <a:t>（之前在</a:t>
            </a:r>
            <a:r>
              <a:rPr lang="en-US" altLang="zh-CN" sz="1600" dirty="0"/>
              <a:t>Unity</a:t>
            </a:r>
            <a:r>
              <a:rPr lang="zh-CN" altLang="en-US" sz="1600" dirty="0"/>
              <a:t>过的都是什么苦日子</a:t>
            </a:r>
            <a:r>
              <a:rPr lang="en-US" altLang="zh-CN" sz="1600" dirty="0"/>
              <a:t>.gif</a:t>
            </a:r>
            <a:r>
              <a:rPr lang="zh-CN" altLang="en-US" sz="1600" dirty="0"/>
              <a:t>）</a:t>
            </a:r>
            <a:endParaRPr kumimoji="1"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74D62A-3761-F4D0-82CE-1FCA224B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</a:t>
            </a:r>
            <a:r>
              <a:rPr kumimoji="1"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接页</a:t>
            </a:r>
          </a:p>
        </p:txBody>
      </p:sp>
    </p:spTree>
    <p:extLst>
      <p:ext uri="{BB962C8B-B14F-4D97-AF65-F5344CB8AC3E}">
        <p14:creationId xmlns:p14="http://schemas.microsoft.com/office/powerpoint/2010/main" val="195400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9F5476-B79B-6C13-E148-0BDE0A1F7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078744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sz="3200" dirty="0"/>
              <a:t>开源引擎，即装即用，</a:t>
            </a:r>
            <a:r>
              <a:rPr lang="en-US" altLang="zh-CN" sz="3200" dirty="0"/>
              <a:t>200M</a:t>
            </a:r>
            <a:r>
              <a:rPr lang="zh-CN" altLang="en-US" sz="3200" dirty="0"/>
              <a:t>解君愁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简单易用，社区环境优良，适合新手入门了解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en-US" altLang="zh-CN" sz="3200" dirty="0" err="1"/>
              <a:t>GDscript</a:t>
            </a:r>
            <a:r>
              <a:rPr lang="zh-CN" altLang="en-US" sz="3200" dirty="0"/>
              <a:t>语法简单易懂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擅长</a:t>
            </a:r>
            <a:r>
              <a:rPr lang="en-US" altLang="zh-CN" sz="3200" dirty="0"/>
              <a:t>2D</a:t>
            </a:r>
            <a:r>
              <a:rPr lang="zh-CN" altLang="en-US" sz="3200" dirty="0"/>
              <a:t>领域开发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以及自带编辑器（</a:t>
            </a:r>
            <a:r>
              <a:rPr lang="en-US" altLang="zh-CN" sz="3200" dirty="0"/>
              <a:t>Unity</a:t>
            </a:r>
            <a:r>
              <a:rPr lang="zh-CN" altLang="en-US" sz="3200" dirty="0"/>
              <a:t>的一辈子）</a:t>
            </a:r>
            <a:endParaRPr lang="en-US" altLang="zh-CN" sz="3200" dirty="0"/>
          </a:p>
          <a:p>
            <a:pPr marL="514350" indent="-514350">
              <a:buAutoNum type="arabicPeriod"/>
            </a:pP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DFCD5A2-7E7E-A367-8A85-080755DA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Godot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59DBC6-22DC-3141-3214-E1AAFE9E3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259" y="681037"/>
            <a:ext cx="2094270" cy="20444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711CA3-422F-E496-DB6C-9A8C1EBA5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303" y="3352800"/>
            <a:ext cx="4600183" cy="28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07FB55E-1A6A-5875-4744-2DD24084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7671189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设计经典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000" dirty="0"/>
              <a:t>2001</a:t>
            </a:r>
            <a:r>
              <a:rPr lang="zh-CN" altLang="en-US" sz="2000" dirty="0"/>
              <a:t>年，世界级的休闲游戏公司</a:t>
            </a:r>
            <a:r>
              <a:rPr lang="en-US" altLang="zh-CN" sz="2000" dirty="0" err="1"/>
              <a:t>Popcap</a:t>
            </a:r>
            <a:r>
              <a:rPr lang="zh-CN" altLang="en-US" sz="2000" dirty="0"/>
              <a:t>制作了</a:t>
            </a:r>
            <a:r>
              <a:rPr lang="en-US" altLang="zh-CN" sz="2000" dirty="0"/>
              <a:t>《</a:t>
            </a:r>
            <a:r>
              <a:rPr lang="zh-CN" altLang="en-US" sz="2000" dirty="0"/>
              <a:t>宝石迷阵</a:t>
            </a:r>
            <a:r>
              <a:rPr lang="en-US" altLang="zh-CN" sz="2000" dirty="0"/>
              <a:t>》</a:t>
            </a:r>
          </a:p>
          <a:p>
            <a:pPr marL="457200" lvl="1" indent="0">
              <a:buNone/>
            </a:pPr>
            <a:r>
              <a:rPr lang="zh-CN" altLang="en-US" sz="2000" dirty="0"/>
              <a:t>三消游戏从此发扬光大，从棋盘到特殊机制再到玩法融合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1800" dirty="0"/>
              <a:t>（宝开你没有心你还我</a:t>
            </a:r>
            <a:r>
              <a:rPr lang="en-US" altLang="zh-CN" sz="1800" dirty="0" err="1"/>
              <a:t>PvZ</a:t>
            </a:r>
            <a:r>
              <a:rPr lang="zh-CN" altLang="en-US" sz="1800" dirty="0"/>
              <a:t>，祖玛，</a:t>
            </a:r>
            <a:r>
              <a:rPr lang="en-US" altLang="zh-CN" sz="1800" dirty="0" err="1"/>
              <a:t>Peggle</a:t>
            </a:r>
            <a:r>
              <a:rPr lang="zh-CN" altLang="en-US" sz="1800" dirty="0"/>
              <a:t>，</a:t>
            </a:r>
            <a:r>
              <a:rPr lang="en-US" altLang="zh-CN" sz="1800" dirty="0"/>
              <a:t>Bejeweled</a:t>
            </a:r>
            <a:r>
              <a:rPr lang="zh-CN" altLang="en-US" sz="1800" dirty="0"/>
              <a:t>系列</a:t>
            </a:r>
            <a:r>
              <a:rPr lang="zh-CN" altLang="zh-CN" sz="1800" dirty="0"/>
              <a:t>😭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514350" indent="-514350">
              <a:buAutoNum type="arabicPeriod"/>
            </a:pPr>
            <a:r>
              <a:rPr lang="zh-CN" altLang="en-US" dirty="0"/>
              <a:t>程序简单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000" dirty="0"/>
              <a:t>500</a:t>
            </a:r>
            <a:r>
              <a:rPr lang="zh-CN" altLang="en-US" sz="2000" dirty="0"/>
              <a:t>行代码，</a:t>
            </a:r>
            <a:r>
              <a:rPr lang="en-US" altLang="zh-CN" sz="2000" dirty="0"/>
              <a:t>4</a:t>
            </a:r>
            <a:r>
              <a:rPr lang="zh-CN" altLang="en-US" sz="2000" dirty="0"/>
              <a:t>份脚本，从零开始，涵盖交换逻辑，三消判断，下落连锁，</a:t>
            </a:r>
            <a:r>
              <a:rPr lang="en-US" altLang="zh-CN" sz="2000" dirty="0"/>
              <a:t>UI</a:t>
            </a:r>
            <a:r>
              <a:rPr lang="zh-CN" altLang="en-US" sz="2000" dirty="0"/>
              <a:t>功能，计分系统，所以简单易学</a:t>
            </a:r>
            <a:endParaRPr lang="en-US" altLang="zh-CN" sz="2000" dirty="0"/>
          </a:p>
          <a:p>
            <a:pPr marL="514350" indent="-514350">
              <a:buAutoNum type="arabicPeriod"/>
            </a:pPr>
            <a:r>
              <a:rPr lang="zh-CN" altLang="en-US" dirty="0"/>
              <a:t>高上限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sz="2000" dirty="0"/>
              <a:t>消除上方</a:t>
            </a:r>
            <a:r>
              <a:rPr lang="en-US" altLang="zh-CN" sz="2000" dirty="0"/>
              <a:t>3</a:t>
            </a:r>
            <a:r>
              <a:rPr lang="zh-CN" altLang="en-US" sz="2000" dirty="0"/>
              <a:t>颗宝石保证底部交换能力 或 消除底栏</a:t>
            </a:r>
            <a:r>
              <a:rPr lang="en-US" altLang="zh-CN" sz="2000" dirty="0"/>
              <a:t>3</a:t>
            </a:r>
            <a:r>
              <a:rPr lang="zh-CN" altLang="en-US" sz="2000" dirty="0"/>
              <a:t>颗触发连锁，在无尽的棋局中寻找获得最高分的策略 或 在有限的时间内不断破环宝石</a:t>
            </a:r>
            <a:endParaRPr lang="en-US" altLang="zh-CN" sz="2000" dirty="0"/>
          </a:p>
          <a:p>
            <a:pPr marL="457200" lvl="1" indent="0" algn="ctr">
              <a:buNone/>
            </a:pPr>
            <a:r>
              <a:rPr lang="zh-CN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（还有就是咱想玩了所以就做了）</a:t>
            </a:r>
            <a:endParaRPr lang="en-US" altLang="zh-CN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40E247D-298A-7BBC-A5D2-2E3BCAB9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为什么讲三消？</a:t>
            </a:r>
          </a:p>
        </p:txBody>
      </p:sp>
      <p:pic>
        <p:nvPicPr>
          <p:cNvPr id="9" name="图片 8" descr="《宝石迷阵3》(Bejeweled3)官方简体中文硬盘版 _3DM单机">
            <a:extLst>
              <a:ext uri="{FF2B5EF4-FFF2-40B4-BE49-F238E27FC236}">
                <a16:creationId xmlns:a16="http://schemas.microsoft.com/office/drawing/2014/main" id="{74065072-4885-CF40-D3D4-D35FCE041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200" y="1825624"/>
            <a:ext cx="304593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70D1D38-A9AD-9759-5BDD-6AC0AC341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740647"/>
              </p:ext>
            </p:extLst>
          </p:nvPr>
        </p:nvGraphicFramePr>
        <p:xfrm>
          <a:off x="725487" y="1825625"/>
          <a:ext cx="400382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76963830-B11E-86FF-8915-5C85F1F4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设计拆解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629DD1-95A8-34DC-9ECF-4F58C4399F81}"/>
              </a:ext>
            </a:extLst>
          </p:cNvPr>
          <p:cNvSpPr txBox="1"/>
          <p:nvPr/>
        </p:nvSpPr>
        <p:spPr>
          <a:xfrm>
            <a:off x="4729316" y="1283971"/>
            <a:ext cx="67371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  游戏循环：</a:t>
            </a:r>
            <a:r>
              <a:rPr lang="en-US" altLang="zh-CN" sz="2000" dirty="0"/>
              <a:t>	</a:t>
            </a:r>
          </a:p>
          <a:p>
            <a:r>
              <a:rPr lang="en-US" altLang="zh-CN" sz="2000" dirty="0"/>
              <a:t>	</a:t>
            </a:r>
            <a:r>
              <a:rPr lang="zh-CN" altLang="zh-CN" sz="2000" dirty="0">
                <a:solidFill>
                  <a:srgbClr val="C00000"/>
                </a:solidFill>
              </a:rPr>
              <a:t>看盘 → 找交换 → 交换 → 消除 → 下落 → 连锁 → 得</a:t>
            </a:r>
            <a:r>
              <a:rPr lang="zh-CN" altLang="zh-CN" sz="2000">
                <a:solidFill>
                  <a:srgbClr val="C00000"/>
                </a:solidFill>
              </a:rPr>
              <a:t>分 → </a:t>
            </a:r>
            <a:r>
              <a:rPr lang="zh-CN" altLang="zh-CN" sz="2000" dirty="0">
                <a:solidFill>
                  <a:srgbClr val="C00000"/>
                </a:solidFill>
              </a:rPr>
              <a:t>再看盘</a:t>
            </a:r>
            <a:endParaRPr lang="en-US" altLang="zh-CN" sz="2000" dirty="0">
              <a:solidFill>
                <a:srgbClr val="C00000"/>
              </a:solidFill>
            </a:endParaRPr>
          </a:p>
          <a:p>
            <a:endParaRPr lang="en-US" altLang="zh-CN" sz="2000" dirty="0"/>
          </a:p>
          <a:p>
            <a:r>
              <a:rPr lang="zh-CN" altLang="en-US" sz="2000" dirty="0"/>
              <a:t>    设计决策：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8×8 棋盘</a:t>
            </a:r>
            <a:r>
              <a:rPr lang="zh-CN" altLang="en-US" sz="2000" dirty="0"/>
              <a:t>，</a:t>
            </a:r>
            <a:r>
              <a:rPr lang="zh-CN" altLang="zh-CN" sz="2000" dirty="0"/>
              <a:t>一屏可读性刚好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7 色（正式版）/ 6 色（教学版）</a:t>
            </a:r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3 连才消除</a:t>
            </a:r>
            <a:r>
              <a:rPr lang="zh-CN" altLang="en-US" sz="2000" dirty="0"/>
              <a:t> </a:t>
            </a:r>
            <a:r>
              <a:rPr lang="zh-CN" altLang="zh-CN" sz="2000" dirty="0"/>
              <a:t>3 是最低门槛：刚好"要动脑，但够得着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计分 = 每颗 10 分 × 连锁倍率</a:t>
            </a:r>
            <a:r>
              <a:rPr lang="zh-CN" altLang="en-US" sz="2000" dirty="0"/>
              <a:t>，</a:t>
            </a:r>
            <a:r>
              <a:rPr lang="zh-CN" altLang="zh-CN" sz="2000" dirty="0"/>
              <a:t>拆开看就是每颗宝石 </a:t>
            </a:r>
            <a:r>
              <a:rPr lang="en-US" altLang="zh-CN" sz="2000" dirty="0"/>
              <a:t>	</a:t>
            </a:r>
            <a:r>
              <a:rPr lang="zh-CN" altLang="zh-CN" sz="2000" dirty="0"/>
              <a:t>10 分——按消除数量计分，鼓励一次消更多</a:t>
            </a:r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无限步（教学版）压力是玩法工具</a:t>
            </a:r>
            <a:r>
              <a:rPr lang="zh-CN" altLang="en-US" sz="2000" dirty="0"/>
              <a:t>，</a:t>
            </a:r>
            <a:r>
              <a:rPr lang="zh-CN" altLang="zh-CN" sz="2000" dirty="0"/>
              <a:t>完整版有步数/限时</a:t>
            </a:r>
            <a:r>
              <a:rPr lang="en-US" altLang="zh-CN" sz="2000" dirty="0"/>
              <a:t>	</a:t>
            </a:r>
            <a:r>
              <a:rPr lang="zh-CN" altLang="zh-CN" sz="2000" dirty="0"/>
              <a:t>制造紧张，</a:t>
            </a:r>
            <a:r>
              <a:rPr lang="zh-CN" altLang="en-US" sz="2000" dirty="0"/>
              <a:t>但无尽模式依然是宝石迷阵系列的主打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zh-CN" altLang="en-US" sz="2000" dirty="0"/>
              <a:t>爽感来源：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en-US" sz="2000" dirty="0">
                <a:solidFill>
                  <a:srgbClr val="C00000"/>
                </a:solidFill>
              </a:rPr>
              <a:t>连锁反应，特殊宝石，分数成倍叠加</a:t>
            </a:r>
            <a:endParaRPr lang="zh-CN" altLang="zh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03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773CD84-AD66-A8C9-F899-7520F49DA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L1</a:t>
            </a:r>
            <a:r>
              <a:rPr lang="zh-CN" altLang="en-US" dirty="0"/>
              <a:t>实操内容速览：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	1. </a:t>
            </a:r>
            <a:r>
              <a:rPr lang="zh-CN" altLang="en-US" sz="2000" dirty="0"/>
              <a:t>新建项目</a:t>
            </a:r>
            <a:r>
              <a:rPr lang="en-US" altLang="zh-CN" sz="2000" dirty="0"/>
              <a:t>+</a:t>
            </a:r>
            <a:r>
              <a:rPr lang="zh-CN" altLang="en-US" sz="2000" dirty="0"/>
              <a:t>项目设置</a:t>
            </a:r>
            <a:r>
              <a:rPr lang="en-US" altLang="zh-CN" sz="2000" dirty="0"/>
              <a:t>+</a:t>
            </a:r>
            <a:r>
              <a:rPr lang="zh-CN" altLang="en-US" sz="2000" dirty="0"/>
              <a:t>素材导入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2. </a:t>
            </a:r>
            <a:r>
              <a:rPr lang="zh-CN" altLang="en-US" sz="2000" dirty="0"/>
              <a:t>搭建宝石 </a:t>
            </a:r>
            <a:r>
              <a:rPr lang="en-US" altLang="zh-CN" sz="2000" dirty="0" err="1"/>
              <a:t>gem.tscn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3. </a:t>
            </a:r>
            <a:r>
              <a:rPr lang="zh-CN" altLang="en-US" sz="2000" dirty="0"/>
              <a:t>写 </a:t>
            </a:r>
            <a:r>
              <a:rPr lang="en-US" altLang="zh-CN" sz="2000" dirty="0"/>
              <a:t>gem.gd </a:t>
            </a:r>
            <a:r>
              <a:rPr lang="zh-CN" altLang="en-US" sz="2000" dirty="0"/>
              <a:t>（宝石类型）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4. </a:t>
            </a:r>
            <a:r>
              <a:rPr lang="zh-CN" altLang="en-US" sz="2000" dirty="0"/>
              <a:t>搭建主场景 </a:t>
            </a:r>
            <a:r>
              <a:rPr lang="en-US" altLang="zh-CN" sz="2000" dirty="0" err="1"/>
              <a:t>main.tscn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5. </a:t>
            </a:r>
            <a:r>
              <a:rPr lang="zh-CN" altLang="en-US" sz="2000" dirty="0"/>
              <a:t>写 </a:t>
            </a:r>
            <a:r>
              <a:rPr lang="en-US" altLang="zh-CN" sz="2000" dirty="0"/>
              <a:t>board.gd </a:t>
            </a:r>
            <a:r>
              <a:rPr lang="zh-CN" altLang="en-US" sz="2000" dirty="0"/>
              <a:t>（常量与数据，居中</a:t>
            </a:r>
            <a:r>
              <a:rPr lang="en-US" altLang="zh-CN" sz="2000" dirty="0"/>
              <a:t>+</a:t>
            </a:r>
            <a:r>
              <a:rPr lang="zh-CN" altLang="en-US" sz="2000" dirty="0"/>
              <a:t>坐标换算，生成宝石，临时判定，防初始消除）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 algn="ctr">
              <a:buNone/>
            </a:pPr>
            <a:r>
              <a:rPr lang="zh-CN" altLang="en-US" sz="6000" dirty="0">
                <a:solidFill>
                  <a:srgbClr val="C00000"/>
                </a:solidFill>
              </a:rPr>
              <a:t>启动！</a:t>
            </a:r>
            <a:endParaRPr lang="en-US" altLang="zh-CN" sz="6000" dirty="0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2403E0-4264-2AF1-D2EC-631EAEA0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好了现在终于轮到我们的实操环节了（喜）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C8344F-4A28-4584-C646-F86E5538E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438" y="1825625"/>
            <a:ext cx="2138517" cy="213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9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4A83B4C-C9E4-E3B9-47E5-518522142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60" y="1661652"/>
            <a:ext cx="3394156" cy="4680153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1. 打开 Godot 4.7 → 项目管理器 → </a:t>
            </a:r>
            <a:r>
              <a:rPr lang="zh-CN" altLang="zh-CN" b="1" dirty="0"/>
              <a:t>New Project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2. 项目名：match3（或任意英文名）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路径自选</a:t>
            </a:r>
            <a:r>
              <a:rPr lang="zh-CN" altLang="en-US" dirty="0"/>
              <a:t>，</a:t>
            </a:r>
            <a:r>
              <a:rPr lang="zh-CN" altLang="zh-CN" dirty="0"/>
              <a:t>渲染器选 </a:t>
            </a:r>
            <a:r>
              <a:rPr lang="zh-CN" altLang="zh-CN" b="1" dirty="0"/>
              <a:t>Compatibility</a:t>
            </a:r>
            <a:r>
              <a:rPr lang="zh-CN" altLang="zh-CN" dirty="0"/>
              <a:t>（兼容老电脑，和成品一致）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b="1" dirty="0"/>
              <a:t>Create</a:t>
            </a:r>
            <a:r>
              <a:rPr lang="zh-CN" altLang="en-US" b="1" dirty="0"/>
              <a:t>！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3F6B28-5C78-6280-6B68-26FA45E9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新项目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514AA1-40A7-14F9-E0B3-2D54F74D4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523" y="847656"/>
            <a:ext cx="7818583" cy="565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2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7855-72AB-6C32-31AD-293885009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C296ADE-C8AE-8F85-65DF-45AA85814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543665"/>
            <a:ext cx="3089357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3. 打开项目后，菜单</a:t>
            </a:r>
            <a:r>
              <a:rPr lang="zh-CN" altLang="en-US" dirty="0"/>
              <a:t> </a:t>
            </a:r>
            <a:r>
              <a:rPr lang="zh-CN" altLang="zh-CN" b="1" dirty="0"/>
              <a:t>项目 → 项目设置</a:t>
            </a:r>
            <a:r>
              <a:rPr lang="zh-CN" altLang="en-US" b="1" dirty="0"/>
              <a:t> </a:t>
            </a:r>
            <a:r>
              <a:rPr lang="zh-CN" altLang="en-US" dirty="0"/>
              <a:t>修改</a:t>
            </a:r>
            <a:r>
              <a:rPr lang="zh-CN" altLang="zh-CN" dirty="0"/>
              <a:t>处：</a:t>
            </a:r>
          </a:p>
          <a:p>
            <a:pPr marL="0" indent="0">
              <a:buNone/>
            </a:pPr>
            <a:r>
              <a:rPr lang="zh-CN" altLang="en-US" sz="2000" dirty="0"/>
              <a:t>“</a:t>
            </a:r>
            <a:r>
              <a:rPr lang="zh-CN" altLang="zh-CN" sz="2000" b="1" dirty="0"/>
              <a:t>视口宽度</a:t>
            </a:r>
            <a:r>
              <a:rPr lang="zh-CN" altLang="en-US" sz="2000" dirty="0"/>
              <a:t>”</a:t>
            </a:r>
            <a:r>
              <a:rPr lang="zh-CN" altLang="zh-CN" sz="2000" dirty="0"/>
              <a:t>设置</a:t>
            </a:r>
            <a:r>
              <a:rPr lang="en-US" altLang="zh-CN" sz="2000" dirty="0"/>
              <a:t> </a:t>
            </a:r>
            <a:r>
              <a:rPr lang="zh-CN" altLang="en-US" sz="2000" dirty="0"/>
              <a:t>视口宽度 </a:t>
            </a:r>
            <a:r>
              <a:rPr lang="zh-CN" altLang="zh-CN" sz="2000" b="1" dirty="0"/>
              <a:t>640</a:t>
            </a:r>
            <a:r>
              <a:rPr lang="zh-CN" altLang="zh-CN" sz="2000" dirty="0"/>
              <a:t>，</a:t>
            </a:r>
            <a:r>
              <a:rPr lang="zh-CN" altLang="en-US" sz="2000" dirty="0"/>
              <a:t>视口高度 </a:t>
            </a:r>
            <a:r>
              <a:rPr lang="zh-CN" altLang="zh-CN" sz="2000" b="1" dirty="0"/>
              <a:t>72</a:t>
            </a:r>
            <a:r>
              <a:rPr lang="en-US" altLang="zh-CN" sz="2000" b="1" dirty="0"/>
              <a:t>0</a:t>
            </a:r>
            <a:r>
              <a:rPr lang="zh-CN" altLang="zh-CN" sz="2000" dirty="0"/>
              <a:t>（成品窗口尺寸）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“</a:t>
            </a:r>
            <a:r>
              <a:rPr lang="zh-CN" altLang="zh-CN" sz="2000" b="1" dirty="0"/>
              <a:t>拉伸选项</a:t>
            </a:r>
            <a:r>
              <a:rPr lang="zh-CN" altLang="en-US" sz="2000" dirty="0"/>
              <a:t>”</a:t>
            </a:r>
            <a:r>
              <a:rPr lang="zh-CN" altLang="zh-CN" sz="2000" dirty="0"/>
              <a:t>中，将模式设为 </a:t>
            </a:r>
            <a:r>
              <a:rPr lang="zh-CN" altLang="zh-CN" sz="2000" b="1" dirty="0"/>
              <a:t>canvas_items</a:t>
            </a:r>
            <a:r>
              <a:rPr lang="zh-CN" altLang="zh-CN" sz="2000" dirty="0"/>
              <a:t>，将比例设为 </a:t>
            </a:r>
            <a:r>
              <a:rPr lang="zh-CN" altLang="zh-CN" sz="2000" b="1" dirty="0"/>
              <a:t>keep</a:t>
            </a:r>
            <a:r>
              <a:rPr lang="zh-CN" altLang="en-US" sz="2000" dirty="0"/>
              <a:t>（保证拉伸比例，此为可选项）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将美术素材解压，拖入文件管理器中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A5952D-DE79-7DCF-1E54-A381B9E0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设置和素材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4BDCB3-7A54-2A21-246E-1CEA822F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427" b="10905"/>
          <a:stretch>
            <a:fillRect/>
          </a:stretch>
        </p:blipFill>
        <p:spPr>
          <a:xfrm>
            <a:off x="4100050" y="687335"/>
            <a:ext cx="8003460" cy="5866507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16A3E30-9643-1753-FA52-9CACBE9178AF}"/>
              </a:ext>
            </a:extLst>
          </p:cNvPr>
          <p:cNvCxnSpPr/>
          <p:nvPr/>
        </p:nvCxnSpPr>
        <p:spPr>
          <a:xfrm>
            <a:off x="4444181" y="6105832"/>
            <a:ext cx="75708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00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5152FC-5CDA-2B19-DFFC-D2C87447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72296F-75F6-4460-78AB-FF65AEA6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进度已达成：这是？工作台！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1FED23-FEB2-9D1A-46C5-502335D6A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438" y="1514961"/>
            <a:ext cx="9667123" cy="5135659"/>
          </a:xfrm>
          <a:prstGeom prst="rect">
            <a:avLst/>
          </a:prstGeom>
        </p:spPr>
      </p:pic>
      <p:pic>
        <p:nvPicPr>
          <p:cNvPr id="8" name="图片 7" descr="NewAchievementSprite benchmaking.png：Minecraft中benchmaking的精灵图">
            <a:extLst>
              <a:ext uri="{FF2B5EF4-FFF2-40B4-BE49-F238E27FC236}">
                <a16:creationId xmlns:a16="http://schemas.microsoft.com/office/drawing/2014/main" id="{253554CF-C26C-9C28-688A-D8BCEABE6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069" y="391195"/>
            <a:ext cx="1726492" cy="97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91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63B509-CB1B-3FD8-C4DB-6E9378BCF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节点</a:t>
            </a:r>
            <a:r>
              <a:rPr lang="zh-CN" altLang="en-US" dirty="0"/>
              <a:t>（</a:t>
            </a:r>
            <a:r>
              <a:rPr lang="en-US" altLang="zh-CN" dirty="0"/>
              <a:t>Node</a:t>
            </a:r>
            <a:r>
              <a:rPr lang="zh-CN" altLang="en-US" dirty="0"/>
              <a:t>）</a:t>
            </a:r>
            <a:r>
              <a:rPr lang="zh-CN" altLang="zh-CN" dirty="0"/>
              <a:t>是 Godot 的基本单元。它们可以成为另一个节点的子节点，从而形成树状排列。</a:t>
            </a:r>
            <a:r>
              <a:rPr lang="zh-CN" altLang="en-US" dirty="0"/>
              <a:t>节点就像食谱里的食材，每个食材都有自己的营养</a:t>
            </a:r>
            <a:r>
              <a:rPr lang="en-US" altLang="zh-CN" dirty="0"/>
              <a:t>/</a:t>
            </a:r>
            <a:r>
              <a:rPr lang="zh-CN" altLang="en-US" dirty="0"/>
              <a:t>口感，组合起来会形成一道</a:t>
            </a:r>
            <a:r>
              <a:rPr lang="zh-CN" altLang="en-US" b="1" dirty="0">
                <a:solidFill>
                  <a:srgbClr val="FF0000"/>
                </a:solidFill>
              </a:rPr>
              <a:t>震撼美味</a:t>
            </a:r>
            <a:r>
              <a:rPr lang="en-US" altLang="zh-CN" b="1" dirty="0">
                <a:solidFill>
                  <a:srgbClr val="FF0000"/>
                </a:solidFill>
              </a:rPr>
              <a:t>.gif</a:t>
            </a:r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由节点构成的树被称为</a:t>
            </a:r>
            <a:r>
              <a:rPr lang="zh-CN" altLang="zh-CN" i="1" dirty="0"/>
              <a:t>场景</a:t>
            </a:r>
            <a:r>
              <a:rPr lang="zh-CN" altLang="zh-CN" dirty="0"/>
              <a:t>。场景可以被保存到磁盘上，然后实例化到其他场景中。这为 Godot 项目的架构和数据模型提供了极大的灵活性</a:t>
            </a:r>
            <a:r>
              <a:rPr lang="zh-CN" altLang="en-US" dirty="0"/>
              <a:t>，不同的节点有不同的功能，组合后就会形成一个复杂的功能单元。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847FF81-0697-94EA-C661-E3EB982E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熟悉我们的基础内容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90D8E0-80C0-2A86-9F24-BCB838CC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623" y="5053781"/>
            <a:ext cx="3374793" cy="157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6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FC0FBAB-4A06-849D-177C-DE311811C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1329" b="68980"/>
          <a:stretch>
            <a:fillRect/>
          </a:stretch>
        </p:blipFill>
        <p:spPr>
          <a:xfrm>
            <a:off x="7079226" y="1240750"/>
            <a:ext cx="4403783" cy="1876671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4F187F4-14F2-5C28-2467-4582AE7F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gem.tscn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DCBB64-6D28-F66D-FB83-516DFD0B8DE2}"/>
              </a:ext>
            </a:extLst>
          </p:cNvPr>
          <p:cNvSpPr txBox="1"/>
          <p:nvPr/>
        </p:nvSpPr>
        <p:spPr>
          <a:xfrm>
            <a:off x="708991" y="1368847"/>
            <a:ext cx="624348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3200" dirty="0"/>
              <a:t>创建根节点：</a:t>
            </a:r>
            <a:r>
              <a:rPr lang="en-US" altLang="zh-CN" sz="3200" dirty="0"/>
              <a:t>2D</a:t>
            </a:r>
            <a:r>
              <a:rPr lang="zh-CN" altLang="en-US" sz="3200" dirty="0"/>
              <a:t>场景</a:t>
            </a:r>
            <a:endParaRPr lang="en-US" altLang="zh-CN" sz="3200" dirty="0"/>
          </a:p>
          <a:p>
            <a:pPr marL="342900" indent="-342900">
              <a:buAutoNum type="arabicPeriod"/>
            </a:pPr>
            <a:r>
              <a:rPr lang="zh-CN" altLang="en-US" sz="3200" dirty="0"/>
              <a:t>命名为</a:t>
            </a:r>
            <a:r>
              <a:rPr lang="en-US" altLang="zh-CN" sz="3200" dirty="0"/>
              <a:t>Gem</a:t>
            </a:r>
          </a:p>
          <a:p>
            <a:pPr marL="342900" indent="-342900">
              <a:buAutoNum type="arabicPeriod"/>
            </a:pPr>
            <a:r>
              <a:rPr lang="zh-CN" altLang="en-US" sz="3200" dirty="0"/>
              <a:t>右键它，添加子节点：</a:t>
            </a:r>
            <a:r>
              <a:rPr lang="en-US" altLang="zh-CN" sz="3200" dirty="0"/>
              <a:t>Sprite2D</a:t>
            </a:r>
          </a:p>
          <a:p>
            <a:pPr marL="342900" indent="-342900">
              <a:buAutoNum type="arabicPeriod"/>
            </a:pPr>
            <a:r>
              <a:rPr lang="zh-CN" altLang="en-US" sz="3200" dirty="0"/>
              <a:t>可以将其命名为</a:t>
            </a:r>
            <a:r>
              <a:rPr lang="en-US" altLang="zh-CN" sz="3200" dirty="0"/>
              <a:t>Sprite</a:t>
            </a:r>
          </a:p>
          <a:p>
            <a:pPr marL="342900" indent="-342900">
              <a:buAutoNum type="arabicPeriod"/>
            </a:pPr>
            <a:r>
              <a:rPr lang="zh-CN" altLang="en-US" sz="3200" dirty="0"/>
              <a:t>先</a:t>
            </a:r>
            <a:r>
              <a:rPr lang="en-US" altLang="zh-CN" sz="3200" dirty="0"/>
              <a:t>Ctrl + S</a:t>
            </a:r>
            <a:r>
              <a:rPr lang="zh-CN" altLang="en-US" sz="3200" dirty="0"/>
              <a:t>一下，创建一个在根目录下的文件夹，命名为</a:t>
            </a:r>
            <a:r>
              <a:rPr lang="en-US" altLang="zh-CN" sz="3200" dirty="0"/>
              <a:t>Scenes</a:t>
            </a:r>
            <a:r>
              <a:rPr lang="zh-CN" altLang="en-US" sz="3200" dirty="0"/>
              <a:t>，以后我们的</a:t>
            </a:r>
            <a:r>
              <a:rPr lang="en-US" altLang="zh-CN" sz="3200" dirty="0" err="1"/>
              <a:t>tscn</a:t>
            </a:r>
            <a:r>
              <a:rPr lang="zh-CN" altLang="en-US" sz="3200" dirty="0"/>
              <a:t>文件就在这里存储</a:t>
            </a:r>
            <a:endParaRPr lang="en-US" altLang="zh-CN" sz="3200" dirty="0"/>
          </a:p>
          <a:p>
            <a:pPr algn="ctr"/>
            <a:endParaRPr lang="en-US" altLang="zh-CN" sz="2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C00000"/>
                </a:solidFill>
              </a:rPr>
              <a:t>文件管理是个技术活，请不要忽略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163A5D-63FC-9C80-7C55-A5D550C073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540" b="56824"/>
          <a:stretch>
            <a:fillRect/>
          </a:stretch>
        </p:blipFill>
        <p:spPr>
          <a:xfrm>
            <a:off x="7079226" y="3311783"/>
            <a:ext cx="4403782" cy="294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0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A076F50-1171-D491-1ABC-EBEB8AE28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559" y="1393591"/>
            <a:ext cx="10170881" cy="537608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779632E-A413-FBE8-59F4-42438BA5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调整大小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531E80-D679-26FC-E3A0-5B28B0BB26E5}"/>
              </a:ext>
            </a:extLst>
          </p:cNvPr>
          <p:cNvSpPr/>
          <p:nvPr/>
        </p:nvSpPr>
        <p:spPr>
          <a:xfrm>
            <a:off x="1474839" y="6449961"/>
            <a:ext cx="1170038" cy="21631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24DE1AC-B91E-F64E-BE1A-967B235B5198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054942" y="2989006"/>
            <a:ext cx="4916" cy="3460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A1CAB5F-89CB-C0BD-1613-9C74FD2EC50F}"/>
              </a:ext>
            </a:extLst>
          </p:cNvPr>
          <p:cNvSpPr/>
          <p:nvPr/>
        </p:nvSpPr>
        <p:spPr>
          <a:xfrm>
            <a:off x="1258529" y="2713703"/>
            <a:ext cx="1750142" cy="2163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AC7AA7-C49C-98AA-2656-C5D191982099}"/>
              </a:ext>
            </a:extLst>
          </p:cNvPr>
          <p:cNvSpPr/>
          <p:nvPr/>
        </p:nvSpPr>
        <p:spPr>
          <a:xfrm>
            <a:off x="8898194" y="3126658"/>
            <a:ext cx="2153264" cy="4227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B60E46-EDF9-88DF-C9D8-8DF1F09574A7}"/>
              </a:ext>
            </a:extLst>
          </p:cNvPr>
          <p:cNvSpPr/>
          <p:nvPr/>
        </p:nvSpPr>
        <p:spPr>
          <a:xfrm>
            <a:off x="8903110" y="6194323"/>
            <a:ext cx="2148348" cy="5266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2AD4C3-6942-FB24-1DDD-13E3ABB1D3D0}"/>
              </a:ext>
            </a:extLst>
          </p:cNvPr>
          <p:cNvSpPr txBox="1"/>
          <p:nvPr/>
        </p:nvSpPr>
        <p:spPr>
          <a:xfrm>
            <a:off x="4572000" y="3342968"/>
            <a:ext cx="401970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</a:rPr>
              <a:t>将素材中的</a:t>
            </a:r>
            <a:r>
              <a:rPr lang="en-US" altLang="zh-CN" sz="2000" dirty="0" err="1">
                <a:solidFill>
                  <a:schemeClr val="bg1"/>
                </a:solidFill>
              </a:rPr>
              <a:t>Gem_red</a:t>
            </a:r>
            <a:r>
              <a:rPr lang="zh-CN" altLang="en-US" sz="2000" dirty="0">
                <a:solidFill>
                  <a:schemeClr val="bg1"/>
                </a:solidFill>
              </a:rPr>
              <a:t>拖入</a:t>
            </a:r>
            <a:r>
              <a:rPr lang="en-US" altLang="zh-CN" sz="2000" dirty="0">
                <a:solidFill>
                  <a:schemeClr val="bg1"/>
                </a:solidFill>
              </a:rPr>
              <a:t>Sprite</a:t>
            </a: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chemeClr val="bg1"/>
                </a:solidFill>
              </a:rPr>
              <a:t>在右侧检查器中取消勾选</a:t>
            </a:r>
            <a:r>
              <a:rPr lang="en-US" altLang="zh-CN" sz="2000" dirty="0">
                <a:solidFill>
                  <a:schemeClr val="bg1"/>
                </a:solidFill>
              </a:rPr>
              <a:t>Centered</a:t>
            </a:r>
            <a:r>
              <a:rPr lang="zh-CN" altLang="en-US" sz="2000" dirty="0">
                <a:solidFill>
                  <a:schemeClr val="bg1"/>
                </a:solidFill>
              </a:rPr>
              <a:t>（方便对齐和查看大小）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altLang="zh-CN" sz="2000" dirty="0">
                <a:solidFill>
                  <a:schemeClr val="bg1"/>
                </a:solidFill>
              </a:rPr>
              <a:t>Transform</a:t>
            </a:r>
            <a:r>
              <a:rPr lang="zh-CN" altLang="en-US" sz="2000" dirty="0">
                <a:solidFill>
                  <a:schemeClr val="bg1"/>
                </a:solidFill>
              </a:rPr>
              <a:t>中将</a:t>
            </a:r>
            <a:r>
              <a:rPr lang="en-US" altLang="zh-CN" sz="2000" dirty="0">
                <a:solidFill>
                  <a:schemeClr val="bg1"/>
                </a:solidFill>
              </a:rPr>
              <a:t>Scale</a:t>
            </a:r>
            <a:r>
              <a:rPr lang="zh-CN" altLang="en-US" sz="2000" dirty="0">
                <a:solidFill>
                  <a:schemeClr val="bg1"/>
                </a:solidFill>
              </a:rPr>
              <a:t>设置为</a:t>
            </a:r>
            <a:r>
              <a:rPr lang="en-US" altLang="zh-CN" sz="2000" dirty="0">
                <a:solidFill>
                  <a:schemeClr val="bg1"/>
                </a:solidFill>
              </a:rPr>
              <a:t>1.23*1.23</a:t>
            </a:r>
            <a:r>
              <a:rPr lang="zh-CN" altLang="en-US" sz="2000" dirty="0">
                <a:solidFill>
                  <a:schemeClr val="bg1"/>
                </a:solidFill>
              </a:rPr>
              <a:t>（</a:t>
            </a:r>
            <a:r>
              <a:rPr lang="zh-CN" altLang="zh-CN" sz="2000" dirty="0"/>
              <a:t> </a:t>
            </a:r>
            <a:r>
              <a:rPr lang="zh-CN" altLang="zh-CN" sz="2000" dirty="0">
                <a:solidFill>
                  <a:schemeClr val="bg1"/>
                </a:solidFill>
              </a:rPr>
              <a:t>52px 贴图 → 64px 格子</a:t>
            </a:r>
            <a:r>
              <a:rPr lang="zh-CN" altLang="en-US" sz="2000" dirty="0">
                <a:solidFill>
                  <a:schemeClr val="bg1"/>
                </a:solidFill>
              </a:rPr>
              <a:t>）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0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F805C0D-8F3D-B44F-1DB3-7EB7739B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B8BEE8-47DF-3E5A-82E5-57AC7A48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如法炮制一下，添加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ColorRect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F66035-B91B-EB30-B5CE-2BD261DC5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8" y="1368847"/>
            <a:ext cx="10156723" cy="53957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F63819-4512-35E5-2845-E631C15DD9E8}"/>
              </a:ext>
            </a:extLst>
          </p:cNvPr>
          <p:cNvSpPr txBox="1"/>
          <p:nvPr/>
        </p:nvSpPr>
        <p:spPr>
          <a:xfrm>
            <a:off x="4798142" y="2769315"/>
            <a:ext cx="41000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>
                <a:solidFill>
                  <a:schemeClr val="bg1"/>
                </a:solidFill>
              </a:rPr>
              <a:t>右键根节点，创建子节点</a:t>
            </a:r>
            <a:r>
              <a:rPr lang="en-US" altLang="zh-CN" sz="2400" dirty="0" err="1">
                <a:solidFill>
                  <a:schemeClr val="bg1"/>
                </a:solidFill>
              </a:rPr>
              <a:t>ColorRect</a:t>
            </a:r>
            <a:r>
              <a:rPr lang="zh-CN" altLang="en-US" sz="2400" dirty="0">
                <a:solidFill>
                  <a:schemeClr val="bg1"/>
                </a:solidFill>
              </a:rPr>
              <a:t>（命名为</a:t>
            </a:r>
            <a:r>
              <a:rPr lang="en-US" altLang="zh-CN" sz="2400" dirty="0" err="1">
                <a:solidFill>
                  <a:schemeClr val="bg1"/>
                </a:solidFill>
              </a:rPr>
              <a:t>SelectMask</a:t>
            </a:r>
            <a:r>
              <a:rPr lang="zh-CN" altLang="en-US" sz="2400" dirty="0">
                <a:solidFill>
                  <a:schemeClr val="bg1"/>
                </a:solidFill>
              </a:rPr>
              <a:t>）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solidFill>
                  <a:schemeClr val="bg1"/>
                </a:solidFill>
              </a:rPr>
              <a:t>调整大小至</a:t>
            </a:r>
            <a:r>
              <a:rPr lang="en-US" altLang="zh-CN" sz="2400" dirty="0">
                <a:solidFill>
                  <a:schemeClr val="bg1"/>
                </a:solidFill>
              </a:rPr>
              <a:t>64*64px</a:t>
            </a:r>
          </a:p>
          <a:p>
            <a:pPr marL="342900" indent="-342900">
              <a:buAutoNum type="arabicPeriod"/>
            </a:pPr>
            <a:r>
              <a:rPr lang="en-US" altLang="zh-CN" sz="2400" dirty="0">
                <a:solidFill>
                  <a:schemeClr val="bg1"/>
                </a:solidFill>
              </a:rPr>
              <a:t>Color</a:t>
            </a:r>
            <a:r>
              <a:rPr lang="zh-CN" altLang="en-US" sz="2400" dirty="0">
                <a:solidFill>
                  <a:schemeClr val="bg1"/>
                </a:solidFill>
              </a:rPr>
              <a:t>里把透明度调低（</a:t>
            </a:r>
            <a:r>
              <a:rPr lang="en-US" altLang="zh-CN" sz="2400" dirty="0">
                <a:solidFill>
                  <a:schemeClr val="bg1"/>
                </a:solidFill>
              </a:rPr>
              <a:t>A 100</a:t>
            </a:r>
            <a:r>
              <a:rPr lang="zh-CN" altLang="en-US" sz="2400" dirty="0">
                <a:solidFill>
                  <a:schemeClr val="bg1"/>
                </a:solidFill>
              </a:rPr>
              <a:t>）</a:t>
            </a:r>
          </a:p>
          <a:p>
            <a:pPr marL="342900" indent="-342900">
              <a:buAutoNum type="arabicPeriod"/>
            </a:pPr>
            <a:r>
              <a:rPr lang="zh-CN" altLang="en-US" sz="2400" dirty="0">
                <a:solidFill>
                  <a:schemeClr val="bg1"/>
                </a:solidFill>
              </a:rPr>
              <a:t>在</a:t>
            </a:r>
            <a:r>
              <a:rPr lang="en-US" altLang="zh-CN" sz="2400" dirty="0">
                <a:solidFill>
                  <a:schemeClr val="bg1"/>
                </a:solidFill>
              </a:rPr>
              <a:t>Mouse</a:t>
            </a:r>
            <a:r>
              <a:rPr lang="zh-CN" altLang="en-US" sz="2400" dirty="0">
                <a:solidFill>
                  <a:schemeClr val="bg1"/>
                </a:solidFill>
              </a:rPr>
              <a:t>栏中的</a:t>
            </a:r>
            <a:r>
              <a:rPr lang="en-US" altLang="zh-CN" sz="2400" dirty="0">
                <a:solidFill>
                  <a:schemeClr val="bg1"/>
                </a:solidFill>
              </a:rPr>
              <a:t>Filter</a:t>
            </a:r>
            <a:r>
              <a:rPr lang="zh-CN" altLang="en-US" sz="2400" dirty="0">
                <a:solidFill>
                  <a:schemeClr val="bg1"/>
                </a:solidFill>
              </a:rPr>
              <a:t>里选择</a:t>
            </a:r>
            <a:r>
              <a:rPr lang="en-US" altLang="zh-CN" sz="2400" dirty="0">
                <a:solidFill>
                  <a:schemeClr val="bg1"/>
                </a:solidFill>
              </a:rPr>
              <a:t>Ignore</a:t>
            </a:r>
            <a:r>
              <a:rPr lang="zh-CN" altLang="en-US" sz="2400" dirty="0">
                <a:solidFill>
                  <a:schemeClr val="bg1"/>
                </a:solidFill>
              </a:rPr>
              <a:t>（不让这份纯色图层遮挡鼠标点击）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D642FD-878C-544E-32B4-DA841707E167}"/>
              </a:ext>
            </a:extLst>
          </p:cNvPr>
          <p:cNvSpPr/>
          <p:nvPr/>
        </p:nvSpPr>
        <p:spPr>
          <a:xfrm>
            <a:off x="8898194" y="3096001"/>
            <a:ext cx="2094271" cy="5124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416BFD6-0146-EDDC-CC74-3418CE686842}"/>
              </a:ext>
            </a:extLst>
          </p:cNvPr>
          <p:cNvSpPr/>
          <p:nvPr/>
        </p:nvSpPr>
        <p:spPr>
          <a:xfrm>
            <a:off x="8898194" y="4857135"/>
            <a:ext cx="2172929" cy="42278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88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2B45ECF-1051-E998-13BD-FE5403F77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614654"/>
            <a:ext cx="6275009" cy="474681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sz="3200" dirty="0"/>
              <a:t>选中根节点，然后点“设置节点脚本”的快捷按钮</a:t>
            </a:r>
            <a:endParaRPr lang="en-US" altLang="zh-CN" sz="32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zh-CN" sz="3200" dirty="0"/>
              <a:t>Inherits 保持 Node2D，模板选默认 / Empty</a:t>
            </a:r>
          </a:p>
          <a:p>
            <a:pPr marL="514350" indent="-514350">
              <a:buAutoNum type="arabicPeriod"/>
            </a:pPr>
            <a:r>
              <a:rPr lang="zh-CN" altLang="en-US" sz="3200" dirty="0"/>
              <a:t>路径请自己设置文件夹，文件夹命名为</a:t>
            </a:r>
            <a:r>
              <a:rPr lang="en-US" altLang="zh-CN" sz="3200" dirty="0"/>
              <a:t>Scripts</a:t>
            </a:r>
            <a:r>
              <a:rPr lang="zh-CN" altLang="en-US" sz="3200" dirty="0"/>
              <a:t>，以后的脚本就在这里存储</a:t>
            </a:r>
            <a:endParaRPr lang="en-US" altLang="zh-CN" sz="3200" dirty="0"/>
          </a:p>
          <a:p>
            <a:pPr algn="ctr"/>
            <a:endParaRPr lang="en-US" altLang="zh-CN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zh-CN" altLang="en-US" dirty="0">
                <a:solidFill>
                  <a:srgbClr val="C00000"/>
                </a:solidFill>
              </a:rPr>
              <a:t>文件管理是个技术活，请不要忽略</a:t>
            </a:r>
            <a:endParaRPr lang="en-US" altLang="zh-CN" dirty="0">
              <a:solidFill>
                <a:srgbClr val="C00000"/>
              </a:solidFill>
            </a:endParaRPr>
          </a:p>
          <a:p>
            <a:pPr marL="514350" indent="-514350">
              <a:buAutoNum type="arabicPeriod"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1FB6B37-C64E-7BA0-BC5D-635E7A2C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准备添加灵魂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116D66-A34A-E3F1-C0B1-99D3FFB3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729"/>
          <a:stretch>
            <a:fillRect/>
          </a:stretch>
        </p:blipFill>
        <p:spPr>
          <a:xfrm>
            <a:off x="7216877" y="393290"/>
            <a:ext cx="4601498" cy="622477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3933FD8-3E18-52FC-9591-6D9CED373022}"/>
              </a:ext>
            </a:extLst>
          </p:cNvPr>
          <p:cNvSpPr/>
          <p:nvPr/>
        </p:nvSpPr>
        <p:spPr>
          <a:xfrm>
            <a:off x="7364361" y="1720645"/>
            <a:ext cx="865239" cy="2458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018DFE-6707-6092-F18E-9A6081210D31}"/>
              </a:ext>
            </a:extLst>
          </p:cNvPr>
          <p:cNvSpPr/>
          <p:nvPr/>
        </p:nvSpPr>
        <p:spPr>
          <a:xfrm>
            <a:off x="9153832" y="1368847"/>
            <a:ext cx="294968" cy="2458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2417D3-08F1-435F-02D5-5713897400D9}"/>
              </a:ext>
            </a:extLst>
          </p:cNvPr>
          <p:cNvSpPr/>
          <p:nvPr/>
        </p:nvSpPr>
        <p:spPr>
          <a:xfrm>
            <a:off x="8406581" y="3903406"/>
            <a:ext cx="1740309" cy="5140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147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32B59F9-E7B8-C90D-A39F-42EED0D5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917AF81-73C0-9E01-695D-78670C68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进度已达成：整装上阵！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9CE72F-5DAE-9A3F-5612-C6DF4E297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859" y="418740"/>
            <a:ext cx="4162270" cy="8324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A7DBBE2-2C9C-A7D2-0D0F-6DEC8FAC4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26" y="1490238"/>
            <a:ext cx="9920748" cy="527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56BD65A-D79E-E42D-664D-23D85F512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zh-CN" sz="1600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1E101FC-1E8B-3377-02A6-B1ABFCA3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开始拼代码环节：代码总览（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gem.gd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A9724C-8E77-9D3D-A9E8-66838481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644" r="64597" b="1027"/>
          <a:stretch>
            <a:fillRect/>
          </a:stretch>
        </p:blipFill>
        <p:spPr>
          <a:xfrm>
            <a:off x="5919192" y="1752599"/>
            <a:ext cx="6017531" cy="44243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E6A4C8-8B8E-46D3-E342-8E21F13F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90" r="64597" b="47361"/>
          <a:stretch>
            <a:fillRect/>
          </a:stretch>
        </p:blipFill>
        <p:spPr>
          <a:xfrm>
            <a:off x="403123" y="1752599"/>
            <a:ext cx="5516070" cy="442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65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2A15A92-AE78-C19B-6E84-8DF94BB85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6" y="2769357"/>
            <a:ext cx="2654710" cy="1006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extends Node2D</a:t>
            </a:r>
          </a:p>
          <a:p>
            <a:pPr marL="0" indent="0">
              <a:buNone/>
            </a:pP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class_name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Gem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A553BC-0FB5-4EAC-B36C-7E700085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奠定全文基调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B8FA20-00F1-B93B-C5DF-1784F45A40B2}"/>
              </a:ext>
            </a:extLst>
          </p:cNvPr>
          <p:cNvSpPr/>
          <p:nvPr/>
        </p:nvSpPr>
        <p:spPr>
          <a:xfrm>
            <a:off x="894735" y="2769357"/>
            <a:ext cx="2654710" cy="10062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2BC851-92FC-ACBA-9A33-6F776A12019D}"/>
              </a:ext>
            </a:extLst>
          </p:cNvPr>
          <p:cNvSpPr txBox="1"/>
          <p:nvPr/>
        </p:nvSpPr>
        <p:spPr>
          <a:xfrm>
            <a:off x="4591664" y="1612491"/>
            <a:ext cx="67056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extends Node2D：</a:t>
            </a:r>
            <a:endParaRPr lang="en-US" altLang="zh-CN" sz="2400" b="1" dirty="0"/>
          </a:p>
          <a:p>
            <a:r>
              <a:rPr lang="en-US" altLang="zh-CN" sz="2000" dirty="0"/>
              <a:t>	</a:t>
            </a:r>
            <a:r>
              <a:rPr lang="zh-CN" altLang="zh-CN" sz="2000" dirty="0"/>
              <a:t>这个脚本继承了 Node2D 的一切</a:t>
            </a:r>
            <a:r>
              <a:rPr lang="zh-CN" altLang="en-US" sz="2000" dirty="0"/>
              <a:t>，</a:t>
            </a:r>
            <a:r>
              <a:rPr lang="zh-CN" altLang="zh-CN" sz="2000" dirty="0"/>
              <a:t>能当节点挂到场景树里，能用 position、scale 这些属性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algn="ctr"/>
            <a:r>
              <a:rPr lang="zh-CN" altLang="zh-CN" sz="2000" b="1" dirty="0"/>
              <a:t>脚本 = 给节点写「附加规则」</a:t>
            </a:r>
            <a:endParaRPr lang="en-US" altLang="zh-CN" sz="2000" b="1" dirty="0"/>
          </a:p>
          <a:p>
            <a:pPr algn="ctr"/>
            <a:endParaRPr lang="en-US" altLang="zh-CN" dirty="0"/>
          </a:p>
          <a:p>
            <a:r>
              <a:rPr lang="zh-CN" altLang="zh-CN" sz="2400" b="1" dirty="0"/>
              <a:t>class_name Gem：</a:t>
            </a:r>
            <a:endParaRPr lang="en-US" altLang="zh-CN" sz="2400" b="1" dirty="0"/>
          </a:p>
          <a:p>
            <a:r>
              <a:rPr lang="en-US" altLang="zh-CN" dirty="0"/>
              <a:t>	</a:t>
            </a:r>
            <a:r>
              <a:rPr lang="zh-CN" altLang="zh-CN" sz="2000" dirty="0"/>
              <a:t>给这个脚本起一个</a:t>
            </a:r>
            <a:r>
              <a:rPr lang="zh-CN" altLang="zh-CN" sz="2000" b="1" dirty="0"/>
              <a:t>全局名字</a:t>
            </a:r>
            <a:r>
              <a:rPr lang="zh-CN" altLang="zh-CN" sz="2000" dirty="0"/>
              <a:t>。</a:t>
            </a:r>
            <a:r>
              <a:rPr lang="zh-CN" altLang="en-US" sz="2000" dirty="0"/>
              <a:t>这之后</a:t>
            </a:r>
            <a:r>
              <a:rPr lang="zh-CN" altLang="zh-CN" sz="2000" dirty="0"/>
              <a:t>别的脚</a:t>
            </a:r>
            <a:r>
              <a:rPr lang="zh-CN" altLang="en-US" sz="2000" dirty="0"/>
              <a:t>本</a:t>
            </a:r>
            <a:r>
              <a:rPr lang="en-US" altLang="zh-CN" sz="2000" dirty="0"/>
              <a:t>(</a:t>
            </a:r>
            <a:r>
              <a:rPr lang="zh-CN" altLang="zh-CN" sz="2000" dirty="0"/>
              <a:t>board.gd</a:t>
            </a:r>
            <a:r>
              <a:rPr lang="en-US" altLang="zh-CN" sz="2000" dirty="0"/>
              <a:t>)</a:t>
            </a:r>
            <a:r>
              <a:rPr lang="zh-CN" altLang="zh-CN" sz="2000" dirty="0"/>
              <a:t>才能写 var gem: Gem</a:t>
            </a:r>
            <a:endParaRPr lang="en-US" altLang="zh-CN" sz="2000" dirty="0"/>
          </a:p>
          <a:p>
            <a:r>
              <a:rPr lang="zh-CN" altLang="zh-CN" sz="2000" dirty="0"/>
              <a:t>声明一个 Gem 类型的变量。没有这行，board.gd 只能写 var gem: Node2D，拿不到我们自定义的 type、setup() 这些东西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79FC08-ABEA-1103-6694-9598A450945C}"/>
              </a:ext>
            </a:extLst>
          </p:cNvPr>
          <p:cNvSpPr txBox="1"/>
          <p:nvPr/>
        </p:nvSpPr>
        <p:spPr>
          <a:xfrm>
            <a:off x="924232" y="5251110"/>
            <a:ext cx="101567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00B050"/>
                </a:solidFill>
              </a:rPr>
              <a:t>为什么要声明类型？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r>
              <a:rPr lang="zh-CN" altLang="zh-CN" dirty="0">
                <a:solidFill>
                  <a:srgbClr val="00B050"/>
                </a:solidFill>
              </a:rPr>
              <a:t>提前告诉 Godot</a:t>
            </a:r>
            <a:r>
              <a:rPr lang="zh-CN" altLang="en-US" dirty="0">
                <a:solidFill>
                  <a:srgbClr val="00B050"/>
                </a:solidFill>
              </a:rPr>
              <a:t>“</a:t>
            </a:r>
            <a:r>
              <a:rPr lang="zh-CN" altLang="zh-CN" dirty="0">
                <a:solidFill>
                  <a:srgbClr val="00B050"/>
                </a:solidFill>
              </a:rPr>
              <a:t>这颗宝石有 type / grid_pos / setup()</a:t>
            </a:r>
            <a:r>
              <a:rPr lang="zh-CN" altLang="en-US" dirty="0">
                <a:solidFill>
                  <a:srgbClr val="00B050"/>
                </a:solidFill>
              </a:rPr>
              <a:t>”</a:t>
            </a:r>
            <a:r>
              <a:rPr lang="zh-CN" altLang="zh-CN" dirty="0">
                <a:solidFill>
                  <a:srgbClr val="00B050"/>
                </a:solidFill>
              </a:rPr>
              <a:t>，写代码时就有</a:t>
            </a:r>
            <a:r>
              <a:rPr lang="zh-CN" altLang="zh-CN" b="1" dirty="0">
                <a:solidFill>
                  <a:srgbClr val="00B050"/>
                </a:solidFill>
              </a:rPr>
              <a:t>自动补全</a:t>
            </a:r>
            <a:r>
              <a:rPr lang="zh-CN" altLang="zh-CN" dirty="0">
                <a:solidFill>
                  <a:srgbClr val="00B050"/>
                </a:solidFill>
              </a:rPr>
              <a:t>，写错属性名会</a:t>
            </a:r>
            <a:r>
              <a:rPr lang="zh-CN" altLang="zh-CN" b="1" dirty="0">
                <a:solidFill>
                  <a:srgbClr val="00B050"/>
                </a:solidFill>
              </a:rPr>
              <a:t>立刻报错</a:t>
            </a:r>
            <a:r>
              <a:rPr lang="zh-CN" altLang="zh-CN" dirty="0">
                <a:solidFill>
                  <a:srgbClr val="00B050"/>
                </a:solidFill>
              </a:rPr>
              <a:t>，而不是运行时才炸。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4664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EEB52-38E4-AEE1-72D4-A1697367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BDDA388-E610-9F93-F5D9-B14C566C2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8" y="1652605"/>
            <a:ext cx="11100619" cy="64814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enum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GemType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{ RED, BLUE, GREEN, YELLOW, PURPLE, ORANGE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1FD7C7D-7642-F908-0416-A93527BEA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枚举宝石类型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F58C30-BEBC-2185-3CD7-BE38CB233220}"/>
              </a:ext>
            </a:extLst>
          </p:cNvPr>
          <p:cNvSpPr/>
          <p:nvPr/>
        </p:nvSpPr>
        <p:spPr>
          <a:xfrm>
            <a:off x="648928" y="1622323"/>
            <a:ext cx="11100619" cy="6784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418047-C6F4-3662-5A80-952BA00029F9}"/>
              </a:ext>
            </a:extLst>
          </p:cNvPr>
          <p:cNvSpPr txBox="1"/>
          <p:nvPr/>
        </p:nvSpPr>
        <p:spPr>
          <a:xfrm>
            <a:off x="648927" y="2506367"/>
            <a:ext cx="11100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一组</a:t>
            </a:r>
            <a:r>
              <a:rPr lang="zh-CN" altLang="zh-CN" b="1" dirty="0"/>
              <a:t>有名字的整数常量</a:t>
            </a:r>
            <a:r>
              <a:rPr lang="zh-CN" altLang="zh-CN" dirty="0"/>
              <a:t>。写完这行，RED 就是 0、BLUE 是 1、……ORANGE 是 5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请记住这个顺序</a:t>
            </a:r>
            <a:r>
              <a:rPr lang="zh-CN" altLang="en-US" dirty="0"/>
              <a:t>，因为我们后续添加宝石图片时候会用到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CB115C-B011-3E45-900A-F9BBD340E66B}"/>
              </a:ext>
            </a:extLst>
          </p:cNvPr>
          <p:cNvSpPr txBox="1"/>
          <p:nvPr/>
        </p:nvSpPr>
        <p:spPr>
          <a:xfrm>
            <a:off x="648926" y="3727151"/>
            <a:ext cx="11100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zh-CN" sz="2400" dirty="0">
                <a:latin typeface="Consolas" panose="020B0609020204030204" pitchFamily="49" charset="0"/>
              </a:rPr>
              <a:t>@export var </a:t>
            </a:r>
            <a:r>
              <a:rPr lang="en-US" altLang="zh-CN" sz="2400" dirty="0" err="1">
                <a:latin typeface="Consolas" panose="020B0609020204030204" pitchFamily="49" charset="0"/>
              </a:rPr>
              <a:t>gem_textures</a:t>
            </a:r>
            <a:r>
              <a:rPr lang="en-US" altLang="zh-CN" sz="2400" dirty="0">
                <a:latin typeface="Consolas" panose="020B0609020204030204" pitchFamily="49" charset="0"/>
              </a:rPr>
              <a:t>: Array[Texture2D] = []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560508-8930-6C16-9FCA-C57649D80295}"/>
              </a:ext>
            </a:extLst>
          </p:cNvPr>
          <p:cNvSpPr/>
          <p:nvPr/>
        </p:nvSpPr>
        <p:spPr>
          <a:xfrm>
            <a:off x="648925" y="3706696"/>
            <a:ext cx="11100619" cy="6784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FC49E9B-5F7E-4D44-0610-202073DD5806}"/>
              </a:ext>
            </a:extLst>
          </p:cNvPr>
          <p:cNvCxnSpPr/>
          <p:nvPr/>
        </p:nvCxnSpPr>
        <p:spPr>
          <a:xfrm>
            <a:off x="757082" y="4207282"/>
            <a:ext cx="117957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D454058-6C8F-86CE-D179-071F27A5831F}"/>
              </a:ext>
            </a:extLst>
          </p:cNvPr>
          <p:cNvSpPr txBox="1"/>
          <p:nvPr/>
        </p:nvSpPr>
        <p:spPr>
          <a:xfrm>
            <a:off x="700360" y="4640758"/>
            <a:ext cx="146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让变量显示在检查器中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B3BB46-4C9A-525A-0BF5-DB5AAB601852}"/>
              </a:ext>
            </a:extLst>
          </p:cNvPr>
          <p:cNvSpPr/>
          <p:nvPr/>
        </p:nvSpPr>
        <p:spPr>
          <a:xfrm>
            <a:off x="757082" y="4640758"/>
            <a:ext cx="1179574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A6CD251-0013-B486-2D47-35413F7B1897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1346869" y="4276964"/>
            <a:ext cx="148" cy="3637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81F319-C54A-9B62-6A16-F327E47DD44E}"/>
              </a:ext>
            </a:extLst>
          </p:cNvPr>
          <p:cNvCxnSpPr/>
          <p:nvPr/>
        </p:nvCxnSpPr>
        <p:spPr>
          <a:xfrm>
            <a:off x="4719482" y="4217114"/>
            <a:ext cx="254655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8C3EFB-4D1A-78DB-9214-49919FB5FDB4}"/>
              </a:ext>
            </a:extLst>
          </p:cNvPr>
          <p:cNvSpPr txBox="1"/>
          <p:nvPr/>
        </p:nvSpPr>
        <p:spPr>
          <a:xfrm>
            <a:off x="5169675" y="4779257"/>
            <a:ext cx="205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用于装贴图的数组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1415AD-3D3C-11BD-BB50-AB3957C4FE6B}"/>
              </a:ext>
            </a:extLst>
          </p:cNvPr>
          <p:cNvSpPr/>
          <p:nvPr/>
        </p:nvSpPr>
        <p:spPr>
          <a:xfrm>
            <a:off x="5169377" y="4779257"/>
            <a:ext cx="2059118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0BB6541-D87C-3836-86CA-34F0058F0E0A}"/>
              </a:ext>
            </a:extLst>
          </p:cNvPr>
          <p:cNvCxnSpPr>
            <a:cxnSpLocks/>
          </p:cNvCxnSpPr>
          <p:nvPr/>
        </p:nvCxnSpPr>
        <p:spPr>
          <a:xfrm>
            <a:off x="5948514" y="4276964"/>
            <a:ext cx="0" cy="5022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64CF3CC-AB99-2016-2669-F7109E82AE50}"/>
              </a:ext>
            </a:extLst>
          </p:cNvPr>
          <p:cNvCxnSpPr>
            <a:cxnSpLocks/>
          </p:cNvCxnSpPr>
          <p:nvPr/>
        </p:nvCxnSpPr>
        <p:spPr>
          <a:xfrm>
            <a:off x="7551172" y="4217114"/>
            <a:ext cx="41295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11D080-F961-3C2E-3999-A6CC211E7D26}"/>
              </a:ext>
            </a:extLst>
          </p:cNvPr>
          <p:cNvSpPr txBox="1"/>
          <p:nvPr/>
        </p:nvSpPr>
        <p:spPr>
          <a:xfrm>
            <a:off x="7413521" y="4640758"/>
            <a:ext cx="688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默认为空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ADFFDD-7D2E-E9FC-E87A-822FB9600F9F}"/>
              </a:ext>
            </a:extLst>
          </p:cNvPr>
          <p:cNvSpPr/>
          <p:nvPr/>
        </p:nvSpPr>
        <p:spPr>
          <a:xfrm>
            <a:off x="7363621" y="4640758"/>
            <a:ext cx="738154" cy="62220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135EAC1-D46E-753D-EF15-47EBD055C24A}"/>
              </a:ext>
            </a:extLst>
          </p:cNvPr>
          <p:cNvCxnSpPr>
            <a:cxnSpLocks/>
          </p:cNvCxnSpPr>
          <p:nvPr/>
        </p:nvCxnSpPr>
        <p:spPr>
          <a:xfrm>
            <a:off x="7762566" y="4276964"/>
            <a:ext cx="0" cy="3695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364541A-5393-09FF-5590-75307D741199}"/>
              </a:ext>
            </a:extLst>
          </p:cNvPr>
          <p:cNvSpPr txBox="1"/>
          <p:nvPr/>
        </p:nvSpPr>
        <p:spPr>
          <a:xfrm>
            <a:off x="343826" y="5495404"/>
            <a:ext cx="1171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这是</a:t>
            </a:r>
            <a:r>
              <a:rPr lang="zh-CN" altLang="en-US" sz="2000" dirty="0"/>
              <a:t>一种</a:t>
            </a:r>
            <a:r>
              <a:rPr lang="zh-CN" altLang="zh-CN" sz="2000" dirty="0"/>
              <a:t>常用的工作流：</a:t>
            </a:r>
            <a:r>
              <a:rPr lang="zh-CN" altLang="zh-CN" sz="2000" b="1" dirty="0">
                <a:solidFill>
                  <a:srgbClr val="C00000"/>
                </a:solidFill>
              </a:rPr>
              <a:t>代码声明槽位，场景负责填图</a:t>
            </a:r>
            <a:r>
              <a:rPr lang="zh-CN" altLang="zh-CN" sz="2000" dirty="0"/>
              <a:t>。以后想换贴图，去检查器改就行，不用动代码</a:t>
            </a:r>
            <a:endParaRPr lang="en-US" altLang="zh-CN" sz="2000" dirty="0"/>
          </a:p>
          <a:p>
            <a:r>
              <a:rPr lang="zh-CN" altLang="zh-CN" sz="2000" dirty="0">
                <a:solidFill>
                  <a:srgbClr val="00B050"/>
                </a:solidFill>
              </a:rPr>
              <a:t>为什么</a:t>
            </a:r>
            <a:r>
              <a:rPr lang="zh-CN" altLang="en-US" sz="2000" dirty="0">
                <a:solidFill>
                  <a:srgbClr val="00B050"/>
                </a:solidFill>
              </a:rPr>
              <a:t>“导出”</a:t>
            </a:r>
            <a:r>
              <a:rPr lang="zh-CN" altLang="zh-CN" sz="2000" dirty="0">
                <a:solidFill>
                  <a:srgbClr val="00B050"/>
                </a:solidFill>
              </a:rPr>
              <a:t>？</a:t>
            </a:r>
            <a:r>
              <a:rPr lang="en-US" altLang="zh-CN" sz="2000" dirty="0">
                <a:solidFill>
                  <a:srgbClr val="00B050"/>
                </a:solidFill>
              </a:rPr>
              <a:t> </a:t>
            </a:r>
            <a:r>
              <a:rPr lang="zh-CN" altLang="zh-CN" sz="2000" dirty="0">
                <a:solidFill>
                  <a:srgbClr val="00B050"/>
                </a:solidFill>
              </a:rPr>
              <a:t>export = 把变量导出到检查器，让不懂代码的人（策划/美术）也能改。这就是游戏引擎数据与表现分离的第一次接触。</a:t>
            </a:r>
          </a:p>
        </p:txBody>
      </p:sp>
    </p:spTree>
    <p:extLst>
      <p:ext uri="{BB962C8B-B14F-4D97-AF65-F5344CB8AC3E}">
        <p14:creationId xmlns:p14="http://schemas.microsoft.com/office/powerpoint/2010/main" val="412930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1E43-85AE-65E4-9329-FB20E522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6021B9-7EDB-E030-2A8C-48F8652FE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1" y="1723974"/>
            <a:ext cx="6042869" cy="117417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var type: int =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GemType.RED</a:t>
            </a:r>
            <a:endParaRPr lang="en-US" altLang="zh-CN" sz="24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var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grid_pos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: Vector2i = Vector2i.ZERO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8134B1-FBA6-F6DB-DDA3-46BACB16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这是什么石头？石头在哪里？（抽屉格）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F746BD-7D95-648D-36F7-C1DFD791BF2F}"/>
              </a:ext>
            </a:extLst>
          </p:cNvPr>
          <p:cNvSpPr/>
          <p:nvPr/>
        </p:nvSpPr>
        <p:spPr>
          <a:xfrm>
            <a:off x="648929" y="1622323"/>
            <a:ext cx="6145162" cy="12290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FECDEF-E4DB-DD84-6BDD-C9348272A1FF}"/>
              </a:ext>
            </a:extLst>
          </p:cNvPr>
          <p:cNvSpPr txBox="1"/>
          <p:nvPr/>
        </p:nvSpPr>
        <p:spPr>
          <a:xfrm>
            <a:off x="708991" y="3429000"/>
            <a:ext cx="1077401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定义变量：</a:t>
            </a:r>
            <a:endParaRPr lang="en-US" altLang="zh-CN" sz="3600" b="1" dirty="0"/>
          </a:p>
          <a:p>
            <a:r>
              <a:rPr lang="en-US" altLang="zh-CN" sz="3600" b="1" dirty="0"/>
              <a:t>	</a:t>
            </a:r>
            <a:r>
              <a:rPr lang="zh-CN" altLang="zh-CN" sz="2800" dirty="0"/>
              <a:t>type：这颗宝石</a:t>
            </a:r>
            <a:r>
              <a:rPr lang="zh-CN" altLang="zh-CN" sz="2800" b="1" dirty="0"/>
              <a:t>当前的颜色编号</a:t>
            </a:r>
            <a:r>
              <a:rPr lang="zh-CN" altLang="zh-CN" sz="2800" dirty="0"/>
              <a:t>（默认红色）。以后消除判定，就是比较两颗宝石的 type 相不相同</a:t>
            </a:r>
            <a:endParaRPr lang="en-US" altLang="zh-CN" sz="2800" dirty="0"/>
          </a:p>
          <a:p>
            <a:r>
              <a:rPr lang="en-US" altLang="zh-CN" sz="2800" b="1" dirty="0"/>
              <a:t>	</a:t>
            </a:r>
            <a:r>
              <a:rPr lang="zh-CN" altLang="zh-CN" sz="2800" dirty="0"/>
              <a:t>grid_pos：这颗宝石在棋盘上的坐标 </a:t>
            </a:r>
            <a:r>
              <a:rPr lang="zh-CN" altLang="zh-CN" sz="2800" b="1" dirty="0"/>
              <a:t>(col, row)</a:t>
            </a:r>
            <a:r>
              <a:rPr lang="zh-CN" altLang="zh-CN" sz="2800" dirty="0"/>
              <a:t>——第几列、第几行。Vector2i = 整数坐标（结尾的 i = integer 整数）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731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E1BFF7A-B962-30CC-6780-2A6E2A3F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8998544" cy="123304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@onready var _sprite: Sprite2D = $Sprite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@onready var _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select_mask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: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ColorRect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= $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SelectMask</a:t>
            </a:r>
            <a:endParaRPr lang="en-US" altLang="zh-CN" sz="26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B67183-B1BD-1C7E-D87B-2D2A865B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获得子节点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8B1F2D-8722-F160-A852-0CBDC811AFDB}"/>
              </a:ext>
            </a:extLst>
          </p:cNvPr>
          <p:cNvSpPr/>
          <p:nvPr/>
        </p:nvSpPr>
        <p:spPr>
          <a:xfrm>
            <a:off x="725559" y="1700981"/>
            <a:ext cx="8998544" cy="126836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8A70A4-5CA3-4CC0-F920-A42E04F6B832}"/>
              </a:ext>
            </a:extLst>
          </p:cNvPr>
          <p:cNvSpPr txBox="1"/>
          <p:nvPr/>
        </p:nvSpPr>
        <p:spPr>
          <a:xfrm>
            <a:off x="725559" y="3429000"/>
            <a:ext cx="1075745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GDScript 提供了 </a:t>
            </a:r>
            <a:r>
              <a:rPr lang="zh-CN" altLang="zh-CN" sz="2400" b="1" dirty="0"/>
              <a:t>@onready</a:t>
            </a:r>
            <a:r>
              <a:rPr lang="zh-CN" altLang="zh-CN" sz="2400" dirty="0"/>
              <a:t> 注解，能够将成员变量的初始化推迟到调用 </a:t>
            </a:r>
            <a:r>
              <a:rPr lang="zh-CN" altLang="zh-CN" sz="2400" b="1" dirty="0"/>
              <a:t>_ready(</a:t>
            </a:r>
            <a:r>
              <a:rPr lang="zh-CN" altLang="zh-CN" sz="2400" b="1"/>
              <a:t>)</a:t>
            </a:r>
            <a:r>
              <a:rPr lang="zh-CN" altLang="zh-CN" sz="2400"/>
              <a:t> </a:t>
            </a:r>
            <a:r>
              <a:rPr lang="zh-CN" altLang="en-US" sz="2400"/>
              <a:t>的</a:t>
            </a:r>
            <a:r>
              <a:rPr lang="zh-CN" altLang="zh-CN" sz="2400"/>
              <a:t>时</a:t>
            </a:r>
            <a:r>
              <a:rPr lang="zh-CN" altLang="en-US" sz="2400"/>
              <a:t>候</a:t>
            </a:r>
            <a:endParaRPr lang="en-US" altLang="zh-CN" sz="2400" dirty="0"/>
          </a:p>
          <a:p>
            <a:r>
              <a:rPr lang="zh-CN" altLang="en-US" sz="2400" dirty="0"/>
              <a:t>这样保证可以拿到子节点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$ 是 get_node() 的简写，$Sprite = 拿名为 Sprite 的子节点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3CEDA3-BF25-8282-6A0B-E75282F2E234}"/>
              </a:ext>
            </a:extLst>
          </p:cNvPr>
          <p:cNvSpPr txBox="1"/>
          <p:nvPr/>
        </p:nvSpPr>
        <p:spPr>
          <a:xfrm>
            <a:off x="725559" y="5820697"/>
            <a:ext cx="10384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</a:rPr>
              <a:t>节点名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zh-CN" b="1" dirty="0">
                <a:solidFill>
                  <a:srgbClr val="C00000"/>
                </a:solidFill>
              </a:rPr>
              <a:t>区分大小写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zh-CN" dirty="0">
                <a:solidFill>
                  <a:srgbClr val="C00000"/>
                </a:solidFill>
              </a:rPr>
              <a:t>——$sprite 和 $Sprite 是两回事。拼错名字会得到 null，运行时报错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zh-CN" dirty="0">
                <a:solidFill>
                  <a:srgbClr val="C00000"/>
                </a:solidFill>
              </a:rPr>
              <a:t>null instance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912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7604C-9289-5BB7-B4D3-580834A9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DF300E5-2709-4924-B5A5-3E363E4FB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8624918" cy="181610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set_type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: int) -&gt; void: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type =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endParaRPr lang="en-US" altLang="zh-CN" sz="26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_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sprite.texture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=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gem_textures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[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]</a:t>
            </a:r>
            <a:endParaRPr lang="zh-CN" altLang="en-US" sz="2600" dirty="0">
              <a:latin typeface="Consolas" panose="020B0609020204030204" pitchFamily="49" charset="0"/>
              <a:cs typeface="+mn-cs"/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D380E98-BB73-FE71-558A-523CF70C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换色的方法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F58E82-FEC4-D479-6879-3C234BCA5071}"/>
              </a:ext>
            </a:extLst>
          </p:cNvPr>
          <p:cNvSpPr/>
          <p:nvPr/>
        </p:nvSpPr>
        <p:spPr>
          <a:xfrm>
            <a:off x="725559" y="1700981"/>
            <a:ext cx="8624918" cy="18681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4675BEE-6BE2-24DC-D292-EC08E008BEA9}"/>
              </a:ext>
            </a:extLst>
          </p:cNvPr>
          <p:cNvCxnSpPr>
            <a:cxnSpLocks/>
          </p:cNvCxnSpPr>
          <p:nvPr/>
        </p:nvCxnSpPr>
        <p:spPr>
          <a:xfrm>
            <a:off x="1553497" y="3429000"/>
            <a:ext cx="740369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E1E2F6E-6E3A-1C96-AD89-F59F89009701}"/>
              </a:ext>
            </a:extLst>
          </p:cNvPr>
          <p:cNvSpPr txBox="1"/>
          <p:nvPr/>
        </p:nvSpPr>
        <p:spPr>
          <a:xfrm>
            <a:off x="951701" y="3854245"/>
            <a:ext cx="725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核心：</a:t>
            </a:r>
            <a:r>
              <a:rPr lang="zh-CN" altLang="zh-CN" dirty="0"/>
              <a:t>把 Sprite 的贴图换成数组里的某一张</a:t>
            </a:r>
            <a:r>
              <a:rPr lang="zh-CN" altLang="en-US" dirty="0"/>
              <a:t>，让</a:t>
            </a:r>
            <a:r>
              <a:rPr lang="zh-CN" altLang="zh-CN" b="1" dirty="0"/>
              <a:t>换色 = 改一个数字</a:t>
            </a:r>
            <a:endParaRPr lang="zh-CN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59554B-9769-0DC6-39A0-F76966E043C7}"/>
              </a:ext>
            </a:extLst>
          </p:cNvPr>
          <p:cNvSpPr/>
          <p:nvPr/>
        </p:nvSpPr>
        <p:spPr>
          <a:xfrm>
            <a:off x="951701" y="3854245"/>
            <a:ext cx="6884609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F5C7E21-33B6-435B-0B0C-20A0D3878A94}"/>
              </a:ext>
            </a:extLst>
          </p:cNvPr>
          <p:cNvCxnSpPr/>
          <p:nvPr/>
        </p:nvCxnSpPr>
        <p:spPr>
          <a:xfrm>
            <a:off x="4129548" y="3429000"/>
            <a:ext cx="0" cy="41541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53F7B8C-B69F-13F6-96BA-592B00614E03}"/>
              </a:ext>
            </a:extLst>
          </p:cNvPr>
          <p:cNvSpPr txBox="1"/>
          <p:nvPr/>
        </p:nvSpPr>
        <p:spPr>
          <a:xfrm>
            <a:off x="639097" y="4937010"/>
            <a:ext cx="10913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effectLst/>
                <a:latin typeface="Consolas" panose="020B0609020204030204" pitchFamily="49" charset="0"/>
              </a:rPr>
              <a:t>数组按下标取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gem_type 是 0~5 的编号，数组第0张是红、第1张是蓝……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编号和贴图一一对应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——这就是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2400" b="0" dirty="0">
                <a:effectLst/>
                <a:latin typeface="Consolas" panose="020B0609020204030204" pitchFamily="49" charset="0"/>
              </a:rPr>
              <a:t>20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页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说</a:t>
            </a:r>
            <a:r>
              <a:rPr lang="en-US" altLang="zh-CN" sz="2400" b="0" dirty="0"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enum 顺序很重要的原因！</a:t>
            </a:r>
          </a:p>
        </p:txBody>
      </p:sp>
    </p:spTree>
    <p:extLst>
      <p:ext uri="{BB962C8B-B14F-4D97-AF65-F5344CB8AC3E}">
        <p14:creationId xmlns:p14="http://schemas.microsoft.com/office/powerpoint/2010/main" val="418067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757C-A968-0751-30F7-66DF24E1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A85677E-C123-79CD-F132-C8D457B5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825625"/>
            <a:ext cx="9195189" cy="230358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setup(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: int, pos: Vector2i) -&gt; void: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type = 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endParaRPr lang="en-US" altLang="zh-CN" sz="26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grid_pos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 = pos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set_type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2600" dirty="0" err="1">
                <a:latin typeface="Consolas" panose="020B0609020204030204" pitchFamily="49" charset="0"/>
                <a:cs typeface="+mn-cs"/>
              </a:rPr>
              <a:t>gem_type</a:t>
            </a:r>
            <a:r>
              <a:rPr lang="en-US" altLang="zh-CN" sz="2600" dirty="0">
                <a:latin typeface="Consolas" panose="020B0609020204030204" pitchFamily="49" charset="0"/>
                <a:cs typeface="+mn-cs"/>
              </a:rPr>
              <a:t>)</a:t>
            </a:r>
            <a:endParaRPr lang="zh-CN" altLang="en-US" sz="26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0D25B0-DE7D-4338-5419-9EA86097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初始设置（登记身份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7CC69D-1CDC-5B22-93AF-2C38A352F293}"/>
              </a:ext>
            </a:extLst>
          </p:cNvPr>
          <p:cNvSpPr/>
          <p:nvPr/>
        </p:nvSpPr>
        <p:spPr>
          <a:xfrm>
            <a:off x="725558" y="1700981"/>
            <a:ext cx="9087035" cy="23695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FDA233-C4D1-8B5D-519A-C8E87873D258}"/>
              </a:ext>
            </a:extLst>
          </p:cNvPr>
          <p:cNvSpPr txBox="1"/>
          <p:nvPr/>
        </p:nvSpPr>
        <p:spPr>
          <a:xfrm>
            <a:off x="725559" y="4434348"/>
            <a:ext cx="10394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setup= 初始化函数</a:t>
            </a:r>
            <a:r>
              <a:rPr lang="en-US" altLang="zh-CN" sz="2400" dirty="0"/>
              <a:t> </a:t>
            </a:r>
            <a:r>
              <a:rPr lang="zh-CN" altLang="zh-CN" sz="2400" dirty="0"/>
              <a:t>下一部分 board.gd 生成宝石时会调：gem.setup(颜色, 坐标)</a:t>
            </a:r>
          </a:p>
          <a:p>
            <a:r>
              <a:rPr lang="zh-CN" altLang="zh-CN" sz="2400" b="1" dirty="0">
                <a:solidFill>
                  <a:srgbClr val="C00000"/>
                </a:solidFill>
              </a:rPr>
              <a:t>三行各干一件事：记下颜色 → 记下坐标 → 立刻换贴图（让画面跟上数据）</a:t>
            </a:r>
          </a:p>
          <a:p>
            <a:r>
              <a:rPr lang="zh-CN" altLang="zh-CN" sz="2400" dirty="0"/>
              <a:t>注意参数类型 int / Vector2i 和 Page D 的变量声明一一对应</a:t>
            </a:r>
            <a:r>
              <a:rPr lang="zh-CN" altLang="en-US" sz="2400" dirty="0"/>
              <a:t>，</a:t>
            </a:r>
            <a:r>
              <a:rPr lang="zh-CN" altLang="en-US" sz="2400" dirty="0">
                <a:hlinkClick r:id="rId2" action="ppaction://hlinksldjump"/>
              </a:rPr>
              <a:t>第</a:t>
            </a:r>
            <a:r>
              <a:rPr lang="en-US" altLang="zh-CN" sz="2400" dirty="0">
                <a:hlinkClick r:id="rId2" action="ppaction://hlinksldjump"/>
              </a:rPr>
              <a:t>21</a:t>
            </a:r>
            <a:r>
              <a:rPr lang="zh-CN" altLang="en-US" sz="2400" dirty="0">
                <a:hlinkClick r:id="rId2" action="ppaction://hlinksldjump"/>
              </a:rPr>
              <a:t>页</a:t>
            </a:r>
            <a:r>
              <a:rPr lang="zh-CN" altLang="en-US" sz="2400" dirty="0"/>
              <a:t>的时候</a:t>
            </a:r>
            <a:r>
              <a:rPr lang="zh-CN" altLang="zh-CN" sz="2400" dirty="0"/>
              <a:t>造了两个抽屉（type、grid_pos），setup 就是把东西放进抽屉的动作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B75C9D-668A-5626-F5D4-0DDFF2A04D2B}"/>
              </a:ext>
            </a:extLst>
          </p:cNvPr>
          <p:cNvSpPr txBox="1"/>
          <p:nvPr/>
        </p:nvSpPr>
        <p:spPr>
          <a:xfrm>
            <a:off x="5220929" y="2250455"/>
            <a:ext cx="469981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300" dirty="0">
                <a:solidFill>
                  <a:srgbClr val="00B050"/>
                </a:solidFill>
              </a:rPr>
              <a:t>为什么叫 </a:t>
            </a:r>
            <a:r>
              <a:rPr lang="zh-CN" altLang="zh-CN" sz="2300" b="1" dirty="0">
                <a:solidFill>
                  <a:srgbClr val="00B050"/>
                </a:solidFill>
              </a:rPr>
              <a:t>setup</a:t>
            </a:r>
            <a:r>
              <a:rPr lang="zh-CN" altLang="zh-CN" sz="2300" dirty="0">
                <a:solidFill>
                  <a:srgbClr val="00B050"/>
                </a:solidFill>
              </a:rPr>
              <a:t> 不叫 </a:t>
            </a:r>
            <a:r>
              <a:rPr lang="zh-CN" altLang="zh-CN" sz="2300" b="1" dirty="0">
                <a:solidFill>
                  <a:srgbClr val="00B050"/>
                </a:solidFill>
              </a:rPr>
              <a:t>init</a:t>
            </a:r>
            <a:r>
              <a:rPr lang="zh-CN" altLang="zh-CN" sz="2300" dirty="0">
                <a:solidFill>
                  <a:srgbClr val="00B050"/>
                </a:solidFill>
              </a:rPr>
              <a:t>？</a:t>
            </a:r>
            <a:endParaRPr lang="en-US" altLang="zh-CN" sz="2300" dirty="0">
              <a:solidFill>
                <a:srgbClr val="00B050"/>
              </a:solidFill>
            </a:endParaRPr>
          </a:p>
          <a:p>
            <a:endParaRPr lang="en-US" altLang="zh-CN" sz="2300" dirty="0">
              <a:solidFill>
                <a:srgbClr val="00B050"/>
              </a:solidFill>
            </a:endParaRPr>
          </a:p>
          <a:p>
            <a:r>
              <a:rPr lang="zh-CN" altLang="zh-CN" sz="2300" dirty="0">
                <a:solidFill>
                  <a:srgbClr val="00B050"/>
                </a:solidFill>
              </a:rPr>
              <a:t>名字是约定，叫什么都行；setup 是 Godot </a:t>
            </a:r>
            <a:r>
              <a:rPr lang="zh-CN" altLang="zh-CN" sz="2300" b="1" dirty="0">
                <a:solidFill>
                  <a:srgbClr val="00B050"/>
                </a:solidFill>
              </a:rPr>
              <a:t>社区常见命名</a:t>
            </a:r>
            <a:r>
              <a:rPr lang="zh-CN" altLang="zh-CN" sz="2300" dirty="0">
                <a:solidFill>
                  <a:srgbClr val="00B050"/>
                </a:solidFill>
              </a:rPr>
              <a:t>，一看就懂。约定 &gt; 个性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060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6CB981E-7850-52D0-F793-7835BAACF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89" y="1805961"/>
            <a:ext cx="10784920" cy="435133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C526211-DAF4-1642-E639-79F62C9B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回到根节点，确认新增的内容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C980A9-7418-EF3E-A695-2C405921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1" t="8748" b="5483"/>
          <a:stretch>
            <a:fillRect/>
          </a:stretch>
        </p:blipFill>
        <p:spPr>
          <a:xfrm>
            <a:off x="1433548" y="1452653"/>
            <a:ext cx="9560873" cy="5057953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DDA54EA-EEF7-45CC-A891-8AE37718578D}"/>
              </a:ext>
            </a:extLst>
          </p:cNvPr>
          <p:cNvCxnSpPr/>
          <p:nvPr/>
        </p:nvCxnSpPr>
        <p:spPr>
          <a:xfrm>
            <a:off x="2605547" y="5987845"/>
            <a:ext cx="54667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9F93C74-6787-1409-D144-5BF480261584}"/>
              </a:ext>
            </a:extLst>
          </p:cNvPr>
          <p:cNvSpPr/>
          <p:nvPr/>
        </p:nvSpPr>
        <p:spPr>
          <a:xfrm>
            <a:off x="8377083" y="2713704"/>
            <a:ext cx="2448232" cy="1258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726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47E298C-C27B-B721-6CC4-7E2502A1C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4050D9A-E08F-76E0-3043-51C6E869C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开始添加宝石贴图，处理小警告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6B979E-71E3-7CF6-FD84-7F58E41E7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9" y="1420453"/>
            <a:ext cx="10235382" cy="54375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967D72-C141-898A-557B-432EC56F4B8F}"/>
              </a:ext>
            </a:extLst>
          </p:cNvPr>
          <p:cNvSpPr txBox="1"/>
          <p:nvPr/>
        </p:nvSpPr>
        <p:spPr>
          <a:xfrm>
            <a:off x="1150374" y="3352800"/>
            <a:ext cx="256622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把警告那行先注释掉因为这节课还用不上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9943E3-5F15-8437-9587-FC3370861DB2}"/>
              </a:ext>
            </a:extLst>
          </p:cNvPr>
          <p:cNvSpPr txBox="1"/>
          <p:nvPr/>
        </p:nvSpPr>
        <p:spPr>
          <a:xfrm>
            <a:off x="2349910" y="2154915"/>
            <a:ext cx="6626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在检查器中可以看到新增的</a:t>
            </a:r>
            <a:r>
              <a:rPr lang="en-US" altLang="zh-CN" dirty="0">
                <a:solidFill>
                  <a:schemeClr val="bg1"/>
                </a:solidFill>
              </a:rPr>
              <a:t>Gem Textures</a:t>
            </a:r>
            <a:r>
              <a:rPr lang="zh-CN" altLang="en-US" dirty="0">
                <a:solidFill>
                  <a:schemeClr val="bg1"/>
                </a:solidFill>
              </a:rPr>
              <a:t>，可以开始挂图片了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（请按照枚举顺序挂载）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057EA4-0A33-3667-BC89-3E99A8B5A413}"/>
              </a:ext>
            </a:extLst>
          </p:cNvPr>
          <p:cNvSpPr/>
          <p:nvPr/>
        </p:nvSpPr>
        <p:spPr>
          <a:xfrm>
            <a:off x="1533832" y="5358581"/>
            <a:ext cx="766916" cy="1347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EF1380-D9E1-328C-4B90-F27B2860045E}"/>
              </a:ext>
            </a:extLst>
          </p:cNvPr>
          <p:cNvSpPr/>
          <p:nvPr/>
        </p:nvSpPr>
        <p:spPr>
          <a:xfrm>
            <a:off x="8790039" y="1825625"/>
            <a:ext cx="2251587" cy="5032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8568CD-9CFF-304E-67B0-4F1F788C004A}"/>
              </a:ext>
            </a:extLst>
          </p:cNvPr>
          <p:cNvSpPr/>
          <p:nvPr/>
        </p:nvSpPr>
        <p:spPr>
          <a:xfrm>
            <a:off x="4178710" y="4483510"/>
            <a:ext cx="3834580" cy="2359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DB051B8-2586-F588-10AD-362F2A9BE4E3}"/>
              </a:ext>
            </a:extLst>
          </p:cNvPr>
          <p:cNvCxnSpPr/>
          <p:nvPr/>
        </p:nvCxnSpPr>
        <p:spPr>
          <a:xfrm>
            <a:off x="2438400" y="5948516"/>
            <a:ext cx="62238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395A968-6E86-86F7-7FC0-DEB2ECF3C960}"/>
              </a:ext>
            </a:extLst>
          </p:cNvPr>
          <p:cNvCxnSpPr/>
          <p:nvPr/>
        </p:nvCxnSpPr>
        <p:spPr>
          <a:xfrm>
            <a:off x="4178710" y="3352800"/>
            <a:ext cx="39918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EF034A2-4D14-3716-8760-E334F4C391ED}"/>
              </a:ext>
            </a:extLst>
          </p:cNvPr>
          <p:cNvCxnSpPr/>
          <p:nvPr/>
        </p:nvCxnSpPr>
        <p:spPr>
          <a:xfrm>
            <a:off x="8170606" y="3195484"/>
            <a:ext cx="4129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941A809-BD03-67A2-18BD-9ED342F96ADB}"/>
              </a:ext>
            </a:extLst>
          </p:cNvPr>
          <p:cNvCxnSpPr/>
          <p:nvPr/>
        </p:nvCxnSpPr>
        <p:spPr>
          <a:xfrm>
            <a:off x="3539613" y="4041058"/>
            <a:ext cx="471948" cy="442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856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BD8CDF0-AE66-7B6B-F2E0-D48F34737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8" y="1514168"/>
            <a:ext cx="10883241" cy="5171767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DB3DA050-69A0-5E2E-01E2-866CBE6F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达成成就：钻石！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6C92ED-7BE1-6FDF-27B3-634D7B2C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271" t="62161" r="33410" b="17057"/>
          <a:stretch>
            <a:fillRect/>
          </a:stretch>
        </p:blipFill>
        <p:spPr>
          <a:xfrm>
            <a:off x="8996516" y="110022"/>
            <a:ext cx="1258826" cy="12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91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1B2D39E-B7BF-9CEC-A21C-C89F25F33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左上角，场景，新建场景，创建根节点</a:t>
            </a:r>
            <a:r>
              <a:rPr lang="en-US" altLang="zh-CN" dirty="0"/>
              <a:t>Node2D</a:t>
            </a:r>
            <a:r>
              <a:rPr lang="zh-CN" altLang="en-US" dirty="0"/>
              <a:t>，命名为</a:t>
            </a:r>
            <a:r>
              <a:rPr lang="en-US" altLang="zh-CN" dirty="0"/>
              <a:t>Main</a:t>
            </a:r>
          </a:p>
          <a:p>
            <a:pPr marL="514350" indent="-514350">
              <a:buAutoNum type="arabicPeriod"/>
            </a:pPr>
            <a:r>
              <a:rPr lang="zh-CN" altLang="en-US" dirty="0"/>
              <a:t>右键</a:t>
            </a:r>
            <a:r>
              <a:rPr lang="en-US" altLang="zh-CN" dirty="0"/>
              <a:t>Main</a:t>
            </a:r>
            <a:r>
              <a:rPr lang="zh-CN" altLang="en-US" dirty="0"/>
              <a:t>，添加</a:t>
            </a:r>
            <a:r>
              <a:rPr lang="en-US" altLang="zh-CN" dirty="0"/>
              <a:t>Node2D</a:t>
            </a:r>
            <a:r>
              <a:rPr lang="zh-CN" altLang="en-US" dirty="0"/>
              <a:t>子节点，命名为</a:t>
            </a:r>
            <a:r>
              <a:rPr lang="en-US" altLang="zh-CN" dirty="0"/>
              <a:t>Board</a:t>
            </a:r>
            <a:r>
              <a:rPr lang="zh-CN" altLang="en-US" dirty="0"/>
              <a:t>（棋盘）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为</a:t>
            </a:r>
            <a:r>
              <a:rPr lang="en-US" altLang="zh-CN" dirty="0"/>
              <a:t>Board</a:t>
            </a:r>
            <a:r>
              <a:rPr lang="zh-CN" altLang="en-US" dirty="0"/>
              <a:t>添加脚本，命名为</a:t>
            </a:r>
            <a:r>
              <a:rPr lang="en-US" altLang="zh-CN" dirty="0"/>
              <a:t>board.gd</a:t>
            </a:r>
            <a:r>
              <a:rPr lang="zh-CN" altLang="en-US" dirty="0"/>
              <a:t>，放在</a:t>
            </a:r>
            <a:r>
              <a:rPr lang="en-US" altLang="zh-CN" dirty="0"/>
              <a:t>Scripts</a:t>
            </a:r>
            <a:r>
              <a:rPr lang="zh-CN" altLang="en-US" dirty="0"/>
              <a:t>文件夹下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保存，将此场景命名为</a:t>
            </a:r>
            <a:r>
              <a:rPr lang="en-US" altLang="zh-CN" dirty="0" err="1"/>
              <a:t>main.tscn</a:t>
            </a:r>
            <a:r>
              <a:rPr lang="zh-CN" altLang="en-US" dirty="0"/>
              <a:t>，放在</a:t>
            </a:r>
            <a:r>
              <a:rPr lang="en-US" altLang="zh-CN" dirty="0"/>
              <a:t>Scenes</a:t>
            </a:r>
            <a:r>
              <a:rPr lang="zh-CN" altLang="en-US" dirty="0"/>
              <a:t>文件夹下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保存后，在当前场景按</a:t>
            </a:r>
            <a:r>
              <a:rPr lang="en-US" altLang="zh-CN" dirty="0"/>
              <a:t>F5</a:t>
            </a:r>
            <a:r>
              <a:rPr lang="zh-CN" altLang="en-US" dirty="0"/>
              <a:t>以确认主场景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sz="2000" dirty="0">
                <a:solidFill>
                  <a:schemeClr val="accent6"/>
                </a:solidFill>
              </a:rPr>
              <a:t>（</a:t>
            </a:r>
            <a:r>
              <a:rPr lang="zh-CN" altLang="zh-CN" sz="2000" dirty="0">
                <a:solidFill>
                  <a:schemeClr val="accent6"/>
                </a:solidFill>
              </a:rPr>
              <a:t>如果你已经将别的场景设置为“主场景”了，你可以在“文件系统”面板上右键点击 </a:t>
            </a:r>
            <a:r>
              <a:rPr lang="zh-CN" altLang="zh-CN" sz="2000" b="1" dirty="0">
                <a:solidFill>
                  <a:schemeClr val="accent6"/>
                </a:solidFill>
              </a:rPr>
              <a:t>main.tscn</a:t>
            </a:r>
            <a:r>
              <a:rPr lang="zh-CN" altLang="zh-CN" sz="2000" dirty="0">
                <a:solidFill>
                  <a:schemeClr val="accent6"/>
                </a:solidFill>
              </a:rPr>
              <a:t> 并选择“设为主场景”</a:t>
            </a:r>
            <a:r>
              <a:rPr lang="zh-CN" altLang="en-US" sz="2000" dirty="0">
                <a:solidFill>
                  <a:schemeClr val="accent6"/>
                </a:solidFill>
              </a:rPr>
              <a:t>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15F51B-81A5-F073-656A-CECDFF5B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是时候开始准备主场景了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13F5FA-7120-E38C-4CCC-6C8AB68F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781" b="86094"/>
          <a:stretch>
            <a:fillRect/>
          </a:stretch>
        </p:blipFill>
        <p:spPr>
          <a:xfrm>
            <a:off x="7363536" y="395351"/>
            <a:ext cx="4102907" cy="120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94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37D8FDE-8AB9-E6C3-E653-6CEF2285C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465006"/>
            <a:ext cx="10740884" cy="49554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dirty="0"/>
              <a:t>一、生成棋盘（64 颗宝石）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开场 _ready：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① 算好棋盘居中位置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② 铺满棋盘：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清空旧的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对每一列 col（0~7）：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对每一行 row（0~7）：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r>
              <a:rPr lang="zh-CN" altLang="zh-CN" dirty="0"/>
              <a:t>随机颜色 → 造一颗宝石 → 放到该格 → 登记</a:t>
            </a:r>
            <a:br>
              <a:rPr lang="zh-CN" altLang="zh-CN" dirty="0"/>
            </a:b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二、排除初始三消（体验保护）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循环（最多 100 次）：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查出所有「连续 ≥3 个同色」的宝石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没有 → 完成！开局成立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有 → 把那些宝石换成随机颜色 → 再查一遍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68FFE2-3DA6-344E-D9DF-0D1F94CA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board.gd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需要做的：</a:t>
            </a:r>
          </a:p>
        </p:txBody>
      </p:sp>
    </p:spTree>
    <p:extLst>
      <p:ext uri="{BB962C8B-B14F-4D97-AF65-F5344CB8AC3E}">
        <p14:creationId xmlns:p14="http://schemas.microsoft.com/office/powerpoint/2010/main" val="3789368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8ADAB8-9E87-600E-9356-AF26EFA5C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313" y="1832510"/>
            <a:ext cx="4141409" cy="121254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const GRID_SIZE := 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const CELL_SIZE := 64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59A92B-3E70-6C6B-4128-78AD526F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原料：棋盘的格子和大小，准备实例化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41A443-FA8C-C716-0C95-DBF9BFB6BF74}"/>
              </a:ext>
            </a:extLst>
          </p:cNvPr>
          <p:cNvSpPr/>
          <p:nvPr/>
        </p:nvSpPr>
        <p:spPr>
          <a:xfrm>
            <a:off x="725560" y="1700981"/>
            <a:ext cx="4003756" cy="13371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45A8A4-77AF-1C59-BDA2-010E791D7ACB}"/>
              </a:ext>
            </a:extLst>
          </p:cNvPr>
          <p:cNvSpPr txBox="1"/>
          <p:nvPr/>
        </p:nvSpPr>
        <p:spPr>
          <a:xfrm>
            <a:off x="5102942" y="1700981"/>
            <a:ext cx="6125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</a:t>
            </a:r>
            <a:r>
              <a:rPr lang="zh-CN" altLang="zh-CN" sz="2400" dirty="0"/>
              <a:t>onst</a:t>
            </a:r>
            <a:r>
              <a:rPr lang="en-US" altLang="zh-CN" sz="2400" dirty="0"/>
              <a:t> </a:t>
            </a:r>
            <a:r>
              <a:rPr lang="zh-CN" altLang="zh-CN" sz="2400" dirty="0"/>
              <a:t>= </a:t>
            </a:r>
            <a:r>
              <a:rPr lang="zh-CN" altLang="zh-CN" sz="2400" b="1" dirty="0"/>
              <a:t>常量</a:t>
            </a:r>
            <a:r>
              <a:rPr lang="zh-CN" altLang="zh-CN" sz="2400" dirty="0"/>
              <a:t>：定下来就不能改的数值（区别于 var 变量）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C8957-B51D-966D-8486-71F52011873C}"/>
              </a:ext>
            </a:extLst>
          </p:cNvPr>
          <p:cNvSpPr txBox="1"/>
          <p:nvPr/>
        </p:nvSpPr>
        <p:spPr>
          <a:xfrm>
            <a:off x="725559" y="3639340"/>
            <a:ext cx="108548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800" b="0" dirty="0">
                <a:effectLst/>
                <a:latin typeface="Consolas" panose="020B0609020204030204" pitchFamily="49" charset="0"/>
              </a:rPr>
              <a:t>const GEM_SCENE := preload("res://</a:t>
            </a:r>
            <a:r>
              <a:rPr lang="en-US" altLang="zh-CN" sz="2800" b="0" dirty="0">
                <a:effectLst/>
                <a:latin typeface="Consolas" panose="020B0609020204030204" pitchFamily="49" charset="0"/>
              </a:rPr>
              <a:t>S</a:t>
            </a:r>
            <a:r>
              <a:rPr lang="zh-CN" altLang="zh-CN" sz="2800" b="0" dirty="0">
                <a:effectLst/>
                <a:latin typeface="Consolas" panose="020B0609020204030204" pitchFamily="49" charset="0"/>
              </a:rPr>
              <a:t>cenes/gem.tscn")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5FAABE-4CE3-22D2-FA68-947049528033}"/>
              </a:ext>
            </a:extLst>
          </p:cNvPr>
          <p:cNvSpPr/>
          <p:nvPr/>
        </p:nvSpPr>
        <p:spPr>
          <a:xfrm>
            <a:off x="725559" y="3574028"/>
            <a:ext cx="10247241" cy="6538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6DC0F6-47BD-B318-2D9F-EBE11D87B645}"/>
              </a:ext>
            </a:extLst>
          </p:cNvPr>
          <p:cNvSpPr txBox="1"/>
          <p:nvPr/>
        </p:nvSpPr>
        <p:spPr>
          <a:xfrm>
            <a:off x="835741" y="4538708"/>
            <a:ext cx="100190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effectLst/>
                <a:latin typeface="Consolas" panose="020B0609020204030204" pitchFamily="49" charset="0"/>
              </a:rPr>
              <a:t>preload("...")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= 启动时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提前加载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指定的场景文件，存进 GEM_SCENE</a:t>
            </a:r>
            <a:endParaRPr lang="en-US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zh-CN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1" dirty="0">
                <a:effectLst/>
                <a:latin typeface="Consolas" panose="020B0609020204030204" pitchFamily="49" charset="0"/>
              </a:rPr>
              <a:t>gem.tscn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是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“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图纸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”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，GEM_SCENE</a:t>
            </a:r>
            <a:r>
              <a:rPr lang="en-US" altLang="zh-CN" sz="2400" b="0" dirty="0"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是拿在手里的图纸副本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。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之后用它 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“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instantiate()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”（实例化）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照图纸造宝石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D98B33-E689-05C0-4D1A-68AA9F119022}"/>
              </a:ext>
            </a:extLst>
          </p:cNvPr>
          <p:cNvSpPr/>
          <p:nvPr/>
        </p:nvSpPr>
        <p:spPr>
          <a:xfrm>
            <a:off x="5928852" y="3639340"/>
            <a:ext cx="4925960" cy="5232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166B9B-C002-BFCE-011F-E44CE7E3D85A}"/>
              </a:ext>
            </a:extLst>
          </p:cNvPr>
          <p:cNvSpPr txBox="1"/>
          <p:nvPr/>
        </p:nvSpPr>
        <p:spPr>
          <a:xfrm>
            <a:off x="7438102" y="3244334"/>
            <a:ext cx="209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注意大小写！！！</a:t>
            </a:r>
          </a:p>
        </p:txBody>
      </p:sp>
    </p:spTree>
    <p:extLst>
      <p:ext uri="{BB962C8B-B14F-4D97-AF65-F5344CB8AC3E}">
        <p14:creationId xmlns:p14="http://schemas.microsoft.com/office/powerpoint/2010/main" val="1403554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57A5D43-972A-2BEF-07CE-A3255D35C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546" y="1781816"/>
            <a:ext cx="7012427" cy="1049874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var grid: Array = []</a:t>
            </a:r>
          </a:p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var origin: Vector2 = Vector2.ZERO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CE4759-D6B6-00F3-04A3-95B5DB14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继续弄原料：待填满的数组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D4E2DA-A1D1-2FBD-6578-6103B0A3E072}"/>
              </a:ext>
            </a:extLst>
          </p:cNvPr>
          <p:cNvSpPr/>
          <p:nvPr/>
        </p:nvSpPr>
        <p:spPr>
          <a:xfrm>
            <a:off x="725559" y="1700981"/>
            <a:ext cx="7012427" cy="11995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9B46B6-5109-0EA6-21A6-416C4EA74FD9}"/>
              </a:ext>
            </a:extLst>
          </p:cNvPr>
          <p:cNvSpPr txBox="1"/>
          <p:nvPr/>
        </p:nvSpPr>
        <p:spPr>
          <a:xfrm>
            <a:off x="617404" y="3758742"/>
            <a:ext cx="107408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grid：二维数组 grid[col][row]，记录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每格放了哪颗宝石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（元素是 Gem 或 null 空位）</a:t>
            </a:r>
          </a:p>
          <a:p>
            <a:pPr>
              <a:buNone/>
            </a:pPr>
            <a:r>
              <a:rPr lang="zh-CN" altLang="zh-CN" sz="2400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先列后行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：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第一维是列、第二维是行，和先横后竖的直觉相反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，请记住先列后行的顺序，后面填充宝石时候会用到</a:t>
            </a:r>
            <a:endParaRPr lang="zh-CN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origin：棋盘左上角的世界坐标（Vector2 位置），居中时用它当起点</a:t>
            </a:r>
            <a:endParaRPr lang="en-US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现在都是空的</a:t>
            </a:r>
            <a:r>
              <a:rPr lang="zh-CN" altLang="en-US" sz="2400" b="0" dirty="0">
                <a:effectLst/>
                <a:latin typeface="Consolas" panose="020B0609020204030204" pitchFamily="49" charset="0"/>
              </a:rPr>
              <a:t>，但 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_ready 会负责填上</a:t>
            </a:r>
          </a:p>
        </p:txBody>
      </p:sp>
    </p:spTree>
    <p:extLst>
      <p:ext uri="{BB962C8B-B14F-4D97-AF65-F5344CB8AC3E}">
        <p14:creationId xmlns:p14="http://schemas.microsoft.com/office/powerpoint/2010/main" val="8522427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35F62F0-2D81-C002-8764-4080FD4A9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098028" cy="937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func random_gem_type() -&gt; int: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dirty="0">
                <a:latin typeface="Consolas" panose="020B0609020204030204" pitchFamily="49" charset="0"/>
                <a:cs typeface="+mn-cs"/>
              </a:rPr>
              <a:t>return randi() % 6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F838574-B8D4-2FD5-10B0-34E96057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零件：随机宝石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8EE1AC-E421-087D-6AF7-DFCE8444D7F5}"/>
              </a:ext>
            </a:extLst>
          </p:cNvPr>
          <p:cNvSpPr/>
          <p:nvPr/>
        </p:nvSpPr>
        <p:spPr>
          <a:xfrm>
            <a:off x="725560" y="1700981"/>
            <a:ext cx="6176685" cy="11995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E3CE92-FF92-3FD5-661A-F1758E496E2A}"/>
              </a:ext>
            </a:extLst>
          </p:cNvPr>
          <p:cNvSpPr txBox="1"/>
          <p:nvPr/>
        </p:nvSpPr>
        <p:spPr>
          <a:xfrm>
            <a:off x="815063" y="3541986"/>
            <a:ext cx="105618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randi() = 随机整数；</a:t>
            </a:r>
            <a:endParaRPr lang="en-US" altLang="zh-CN" sz="2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zh-CN" sz="2400" b="0" dirty="0">
                <a:effectLst/>
                <a:latin typeface="Consolas" panose="020B0609020204030204" pitchFamily="49" charset="0"/>
              </a:rPr>
              <a:t>% 6 = 除以 6 取余数 → 结果永远落在 </a:t>
            </a:r>
            <a:r>
              <a:rPr lang="zh-CN" altLang="zh-CN" sz="2400" b="1" dirty="0">
                <a:effectLst/>
                <a:latin typeface="Consolas" panose="020B0609020204030204" pitchFamily="49" charset="0"/>
              </a:rPr>
              <a:t>0~5</a:t>
            </a:r>
            <a:r>
              <a:rPr lang="zh-CN" altLang="zh-CN" sz="2400" b="0" dirty="0">
                <a:effectLst/>
                <a:latin typeface="Consolas" panose="020B0609020204030204" pitchFamily="49" charset="0"/>
              </a:rPr>
              <a:t>，正好对应 GemType 六色编号</a:t>
            </a:r>
          </a:p>
        </p:txBody>
      </p:sp>
    </p:spTree>
    <p:extLst>
      <p:ext uri="{BB962C8B-B14F-4D97-AF65-F5344CB8AC3E}">
        <p14:creationId xmlns:p14="http://schemas.microsoft.com/office/powerpoint/2010/main" val="2612252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407038-376F-681B-0797-0EBAB037F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825625"/>
            <a:ext cx="10866673" cy="1074891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  <a:cs typeface="+mn-cs"/>
              </a:rPr>
              <a:t>func grid_to_world(pos: Vector2i) -&gt; Vector2: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dirty="0">
                <a:latin typeface="Consolas" panose="020B0609020204030204" pitchFamily="49" charset="0"/>
                <a:cs typeface="+mn-cs"/>
              </a:rPr>
              <a:t>return origin + Vector2(pos.x, pos.y) * CELL_SIZE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E73A18A-59CA-C001-4CF1-29AF321B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零件：逻辑坐标 → 像素坐标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883D88-CC6A-72B0-5DA3-3E8831687DEB}"/>
              </a:ext>
            </a:extLst>
          </p:cNvPr>
          <p:cNvSpPr/>
          <p:nvPr/>
        </p:nvSpPr>
        <p:spPr>
          <a:xfrm>
            <a:off x="725560" y="1700981"/>
            <a:ext cx="10740881" cy="11995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C1120A-F929-54A6-BF19-52022B3A6305}"/>
              </a:ext>
            </a:extLst>
          </p:cNvPr>
          <p:cNvSpPr txBox="1"/>
          <p:nvPr/>
        </p:nvSpPr>
        <p:spPr>
          <a:xfrm>
            <a:off x="1917290" y="5157019"/>
            <a:ext cx="83574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/>
              <a:t>像素位置 = 棋盘左上角 + 格子坐标 × 格子大小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9D93E4-24A8-4EE2-2342-68C187419D06}"/>
              </a:ext>
            </a:extLst>
          </p:cNvPr>
          <p:cNvSpPr txBox="1"/>
          <p:nvPr/>
        </p:nvSpPr>
        <p:spPr>
          <a:xfrm>
            <a:off x="1071716" y="3293806"/>
            <a:ext cx="985192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格子是</a:t>
            </a:r>
            <a:r>
              <a:rPr lang="zh-CN" altLang="zh-CN" sz="2800" b="1" dirty="0"/>
              <a:t>逻辑坐标 (col, row) </a:t>
            </a:r>
            <a:r>
              <a:rPr lang="zh-CN" altLang="zh-CN" sz="2800" dirty="0"/>
              <a:t>，屏幕要</a:t>
            </a:r>
            <a:r>
              <a:rPr lang="zh-CN" altLang="zh-CN" sz="2800" b="1" dirty="0"/>
              <a:t>像素坐标</a:t>
            </a:r>
            <a:r>
              <a:rPr lang="zh-CN" altLang="en-US" sz="2800" b="1" dirty="0"/>
              <a:t>，是</a:t>
            </a:r>
            <a:r>
              <a:rPr lang="zh-CN" altLang="zh-CN" sz="2800" dirty="0"/>
              <a:t>两套坐标系（gem.gd 第 21 页埋过这个伏笔）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636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969955D-DD5A-F7D3-5BDB-5AA678BB0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36" y="1815793"/>
            <a:ext cx="7966158" cy="243174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func _spawn_gem(gem_type: int, pos: Vector2i) -&gt; Gem: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var gem: Gem = GEM_SCENE.instantiate() as Ge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m</a:t>
            </a:r>
            <a:endParaRPr lang="zh-CN" altLang="zh-CN" sz="2000" dirty="0">
              <a:latin typeface="Consolas" panose="020B0609020204030204" pitchFamily="49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gem.position = grid_to_world(pos)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add_child(gem)</a:t>
            </a:r>
            <a:endParaRPr lang="en-US" altLang="zh-CN" sz="2000" dirty="0">
              <a:latin typeface="Consolas" panose="020B0609020204030204" pitchFamily="49" charset="0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gem.setup(gem_type, pos)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return gem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D78DD2-AB17-A6A1-FC52-97865FA1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有了原料和零件，那么我们开始组装吧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CE4898-3D7F-8037-AAED-91925A6F8CBD}"/>
              </a:ext>
            </a:extLst>
          </p:cNvPr>
          <p:cNvSpPr/>
          <p:nvPr/>
        </p:nvSpPr>
        <p:spPr>
          <a:xfrm>
            <a:off x="627236" y="1700981"/>
            <a:ext cx="7681023" cy="25465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BEA583-3B51-69D9-C671-A737C1CB710D}"/>
              </a:ext>
            </a:extLst>
          </p:cNvPr>
          <p:cNvSpPr txBox="1"/>
          <p:nvPr/>
        </p:nvSpPr>
        <p:spPr>
          <a:xfrm>
            <a:off x="8308259" y="2131507"/>
            <a:ext cx="4090218" cy="211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 ① 照图纸复制一个实例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② 摆到 (col,row) 格的像素位置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③ 挂到棋盘节点下（进树）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④ 登记：颜色 + 坐标（gem.setup）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 ⑤ 交出去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5A33EB-DEDC-FE64-F7C7-75313E53D51D}"/>
              </a:ext>
            </a:extLst>
          </p:cNvPr>
          <p:cNvSpPr txBox="1"/>
          <p:nvPr/>
        </p:nvSpPr>
        <p:spPr>
          <a:xfrm>
            <a:off x="412956" y="4542503"/>
            <a:ext cx="114447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/>
              <a:t>场景实例化（本课最重要概念）</a:t>
            </a:r>
            <a:r>
              <a:rPr lang="zh-CN" altLang="zh-CN" sz="2000" dirty="0"/>
              <a:t>：GEM_SCENE.instantiate() = 照图纸（gem.tscn）复制出一个真实宝石节点。64 颗宝石 = 调了 64 次 _spawn_gem</a:t>
            </a:r>
            <a:endParaRPr lang="en-US" altLang="zh-CN" sz="2000" dirty="0"/>
          </a:p>
          <a:p>
            <a:r>
              <a:rPr lang="zh-CN" altLang="zh-CN" sz="2000" b="1" dirty="0"/>
              <a:t>三步顺序不能反</a:t>
            </a:r>
            <a:r>
              <a:rPr lang="zh-CN" altLang="zh-CN" sz="2000" dirty="0"/>
              <a:t>：摆位置 → 进树（add_child）→ setup——因为 gem.gd 的 @onready 变量</a:t>
            </a:r>
            <a:r>
              <a:rPr lang="zh-CN" altLang="zh-CN" sz="2000" b="1" dirty="0"/>
              <a:t>必须先进场景树才能取到子节点</a:t>
            </a:r>
            <a:r>
              <a:rPr lang="zh-CN" altLang="zh-CN" sz="2000" dirty="0"/>
              <a:t>（gem.gd 第 22 页）</a:t>
            </a:r>
          </a:p>
          <a:p>
            <a:r>
              <a:rPr lang="zh-CN" altLang="zh-CN" sz="2000" dirty="0"/>
              <a:t>as Gem：把复制出来的节点转成 Gem 类型——这就是 gem.gd 写 `class_name Gem` 的原因（gem.gd 第 19 页）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25E5C4-F9EA-0CD8-95AE-990F3DB47835}"/>
              </a:ext>
            </a:extLst>
          </p:cNvPr>
          <p:cNvSpPr txBox="1"/>
          <p:nvPr/>
        </p:nvSpPr>
        <p:spPr>
          <a:xfrm>
            <a:off x="8824452" y="1753191"/>
            <a:ext cx="3195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生成宝石</a:t>
            </a:r>
          </a:p>
        </p:txBody>
      </p:sp>
    </p:spTree>
    <p:extLst>
      <p:ext uri="{BB962C8B-B14F-4D97-AF65-F5344CB8AC3E}">
        <p14:creationId xmlns:p14="http://schemas.microsoft.com/office/powerpoint/2010/main" val="2179307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06566F-E279-363F-8B19-1C38019AE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405" y="1651898"/>
            <a:ext cx="10740884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func fill_grid()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for child in get_children():# ① 删掉旧宝石节点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child.queue_free()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grid.clear() # ② 清空数据表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for col in range(GRID_SIZE):# ③ 外层：逐列（8 列）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var column: Array = []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for row in range(GRID_SIZE):# 内层：该列逐行（8 行）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var pos := Vector2i(col, row)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column.append(_spawn_gem(random_gem_type(), pos))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900" dirty="0">
                <a:latin typeface="Consolas" panose="020B0609020204030204" pitchFamily="49" charset="0"/>
                <a:cs typeface="+mn-cs"/>
              </a:rPr>
              <a:t>		</a:t>
            </a:r>
            <a:r>
              <a:rPr lang="zh-CN" altLang="zh-CN" sz="1900" dirty="0">
                <a:latin typeface="Consolas" panose="020B0609020204030204" pitchFamily="49" charset="0"/>
                <a:cs typeface="+mn-cs"/>
              </a:rPr>
              <a:t>grid.append(column)# ④ 整列装进 grid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DA3B46-71C6-10F1-38B9-51169F2D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让宝石填满全格：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清场 → 清表 → 双层循环 → 装表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C9AEA1-30F3-649D-F601-78A6DD74F39F}"/>
              </a:ext>
            </a:extLst>
          </p:cNvPr>
          <p:cNvSpPr/>
          <p:nvPr/>
        </p:nvSpPr>
        <p:spPr>
          <a:xfrm>
            <a:off x="627236" y="1700981"/>
            <a:ext cx="9480325" cy="41197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FD6ABF-5884-6479-3B40-E3762699B7E0}"/>
              </a:ext>
            </a:extLst>
          </p:cNvPr>
          <p:cNvSpPr txBox="1"/>
          <p:nvPr/>
        </p:nvSpPr>
        <p:spPr>
          <a:xfrm>
            <a:off x="617406" y="6076335"/>
            <a:ext cx="10740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00B050"/>
                </a:solidFill>
              </a:rPr>
              <a:t>为什么先攒一个column数组再塞进 grid？呼应：grid[col][row] </a:t>
            </a:r>
            <a:r>
              <a:rPr lang="zh-CN" altLang="zh-CN" sz="2000" b="1" dirty="0">
                <a:solidFill>
                  <a:srgbClr val="00B050"/>
                </a:solidFill>
              </a:rPr>
              <a:t>先列后行</a:t>
            </a:r>
            <a:r>
              <a:rPr lang="zh-CN" altLang="zh-CN" sz="2000" dirty="0">
                <a:solidFill>
                  <a:srgbClr val="00B050"/>
                </a:solidFill>
              </a:rPr>
              <a:t>，一列齐了整列塞进去</a:t>
            </a:r>
          </a:p>
        </p:txBody>
      </p:sp>
    </p:spTree>
    <p:extLst>
      <p:ext uri="{BB962C8B-B14F-4D97-AF65-F5344CB8AC3E}">
        <p14:creationId xmlns:p14="http://schemas.microsoft.com/office/powerpoint/2010/main" val="3480598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619F1A7-E5B1-0CAD-1EFE-A5DF3749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zh-CN" altLang="en-US" sz="100" dirty="0">
              <a:latin typeface="+mn-lt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5F804DF-7C7B-4BF7-3A83-C01790640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临时借用，判断三消是否成立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4335D5D-278E-35B9-92E5-385B554F9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2421"/>
              </p:ext>
            </p:extLst>
          </p:nvPr>
        </p:nvGraphicFramePr>
        <p:xfrm>
          <a:off x="2771681" y="1825625"/>
          <a:ext cx="6648637" cy="3612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952677" imgH="517956" progId="Package">
                  <p:embed/>
                </p:oleObj>
              </mc:Choice>
              <mc:Fallback>
                <p:oleObj name="包装程序外壳对象" showAsIcon="1" r:id="rId2" imgW="952677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1681" y="1825625"/>
                        <a:ext cx="6648637" cy="3612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022866B-9BC1-44BB-93F2-4E11B15D6156}"/>
              </a:ext>
            </a:extLst>
          </p:cNvPr>
          <p:cNvSpPr txBox="1"/>
          <p:nvPr/>
        </p:nvSpPr>
        <p:spPr>
          <a:xfrm>
            <a:off x="3722016" y="5438051"/>
            <a:ext cx="4747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这一部分有些多所以就直接文件贴上来了，后面一节课会好好讲这部分的（跪）</a:t>
            </a:r>
          </a:p>
        </p:txBody>
      </p:sp>
    </p:spTree>
    <p:extLst>
      <p:ext uri="{BB962C8B-B14F-4D97-AF65-F5344CB8AC3E}">
        <p14:creationId xmlns:p14="http://schemas.microsoft.com/office/powerpoint/2010/main" val="4029685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C702AA4-3570-C1AF-EDC7-012457AE3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36" y="1569987"/>
            <a:ext cx="10384893" cy="472266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ensure_no_initial_matches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var safety := 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while safety &lt; 100: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	var matches :=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find_matches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#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找出当前所有匹配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		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if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matches.is_empty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		return #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没有匹配了，稳定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		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for gem in matches: #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有匹配 → 每颗换随机色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			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(gem as Gem).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set_type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random_gem_type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	safety += 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push_warning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("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ensure_no_initial_matches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: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超过安全次数仍有匹配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")</a:t>
            </a:r>
            <a:endParaRPr lang="zh-CN" altLang="en-US" sz="20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F36248-ECB2-3AAB-5480-AE531564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保证游戏体验：开局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查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已有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匹配 → 有就换随机色 → 再查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884FEB-1EAB-7E8B-3BB3-8B4A749181BA}"/>
              </a:ext>
            </a:extLst>
          </p:cNvPr>
          <p:cNvSpPr/>
          <p:nvPr/>
        </p:nvSpPr>
        <p:spPr>
          <a:xfrm>
            <a:off x="627236" y="1569987"/>
            <a:ext cx="10099758" cy="46341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887614-FA6E-B03A-EF9F-2FCC5BFA6D9C}"/>
              </a:ext>
            </a:extLst>
          </p:cNvPr>
          <p:cNvSpPr txBox="1"/>
          <p:nvPr/>
        </p:nvSpPr>
        <p:spPr>
          <a:xfrm>
            <a:off x="520094" y="6292647"/>
            <a:ext cx="1059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solidFill>
                  <a:srgbClr val="00B050"/>
                </a:solidFill>
              </a:rPr>
              <a:t>gem.gd</a:t>
            </a:r>
            <a:r>
              <a:rPr lang="zh-CN" altLang="en-US" sz="2400" dirty="0">
                <a:solidFill>
                  <a:srgbClr val="00B050"/>
                </a:solidFill>
              </a:rPr>
              <a:t>中</a:t>
            </a:r>
            <a:r>
              <a:rPr lang="en-US" altLang="zh-CN" sz="2400" dirty="0">
                <a:solidFill>
                  <a:srgbClr val="00B050"/>
                </a:solidFill>
              </a:rPr>
              <a:t> </a:t>
            </a:r>
            <a:r>
              <a:rPr lang="zh-CN" altLang="zh-CN" sz="2400" dirty="0">
                <a:solidFill>
                  <a:srgbClr val="00B050"/>
                </a:solidFill>
              </a:rPr>
              <a:t>换色 = 改一个编号，画面自动跟上。防三消就是靠它反复换色</a:t>
            </a:r>
          </a:p>
        </p:txBody>
      </p:sp>
    </p:spTree>
    <p:extLst>
      <p:ext uri="{BB962C8B-B14F-4D97-AF65-F5344CB8AC3E}">
        <p14:creationId xmlns:p14="http://schemas.microsoft.com/office/powerpoint/2010/main" val="1153991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68AFFE9-DC6A-386A-1AFD-05CA1954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963267" cy="14190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reset_game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fill_grid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#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铺满 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64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颗随机宝石</a:t>
            </a:r>
            <a:endParaRPr lang="en-US" altLang="zh-CN" sz="2000" dirty="0">
              <a:latin typeface="Consolas" panose="020B0609020204030204" pitchFamily="49" charset="0"/>
              <a:cs typeface="+mn-cs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cs typeface="+mn-cs"/>
              </a:rPr>
              <a:t>ensure_no_initial_matches</a:t>
            </a:r>
            <a:r>
              <a:rPr lang="en-US" altLang="zh-CN" sz="2000" dirty="0">
                <a:latin typeface="Consolas" panose="020B0609020204030204" pitchFamily="49" charset="0"/>
                <a:cs typeface="+mn-cs"/>
              </a:rPr>
              <a:t>() # </a:t>
            </a:r>
            <a:r>
              <a:rPr lang="zh-CN" altLang="en-US" sz="2000" dirty="0">
                <a:latin typeface="Consolas" panose="020B0609020204030204" pitchFamily="49" charset="0"/>
                <a:cs typeface="+mn-cs"/>
              </a:rPr>
              <a:t>排除初始三消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F89870-1C35-85C4-9035-F88A55CA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组装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1E9D70-79CA-6450-BBA2-A2DEEA551E86}"/>
              </a:ext>
            </a:extLst>
          </p:cNvPr>
          <p:cNvSpPr/>
          <p:nvPr/>
        </p:nvSpPr>
        <p:spPr>
          <a:xfrm>
            <a:off x="627236" y="1700981"/>
            <a:ext cx="6963267" cy="161249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BBAC98-2065-32A9-95A5-468A5662E351}"/>
              </a:ext>
            </a:extLst>
          </p:cNvPr>
          <p:cNvSpPr txBox="1"/>
          <p:nvPr/>
        </p:nvSpPr>
        <p:spPr>
          <a:xfrm>
            <a:off x="8455742" y="1888804"/>
            <a:ext cx="269403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rgbClr val="00B050"/>
                </a:solidFill>
              </a:rPr>
              <a:t>两个「组装层」到这里汇合，生成链和防三消链接上了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1D2D51-6FAB-ADBB-D9CE-581808B7D67E}"/>
              </a:ext>
            </a:extLst>
          </p:cNvPr>
          <p:cNvSpPr txBox="1"/>
          <p:nvPr/>
        </p:nvSpPr>
        <p:spPr>
          <a:xfrm>
            <a:off x="725559" y="4522839"/>
            <a:ext cx="106110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现在代码已经凑齐</a:t>
            </a:r>
            <a:r>
              <a:rPr lang="zh-CN" altLang="zh-CN" sz="3200" b="1" dirty="0"/>
              <a:t>生成</a:t>
            </a:r>
            <a:r>
              <a:rPr lang="zh-CN" altLang="zh-CN" sz="3200" dirty="0"/>
              <a:t>和</a:t>
            </a:r>
            <a:r>
              <a:rPr lang="zh-CN" altLang="zh-CN" sz="3200" b="1" dirty="0"/>
              <a:t>防三消</a:t>
            </a:r>
            <a:r>
              <a:rPr lang="zh-CN" altLang="zh-CN" sz="3200" dirty="0"/>
              <a:t>两块拼图——只差 _ready 把</a:t>
            </a:r>
            <a:r>
              <a:rPr lang="zh-CN" altLang="en-US" sz="3200" dirty="0"/>
              <a:t>这些准备完成</a:t>
            </a:r>
            <a:r>
              <a:rPr lang="zh-CN" altLang="zh-CN" sz="32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6609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D2C7FD-BDD3-E495-7714-D6408B396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739" y="1651898"/>
            <a:ext cx="9546351" cy="330356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_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compute_origin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var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board_pixels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:= GRID_SIZE * CELL_SIZE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var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vp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:=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get_viewport_rect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().size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origin = Vector2(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	(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vp.x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-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board_pixels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) / 2.0,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	(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vp.y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- 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board_pixels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) / 2.0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)</a:t>
            </a:r>
            <a:endParaRPr lang="zh-CN" altLang="en-US" sz="24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7CE51D9-9199-0D43-729F-B77A63433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继续优化：让棋盘位于窗口正中央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D396D3-B454-7E42-73A7-B434F72E5865}"/>
              </a:ext>
            </a:extLst>
          </p:cNvPr>
          <p:cNvSpPr/>
          <p:nvPr/>
        </p:nvSpPr>
        <p:spPr>
          <a:xfrm>
            <a:off x="597739" y="1651897"/>
            <a:ext cx="8851061" cy="36575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7F942D-777A-9D97-9B2F-2F96803FB963}"/>
              </a:ext>
            </a:extLst>
          </p:cNvPr>
          <p:cNvSpPr txBox="1"/>
          <p:nvPr/>
        </p:nvSpPr>
        <p:spPr>
          <a:xfrm>
            <a:off x="698090" y="5309419"/>
            <a:ext cx="10048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算法：</a:t>
            </a:r>
            <a:r>
              <a:rPr lang="zh-CN" altLang="zh-CN" sz="2400" b="1" dirty="0"/>
              <a:t>（窗口尺寸 − 棋盘尺寸）÷ 2 = 左边距 / 上边距</a:t>
            </a:r>
            <a:endParaRPr lang="en-US" altLang="zh-CN" sz="2400" b="1" dirty="0"/>
          </a:p>
          <a:p>
            <a:r>
              <a:rPr lang="zh-CN" altLang="zh-CN" sz="2400" dirty="0"/>
              <a:t>get_viewport_rect().size：</a:t>
            </a:r>
            <a:r>
              <a:rPr lang="zh-CN" altLang="zh-CN" sz="2400" b="1" dirty="0"/>
              <a:t>动态取</a:t>
            </a:r>
            <a:r>
              <a:rPr lang="zh-CN" altLang="zh-CN" sz="2400" dirty="0"/>
              <a:t>当前窗口尺寸——窗口以后放大缩小，棋盘照样居中</a:t>
            </a:r>
          </a:p>
        </p:txBody>
      </p:sp>
    </p:spTree>
    <p:extLst>
      <p:ext uri="{BB962C8B-B14F-4D97-AF65-F5344CB8AC3E}">
        <p14:creationId xmlns:p14="http://schemas.microsoft.com/office/powerpoint/2010/main" val="139241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66D0D6-0991-4123-AA1F-59812B768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270" y="1811783"/>
            <a:ext cx="4336024" cy="155349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 _ready()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_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compute_origin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  <a:cs typeface="+mn-cs"/>
              </a:rPr>
              <a:t>reset_game</a:t>
            </a:r>
            <a:r>
              <a:rPr lang="en-US" altLang="zh-CN" sz="2400" dirty="0">
                <a:latin typeface="Consolas" panose="020B0609020204030204" pitchFamily="49" charset="0"/>
                <a:cs typeface="+mn-cs"/>
              </a:rPr>
              <a:t>()</a:t>
            </a:r>
            <a:endParaRPr lang="zh-CN" altLang="en-US" sz="2400" dirty="0"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D402571-F801-BF14-24DE-30056267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总装！插上电源！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E34BAD-BB6E-146F-9A3F-C3416E2AD272}"/>
              </a:ext>
            </a:extLst>
          </p:cNvPr>
          <p:cNvSpPr/>
          <p:nvPr/>
        </p:nvSpPr>
        <p:spPr>
          <a:xfrm>
            <a:off x="451271" y="1651898"/>
            <a:ext cx="3973245" cy="19257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4FE222-4307-A5DF-79A3-68971E6BABCD}"/>
              </a:ext>
            </a:extLst>
          </p:cNvPr>
          <p:cNvSpPr txBox="1"/>
          <p:nvPr/>
        </p:nvSpPr>
        <p:spPr>
          <a:xfrm>
            <a:off x="4640826" y="1761726"/>
            <a:ext cx="69534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_</a:t>
            </a:r>
            <a:r>
              <a:rPr lang="zh-CN" altLang="zh-CN" sz="2800" dirty="0"/>
              <a:t>ready() ：节点进入场景树时</a:t>
            </a:r>
            <a:r>
              <a:rPr lang="zh-CN" altLang="zh-CN" sz="2800" b="1" dirty="0"/>
              <a:t>自动调用一次</a:t>
            </a:r>
            <a:endParaRPr lang="en-US" altLang="zh-CN" sz="2800" b="1" dirty="0"/>
          </a:p>
          <a:p>
            <a:r>
              <a:rPr lang="zh-CN" altLang="en-US" sz="2800" dirty="0"/>
              <a:t>此函数的左边会有一个蓝色折线箭头标志，如图所示</a:t>
            </a:r>
            <a:r>
              <a:rPr lang="en-US" altLang="zh-CN" sz="2800" dirty="0"/>
              <a:t>~</a:t>
            </a:r>
            <a:endParaRPr lang="zh-CN" altLang="zh-CN" sz="2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AF15B0-7178-EFC9-4E90-13F782F79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49" t="54559" r="51452" b="29924"/>
          <a:stretch>
            <a:fillRect/>
          </a:stretch>
        </p:blipFill>
        <p:spPr>
          <a:xfrm>
            <a:off x="2404074" y="3815323"/>
            <a:ext cx="7740016" cy="278155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1727FFF-34A8-C955-AF86-2E1478EE55A1}"/>
              </a:ext>
            </a:extLst>
          </p:cNvPr>
          <p:cNvSpPr/>
          <p:nvPr/>
        </p:nvSpPr>
        <p:spPr>
          <a:xfrm>
            <a:off x="2487561" y="4070555"/>
            <a:ext cx="737420" cy="6489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810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B42AE83-E875-863E-ACEA-9542821D5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25" y="1651898"/>
            <a:ext cx="1074088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回顾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生成链（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_ready → reset_game → fill_grid → _spawn_gem</a:t>
            </a:r>
            <a:r>
              <a:rPr lang="zh-CN" altLang="zh-CN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防三消链（</a:t>
            </a:r>
            <a:r>
              <a:rPr lang="zh-CN" altLang="zh-CN" sz="2000" dirty="0">
                <a:latin typeface="Consolas" panose="020B0609020204030204" pitchFamily="49" charset="0"/>
                <a:cs typeface="+mn-cs"/>
              </a:rPr>
              <a:t>reset_game → ensure_no_initial_matches → find_matches</a:t>
            </a:r>
            <a:r>
              <a:rPr lang="zh-CN" altLang="zh-CN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已经全部拼完，代码写完！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是时候按下</a:t>
            </a:r>
            <a:r>
              <a:rPr lang="en-US" altLang="zh-CN" dirty="0"/>
              <a:t>F5</a:t>
            </a:r>
            <a:r>
              <a:rPr lang="zh-CN" altLang="en-US" dirty="0"/>
              <a:t>查看成果了</a:t>
            </a:r>
            <a:r>
              <a:rPr lang="en-US" altLang="zh-CN" dirty="0"/>
              <a:t>~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4BDD0F-5A70-A564-FD64-E85EEC99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组织向导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C45B85-0016-EC97-CD0B-F2D5932F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696" y="397430"/>
            <a:ext cx="1428750" cy="1428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BADB57-FE20-7A31-7914-5A59C4EBB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1" t="23285" r="25423" b="13287"/>
          <a:stretch>
            <a:fillRect/>
          </a:stretch>
        </p:blipFill>
        <p:spPr>
          <a:xfrm>
            <a:off x="7606787" y="3351997"/>
            <a:ext cx="3126659" cy="30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4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4A7168-3E95-9478-EB78-72F155D08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1825625"/>
            <a:ext cx="11090787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今日完成：生成一张等待消除的棋盘</a:t>
            </a:r>
            <a:endParaRPr lang="en-US" altLang="zh-CN" dirty="0"/>
          </a:p>
          <a:p>
            <a:r>
              <a:rPr lang="zh-CN" altLang="en-US" dirty="0"/>
              <a:t>涉及知识：</a:t>
            </a:r>
            <a:endParaRPr lang="en-US" altLang="zh-CN" dirty="0"/>
          </a:p>
          <a:p>
            <a:pPr marL="0" indent="0">
              <a:spcBef>
                <a:spcPts val="200"/>
              </a:spcBef>
              <a:buNone/>
            </a:pPr>
            <a:r>
              <a:rPr lang="en-US" altLang="zh-CN" dirty="0"/>
              <a:t>	</a:t>
            </a:r>
            <a:r>
              <a:rPr lang="zh-CN" altLang="en-US" sz="2400" dirty="0"/>
              <a:t>常量 </a:t>
            </a:r>
            <a:r>
              <a:rPr lang="en-US" altLang="zh-CN" sz="2400" dirty="0"/>
              <a:t>/ </a:t>
            </a:r>
            <a:r>
              <a:rPr lang="zh-CN" altLang="en-US" sz="2400" dirty="0"/>
              <a:t>变量：棋盘规格与数据（</a:t>
            </a:r>
            <a:r>
              <a:rPr lang="en-US" altLang="zh-CN" sz="2400" dirty="0"/>
              <a:t>GRID_SIZE / CELL_SIZE / grid / origin</a:t>
            </a:r>
            <a:r>
              <a:rPr lang="zh-CN" altLang="en-US" sz="2400" dirty="0"/>
              <a:t>）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preload </a:t>
            </a:r>
            <a:r>
              <a:rPr lang="zh-CN" altLang="en-US" sz="2400" dirty="0"/>
              <a:t>预加载 </a:t>
            </a:r>
            <a:r>
              <a:rPr lang="en-US" altLang="zh-CN" sz="2400" dirty="0"/>
              <a:t>+ instantiate </a:t>
            </a:r>
            <a:r>
              <a:rPr lang="zh-CN" altLang="en-US" sz="2400" dirty="0"/>
              <a:t>实例化：图纸 → </a:t>
            </a:r>
            <a:r>
              <a:rPr lang="en-US" altLang="zh-CN" sz="2400" dirty="0"/>
              <a:t>64 </a:t>
            </a:r>
            <a:r>
              <a:rPr lang="zh-CN" altLang="en-US" sz="2400" dirty="0"/>
              <a:t>颗宝石（本课核心！）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二维数组 </a:t>
            </a:r>
            <a:r>
              <a:rPr lang="en-US" altLang="zh-CN" sz="2400" dirty="0"/>
              <a:t>grid[col][row]</a:t>
            </a:r>
            <a:r>
              <a:rPr lang="zh-CN" altLang="en-US" sz="2400" dirty="0"/>
              <a:t>：先列后行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grid_to_world</a:t>
            </a:r>
            <a:r>
              <a:rPr lang="zh-CN" altLang="en-US" sz="2400" dirty="0"/>
              <a:t>：逻辑坐标 → 像素坐标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双层 </a:t>
            </a:r>
            <a:r>
              <a:rPr lang="en-US" altLang="zh-CN" sz="2400" dirty="0"/>
              <a:t>for </a:t>
            </a:r>
            <a:r>
              <a:rPr lang="zh-CN" altLang="en-US" sz="2400" dirty="0"/>
              <a:t>循环：</a:t>
            </a:r>
            <a:r>
              <a:rPr lang="en-US" altLang="zh-CN" sz="2400" dirty="0"/>
              <a:t>8×8 = 64 </a:t>
            </a:r>
            <a:r>
              <a:rPr lang="zh-CN" altLang="en-US" sz="2400" dirty="0"/>
              <a:t>次铺满棋盘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体验保护：</a:t>
            </a:r>
            <a:r>
              <a:rPr lang="en-US" altLang="zh-CN" sz="2400" dirty="0" err="1"/>
              <a:t>find_matches</a:t>
            </a:r>
            <a:r>
              <a:rPr lang="en-US" altLang="zh-CN" sz="2400" dirty="0"/>
              <a:t> </a:t>
            </a:r>
            <a:r>
              <a:rPr lang="zh-CN" altLang="en-US" sz="2400" dirty="0"/>
              <a:t>查三连 → </a:t>
            </a:r>
            <a:r>
              <a:rPr lang="en-US" altLang="zh-CN" sz="2400" dirty="0" err="1"/>
              <a:t>set_type</a:t>
            </a:r>
            <a:r>
              <a:rPr lang="en-US" altLang="zh-CN" sz="2400" dirty="0"/>
              <a:t> </a:t>
            </a:r>
            <a:r>
              <a:rPr lang="zh-CN" altLang="en-US" sz="2400" dirty="0"/>
              <a:t>换色防初始三消</a:t>
            </a:r>
          </a:p>
          <a:p>
            <a:pPr marL="0" indent="0">
              <a:spcBef>
                <a:spcPts val="200"/>
              </a:spcBef>
              <a:buNone/>
            </a:pPr>
            <a:endParaRPr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E7B4EF4-1ED9-85E6-45F4-E03E24D4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515051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444B2EC-3AE0-CD1A-BCC7-DF3696FF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824" y="2494935"/>
            <a:ext cx="9546351" cy="1868129"/>
          </a:xfrm>
        </p:spPr>
        <p:txBody>
          <a:bodyPr>
            <a:noAutofit/>
          </a:bodyPr>
          <a:lstStyle/>
          <a:p>
            <a:pPr algn="ctr"/>
            <a:r>
              <a:rPr lang="zh-CN" altLang="en-US" sz="7200" dirty="0"/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220329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6407</Words>
  <Application>Microsoft Office PowerPoint</Application>
  <PresentationFormat>宽屏</PresentationFormat>
  <Paragraphs>307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5" baseType="lpstr">
      <vt:lpstr>Microsoft YaHei UI</vt:lpstr>
      <vt:lpstr>等线</vt:lpstr>
      <vt:lpstr>等线 Light</vt:lpstr>
      <vt:lpstr>华文行楷</vt:lpstr>
      <vt:lpstr>微软雅黑</vt:lpstr>
      <vt:lpstr>Arial</vt:lpstr>
      <vt:lpstr>Consolas</vt:lpstr>
      <vt:lpstr>Times New Roman</vt:lpstr>
      <vt:lpstr>Office 主题​​</vt:lpstr>
      <vt:lpstr>1_Office 主题​​</vt:lpstr>
      <vt:lpstr>包装程序外壳对象</vt:lpstr>
      <vt:lpstr>Infoco*IGC 联合社课 游戏开发先导课</vt:lpstr>
      <vt:lpstr>欢迎走上这条无底的不归路！（模拟浇冷水的背景图）</vt:lpstr>
      <vt:lpstr>课程计划：一份基础三消游戏</vt:lpstr>
      <vt:lpstr>需要你去做的：</vt:lpstr>
      <vt:lpstr>链接页</vt:lpstr>
      <vt:lpstr>为什么用Godot？</vt:lpstr>
      <vt:lpstr>为什么讲三消？</vt:lpstr>
      <vt:lpstr>设计拆解</vt:lpstr>
      <vt:lpstr>好了现在终于轮到我们的实操环节了（喜）</vt:lpstr>
      <vt:lpstr>新项目</vt:lpstr>
      <vt:lpstr>设置和素材</vt:lpstr>
      <vt:lpstr>进度已达成：这是？工作台！</vt:lpstr>
      <vt:lpstr>熟悉我们的基础内容</vt:lpstr>
      <vt:lpstr>gem.tscn</vt:lpstr>
      <vt:lpstr>调整大小</vt:lpstr>
      <vt:lpstr>如法炮制一下，添加ColorRect</vt:lpstr>
      <vt:lpstr>准备添加灵魂</vt:lpstr>
      <vt:lpstr>进度已达成：整装上阵！</vt:lpstr>
      <vt:lpstr>开始拼代码环节：代码总览（gem.gd）</vt:lpstr>
      <vt:lpstr>奠定全文基调</vt:lpstr>
      <vt:lpstr>枚举宝石类型</vt:lpstr>
      <vt:lpstr>这是什么石头？石头在哪里？（抽屉格）</vt:lpstr>
      <vt:lpstr>获得子节点</vt:lpstr>
      <vt:lpstr>换色的方法 </vt:lpstr>
      <vt:lpstr>初始设置（登记身份ID）</vt:lpstr>
      <vt:lpstr>回到根节点，确认新增的内容</vt:lpstr>
      <vt:lpstr>开始添加宝石贴图，处理小警告</vt:lpstr>
      <vt:lpstr>达成成就：钻石！</vt:lpstr>
      <vt:lpstr>是时候开始准备主场景了~</vt:lpstr>
      <vt:lpstr>board.gd需要做的：</vt:lpstr>
      <vt:lpstr>原料：棋盘的格子和大小，准备实例化</vt:lpstr>
      <vt:lpstr>继续弄原料：待填满的数组</vt:lpstr>
      <vt:lpstr>零件：随机宝石</vt:lpstr>
      <vt:lpstr>零件：逻辑坐标 → 像素坐标</vt:lpstr>
      <vt:lpstr>有了原料和零件，那么我们开始组装吧~</vt:lpstr>
      <vt:lpstr>让宝石填满全格：清场 → 清表 → 双层循环 → 装表</vt:lpstr>
      <vt:lpstr>临时借用，判断三消是否成立</vt:lpstr>
      <vt:lpstr>保证游戏体验：开局查已有匹配 → 有就换随机色 → 再查</vt:lpstr>
      <vt:lpstr>组装</vt:lpstr>
      <vt:lpstr>继续优化：让棋盘位于窗口正中央</vt:lpstr>
      <vt:lpstr>总装！插上电源！</vt:lpstr>
      <vt:lpstr>达成成就：组织向导</vt:lpstr>
      <vt:lpstr>总结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63</cp:revision>
  <dcterms:created xsi:type="dcterms:W3CDTF">2026-08-16T07:46:12Z</dcterms:created>
  <dcterms:modified xsi:type="dcterms:W3CDTF">2026-10-02T13:24:19Z</dcterms:modified>
</cp:coreProperties>
</file>