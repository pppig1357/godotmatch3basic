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3" r:id="rId11"/>
    <p:sldId id="269" r:id="rId12"/>
    <p:sldId id="270" r:id="rId13"/>
    <p:sldId id="261" r:id="rId14"/>
    <p:sldId id="268" r:id="rId15"/>
    <p:sldId id="262" r:id="rId16"/>
    <p:sldId id="271" r:id="rId17"/>
    <p:sldId id="272" r:id="rId18"/>
    <p:sldId id="273" r:id="rId19"/>
    <p:sldId id="275" r:id="rId20"/>
    <p:sldId id="276" r:id="rId21"/>
    <p:sldId id="277" r:id="rId22"/>
    <p:sldId id="279" r:id="rId23"/>
    <p:sldId id="280" r:id="rId24"/>
    <p:sldId id="278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35B25-5F50-4908-9ED9-642A4B48C743}" v="21" dt="2026-08-24T15:07:35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09F5A-504F-41B5-B45E-D44CC64A4EED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CB426A-EAD3-497A-A15A-AD16BE129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86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B426A-EAD3-497A-A15A-AD16BE1299D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14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FEEBB-0C30-3673-EE2B-2532924FA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992" y="1594262"/>
            <a:ext cx="6158948" cy="193412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 b="1" i="0">
                <a:solidFill>
                  <a:srgbClr val="4B88A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9DE1C3-684D-6B32-DBE6-5D27018EE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992" y="3607976"/>
            <a:ext cx="5632173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8255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D5930-9F91-0D55-56FB-B38E56D4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107408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CN" altLang="en-US" dirty="0"/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4711E3EF-1573-5A79-25C3-0961F05A5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4A0A1BEE-AB7A-B021-58AD-3DADC214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C2A25001-E83A-5DCC-38C2-B3C73FF9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DE9E4BF-C630-701B-9052-23FA8A2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7523D007-EC50-4DD2-5583-37512B9C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039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4B88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297B6-5546-775A-7C1B-152FCB0E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8" y="1779312"/>
            <a:ext cx="10740884" cy="198761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BA25B2-340D-E4B0-0C67-6819A0C24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558" y="3883786"/>
            <a:ext cx="1074088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64857-3A35-DB45-ABB2-4BF0B84CF9C0}"/>
              </a:ext>
            </a:extLst>
          </p:cNvPr>
          <p:cNvSpPr/>
          <p:nvPr/>
        </p:nvSpPr>
        <p:spPr>
          <a:xfrm>
            <a:off x="831850" y="3778433"/>
            <a:ext cx="105156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8" name="日期占位符 4">
            <a:extLst>
              <a:ext uri="{FF2B5EF4-FFF2-40B4-BE49-F238E27FC236}">
                <a16:creationId xmlns:a16="http://schemas.microsoft.com/office/drawing/2014/main" id="{0031AF0D-A46B-1015-979D-A70A428D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C74BDB59-1EB2-7B9D-B8CF-9C8FC764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6">
            <a:extLst>
              <a:ext uri="{FF2B5EF4-FFF2-40B4-BE49-F238E27FC236}">
                <a16:creationId xmlns:a16="http://schemas.microsoft.com/office/drawing/2014/main" id="{586F03AE-FFBF-9E7F-B6CB-427A8AE2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39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8457D6-4AC7-1117-6149-E29FEE9EB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5558" y="1825625"/>
            <a:ext cx="529424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F5E3C3-B8ED-7462-A47D-9C2E7A340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31081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B2790EB-88B4-5911-53A7-74B6281C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333873C1-9FDC-69E5-650D-EBE18AE0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FE91223E-32EA-1FD2-330A-E3D5076AA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85357AA5-8C64-2BD8-F3BB-79670B1E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50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4756DA-E78D-976D-3346-9B0219DFD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558" y="1681163"/>
            <a:ext cx="527201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4B88A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771981-8073-4FE5-2903-BC0F2D71A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5558" y="2505075"/>
            <a:ext cx="52720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740ED5-1F31-6745-1328-B46D92156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29424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4B88A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989F7B-4E7D-EBD1-F575-67D551DD1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29424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6DA92095-472D-9314-74C8-892B354C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1" name="日期占位符 4">
            <a:extLst>
              <a:ext uri="{FF2B5EF4-FFF2-40B4-BE49-F238E27FC236}">
                <a16:creationId xmlns:a16="http://schemas.microsoft.com/office/drawing/2014/main" id="{DCDF135B-C85D-83F5-A01D-5252D64A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12" name="页脚占位符 5">
            <a:extLst>
              <a:ext uri="{FF2B5EF4-FFF2-40B4-BE49-F238E27FC236}">
                <a16:creationId xmlns:a16="http://schemas.microsoft.com/office/drawing/2014/main" id="{2D8EA4D4-25B4-E176-AF53-E3BCE298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6">
            <a:extLst>
              <a:ext uri="{FF2B5EF4-FFF2-40B4-BE49-F238E27FC236}">
                <a16:creationId xmlns:a16="http://schemas.microsoft.com/office/drawing/2014/main" id="{151CDAE1-D70B-3EFA-B415-1295FD91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700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>
            <a:extLst>
              <a:ext uri="{FF2B5EF4-FFF2-40B4-BE49-F238E27FC236}">
                <a16:creationId xmlns:a16="http://schemas.microsoft.com/office/drawing/2014/main" id="{96F97A67-4FF0-49A8-E3E3-2042E004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C4E39087-C553-9639-58B3-8A40C66A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78D3B147-F4F7-8DB3-994F-004E8D7F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F0A95C65-54D6-59FB-44CD-D578DC23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12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3EB7D7-BD08-3133-AE9E-C6F17567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25E8F5-FBDD-693C-632F-303863AC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0A5A26-B68A-BC16-0D7E-F6C34954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76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43F93-EE74-9FE0-A331-F5B526DD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8" y="1461052"/>
            <a:ext cx="4046468" cy="107177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1E0ADD-4F30-9EEF-112C-2559ACF6C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37323"/>
            <a:ext cx="6283254" cy="542372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4E77E5-71F7-B92E-3BAE-963EE1B4F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558" y="2552700"/>
            <a:ext cx="4046467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452381-A0B0-3CF8-835A-9E0501F9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866C01-201C-3922-E2B8-FB8E2E2C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DFF722-BEEE-5058-F67E-440784C9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715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9D51AE-23CD-9EBA-D51D-E41329122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27383"/>
            <a:ext cx="6283254" cy="5433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6CE524-6A73-D1E5-37F8-5DA916A8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7F468C-88E0-8C6F-8A6D-6DCC46EF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B56C82-99B4-0520-D36C-AFA866C8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158DE60-9C59-5A42-D4E2-9CFACEC9E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8" y="1461052"/>
            <a:ext cx="4046468" cy="107177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27090E57-3D33-F16E-4AF2-426295B73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558" y="2552700"/>
            <a:ext cx="4046467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8477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664AD0-DF68-E1F9-F08D-81FA532B4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5558" y="1825625"/>
            <a:ext cx="10740884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5FA19414-E6B1-974D-B773-4A92DDB140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6E536284-4379-0BC2-7595-1BAA64B8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9C76CD63-90B6-269B-060C-C07AA9D0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26EA7407-B618-46E8-FDD3-2B95120A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9" y="854764"/>
            <a:ext cx="9529784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054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7367E7-B967-A2DB-157E-300FA091DF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7304" y="365124"/>
            <a:ext cx="1229138" cy="5811838"/>
          </a:xfrm>
          <a:prstGeom prst="rect">
            <a:avLst/>
          </a:prstGeom>
        </p:spPr>
        <p:txBody>
          <a:bodyPr vert="eaVert" anchor="b"/>
          <a:lstStyle>
            <a:lvl1pPr algn="l"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734F21-F187-DF61-3F9D-F838214F1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5557" y="1461051"/>
            <a:ext cx="9412355" cy="471591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95378585-9D11-B84E-F348-EDE61C6D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625ACA3C-3B00-CE1E-8E0D-BBA26097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C7CEEF96-C213-953E-A94F-B06D05D4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31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E4013-808A-C812-AA9A-499D303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FAA95-B6DC-44A9-6330-DF671B9B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91" y="1825625"/>
            <a:ext cx="107740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AD166-C292-7A67-4109-8A865BD68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7275" y="63615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12E55A-CB39-4018-9A17-ED285A70921F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E2581-49CE-8F32-BE7E-BBAEB25E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D5F84-390A-5928-DA5F-482357A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8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33CD358-AECF-4D39-A6F5-2532704699A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4" name="图片 13" descr="徽标&#10;&#10;描述已自动生成">
            <a:extLst>
              <a:ext uri="{FF2B5EF4-FFF2-40B4-BE49-F238E27FC236}">
                <a16:creationId xmlns:a16="http://schemas.microsoft.com/office/drawing/2014/main" id="{6C208722-897C-C7D4-5817-92DA390C4D7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5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i="0" kern="1200" dirty="0" smtClean="0">
          <a:solidFill>
            <a:srgbClr val="4B88A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6031E-A530-2B24-1D22-4D2ECE5084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Infoco</a:t>
            </a:r>
            <a:r>
              <a:rPr lang="en-US" altLang="zh-CN" sz="44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*IGC </a:t>
            </a:r>
            <a:r>
              <a:rPr lang="zh-CN" altLang="en-US" sz="44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联</a:t>
            </a:r>
            <a:r>
              <a:rPr lang="zh-CN" altLang="en-US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合社课</a:t>
            </a:r>
            <a:br>
              <a:rPr lang="en-US" altLang="zh-CN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游戏开发先导课</a:t>
            </a:r>
            <a:endParaRPr lang="zh-CN" alt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C147F8-0DE4-7A94-B1AE-241C8416E5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800"/>
              <a:t>L2 —— </a:t>
            </a:r>
            <a:r>
              <a:rPr lang="zh-CN" altLang="en-US" sz="2800"/>
              <a:t>交</a:t>
            </a:r>
            <a:r>
              <a:rPr lang="zh-CN" altLang="en-US" sz="2800" dirty="0"/>
              <a:t>互与判定</a:t>
            </a:r>
            <a:endParaRPr lang="en-US" altLang="zh-CN" sz="2800" dirty="0"/>
          </a:p>
          <a:p>
            <a:pPr algn="r"/>
            <a:r>
              <a:rPr lang="en-US" altLang="zh-CN" err="1"/>
              <a:t>By</a:t>
            </a:r>
            <a:r>
              <a:rPr lang="en-US" altLang="zh-CN"/>
              <a:t>: pppig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820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76B217D-CB11-A315-B9AD-89FAD7C8C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3200" dirty="0"/>
              <a:t>场景</a:t>
            </a:r>
            <a:r>
              <a:rPr lang="zh-CN" altLang="zh-CN" sz="3200" dirty="0"/>
              <a:t>：G</a:t>
            </a:r>
            <a:r>
              <a:rPr lang="zh-CN" altLang="zh-CN" sz="3200"/>
              <a:t>em</a:t>
            </a:r>
            <a:r>
              <a:rPr lang="en-US" altLang="zh-CN" sz="3200"/>
              <a:t> </a:t>
            </a:r>
            <a:r>
              <a:rPr lang="zh-CN" altLang="zh-CN" sz="3200"/>
              <a:t>+ S</a:t>
            </a:r>
            <a:r>
              <a:rPr lang="zh-CN" altLang="zh-CN" sz="3200" dirty="0"/>
              <a:t>prite</a:t>
            </a:r>
            <a:r>
              <a:rPr lang="zh-CN" altLang="zh-CN" sz="3200"/>
              <a:t>2D</a:t>
            </a:r>
            <a:r>
              <a:rPr lang="en-US" altLang="zh-CN" sz="3200"/>
              <a:t> </a:t>
            </a:r>
            <a:r>
              <a:rPr lang="zh-CN" altLang="zh-CN" sz="3200"/>
              <a:t>+ S</a:t>
            </a:r>
            <a:r>
              <a:rPr lang="zh-CN" altLang="zh-CN" sz="3200" dirty="0"/>
              <a:t>electMas</a:t>
            </a:r>
            <a:r>
              <a:rPr lang="zh-CN" altLang="zh-CN" sz="3200"/>
              <a:t>k+ g</a:t>
            </a:r>
            <a:r>
              <a:rPr lang="zh-CN" altLang="zh-CN" sz="3200" dirty="0"/>
              <a:t>em.gd</a:t>
            </a:r>
            <a:br>
              <a:rPr lang="zh-CN" altLang="zh-CN" dirty="0"/>
            </a:b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class_na</a:t>
            </a:r>
            <a:r>
              <a:rPr lang="zh-CN" altLang="zh-CN"/>
              <a:t>me = 全</a:t>
            </a:r>
            <a:r>
              <a:rPr lang="zh-CN" altLang="zh-CN" dirty="0"/>
              <a:t>局名字，board.</a:t>
            </a:r>
            <a:r>
              <a:rPr lang="zh-CN" altLang="zh-CN"/>
              <a:t>gd 才能写 var g</a:t>
            </a:r>
            <a:r>
              <a:rPr lang="zh-CN" altLang="zh-CN" dirty="0"/>
              <a:t>e</a:t>
            </a:r>
            <a:r>
              <a:rPr lang="zh-CN" altLang="zh-CN"/>
              <a:t>m: G</a:t>
            </a:r>
            <a:r>
              <a:rPr lang="zh-CN" altLang="zh-CN" dirty="0"/>
              <a:t>em</a:t>
            </a:r>
          </a:p>
          <a:p>
            <a:pPr marL="0" lv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en</a:t>
            </a:r>
            <a:r>
              <a:rPr lang="zh-CN" altLang="zh-CN"/>
              <a:t>um 顺序 = 贴</a:t>
            </a:r>
            <a:r>
              <a:rPr lang="zh-CN" altLang="zh-CN" dirty="0"/>
              <a:t>图下标（记住这个顺序）</a:t>
            </a:r>
          </a:p>
          <a:p>
            <a:pPr marL="0" lv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@expo</a:t>
            </a:r>
            <a:r>
              <a:rPr lang="zh-CN" altLang="zh-CN"/>
              <a:t>rt = 代</a:t>
            </a:r>
            <a:r>
              <a:rPr lang="zh-CN" altLang="zh-CN" dirty="0"/>
              <a:t>码声明槽位，场景负责填图</a:t>
            </a:r>
          </a:p>
          <a:p>
            <a:pPr marL="0" lv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@onrea</a:t>
            </a:r>
            <a:r>
              <a:rPr lang="zh-CN" altLang="zh-CN"/>
              <a:t>dy $ = g</a:t>
            </a:r>
            <a:r>
              <a:rPr lang="zh-CN" altLang="zh-CN" dirty="0"/>
              <a:t>et_node</a:t>
            </a:r>
            <a:r>
              <a:rPr lang="zh-CN" altLang="zh-CN"/>
              <a:t>() 简</a:t>
            </a:r>
            <a:r>
              <a:rPr lang="zh-CN" altLang="zh-CN" dirty="0"/>
              <a:t>写，节点名区分大小写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2118E76-9F2D-5538-3684-D41F222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欢迎回来，让我们先行回顾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的知识：宝石的构成</a:t>
            </a:r>
          </a:p>
        </p:txBody>
      </p:sp>
    </p:spTree>
    <p:extLst>
      <p:ext uri="{BB962C8B-B14F-4D97-AF65-F5344CB8AC3E}">
        <p14:creationId xmlns:p14="http://schemas.microsoft.com/office/powerpoint/2010/main" val="25094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9296ECF-6FF9-60B7-516A-0A5B5C93C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3200" dirty="0"/>
              <a:t>主场景</a:t>
            </a:r>
            <a:r>
              <a:rPr lang="zh-CN" altLang="zh-CN" sz="3200"/>
              <a:t>：</a:t>
            </a:r>
            <a:r>
              <a:rPr lang="en-US" altLang="zh-CN" sz="3200"/>
              <a:t>Main </a:t>
            </a:r>
            <a:r>
              <a:rPr lang="zh-CN" altLang="zh-CN" sz="3200"/>
              <a:t>+ </a:t>
            </a:r>
            <a:r>
              <a:rPr lang="en-US" altLang="zh-CN" sz="3200"/>
              <a:t>Board</a:t>
            </a:r>
            <a:r>
              <a:rPr lang="zh-CN" altLang="en-US" sz="3200" dirty="0"/>
              <a:t>（附</a:t>
            </a:r>
            <a:r>
              <a:rPr lang="en-US" altLang="zh-CN" sz="3200" dirty="0"/>
              <a:t>board.gd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marL="0" indent="0">
              <a:buNone/>
            </a:pPr>
            <a:endParaRPr lang="en-US" altLang="zh-CN" sz="3200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生成链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sz="2400" dirty="0"/>
              <a:t>（</a:t>
            </a:r>
            <a:r>
              <a:rPr lang="zh-CN" altLang="zh-CN" sz="2400" dirty="0">
                <a:latin typeface="Consolas" panose="020B0609020204030204" pitchFamily="49" charset="0"/>
              </a:rPr>
              <a:t>_rea</a:t>
            </a:r>
            <a:r>
              <a:rPr lang="zh-CN" altLang="zh-CN" sz="2400">
                <a:latin typeface="Consolas" panose="020B0609020204030204" pitchFamily="49" charset="0"/>
              </a:rPr>
              <a:t>dy → r</a:t>
            </a:r>
            <a:r>
              <a:rPr lang="zh-CN" altLang="zh-CN" sz="2400" dirty="0">
                <a:latin typeface="Consolas" panose="020B0609020204030204" pitchFamily="49" charset="0"/>
              </a:rPr>
              <a:t>eset_ga</a:t>
            </a:r>
            <a:r>
              <a:rPr lang="zh-CN" altLang="zh-CN" sz="2400">
                <a:latin typeface="Consolas" panose="020B0609020204030204" pitchFamily="49" charset="0"/>
              </a:rPr>
              <a:t>me → f</a:t>
            </a:r>
            <a:r>
              <a:rPr lang="zh-CN" altLang="zh-CN" sz="2400" dirty="0">
                <a:latin typeface="Consolas" panose="020B0609020204030204" pitchFamily="49" charset="0"/>
              </a:rPr>
              <a:t>ill_gr</a:t>
            </a:r>
            <a:r>
              <a:rPr lang="zh-CN" altLang="zh-CN" sz="2400">
                <a:latin typeface="Consolas" panose="020B0609020204030204" pitchFamily="49" charset="0"/>
              </a:rPr>
              <a:t>id → _</a:t>
            </a:r>
            <a:r>
              <a:rPr lang="zh-CN" altLang="zh-CN" sz="2400" dirty="0">
                <a:latin typeface="Consolas" panose="020B0609020204030204" pitchFamily="49" charset="0"/>
              </a:rPr>
              <a:t>spawn_gem</a:t>
            </a:r>
            <a:r>
              <a:rPr lang="zh-CN" altLang="zh-CN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防三消链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sz="2400" dirty="0"/>
              <a:t>（</a:t>
            </a:r>
            <a:r>
              <a:rPr lang="zh-CN" altLang="zh-CN" sz="2400" dirty="0">
                <a:latin typeface="Consolas" panose="020B0609020204030204" pitchFamily="49" charset="0"/>
              </a:rPr>
              <a:t>reset_ga</a:t>
            </a:r>
            <a:r>
              <a:rPr lang="zh-CN" altLang="zh-CN" sz="2400">
                <a:latin typeface="Consolas" panose="020B0609020204030204" pitchFamily="49" charset="0"/>
              </a:rPr>
              <a:t>me → e</a:t>
            </a:r>
            <a:r>
              <a:rPr lang="zh-CN" altLang="zh-CN" sz="2400" dirty="0">
                <a:latin typeface="Consolas" panose="020B0609020204030204" pitchFamily="49" charset="0"/>
              </a:rPr>
              <a:t>nsure_no_initial_match</a:t>
            </a:r>
            <a:r>
              <a:rPr lang="zh-CN" altLang="zh-CN" sz="2400">
                <a:latin typeface="Consolas" panose="020B0609020204030204" pitchFamily="49" charset="0"/>
              </a:rPr>
              <a:t>es → f</a:t>
            </a:r>
            <a:r>
              <a:rPr lang="zh-CN" altLang="zh-CN" sz="2400" dirty="0">
                <a:latin typeface="Consolas" panose="020B0609020204030204" pitchFamily="49" charset="0"/>
              </a:rPr>
              <a:t>ind_matches</a:t>
            </a:r>
            <a:r>
              <a:rPr lang="zh-CN" altLang="zh-CN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2989910-A239-313F-31D2-BE408332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欢迎回来，让我们先行回顾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的知识：生成棋盘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2290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DBDB9F1-94E7-74F2-B3FC-343EA70E9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3200" dirty="0"/>
              <a:t>交互层：让棋盘和其中的宝石能够响应鼠标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/>
                <a:ea typeface="微软雅黑"/>
              </a:rPr>
              <a:t>	</a:t>
            </a:r>
            <a:r>
              <a:rPr lang="zh-CN" altLang="en-US" sz="2400">
                <a:solidFill>
                  <a:srgbClr val="000000"/>
                </a:solidFill>
                <a:latin typeface="微软雅黑"/>
                <a:ea typeface="微软雅黑"/>
              </a:rPr>
              <a:t>点击 → 坐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标</a:t>
            </a:r>
            <a:r>
              <a:rPr lang="zh-CN" altLang="en-US" sz="2400">
                <a:solidFill>
                  <a:srgbClr val="000000"/>
                </a:solidFill>
                <a:latin typeface="微软雅黑"/>
                <a:ea typeface="微软雅黑"/>
              </a:rPr>
              <a:t>换算 → 选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中</a:t>
            </a:r>
            <a:r>
              <a:rPr lang="en-US" altLang="zh-CN" sz="2400" dirty="0">
                <a:solidFill>
                  <a:srgbClr val="000000"/>
                </a:solidFill>
                <a:latin typeface="微软雅黑"/>
                <a:ea typeface="微软雅黑"/>
              </a:rPr>
              <a:t>/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交换</a:t>
            </a:r>
            <a:r>
              <a:rPr lang="en-US" altLang="zh-CN" sz="2400" dirty="0">
                <a:solidFill>
                  <a:srgbClr val="000000"/>
                </a:solidFill>
                <a:latin typeface="微软雅黑"/>
                <a:ea typeface="微软雅黑"/>
              </a:rPr>
              <a:t>/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取消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/>
                <a:ea typeface="微软雅黑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状态机</a:t>
            </a:r>
            <a:r>
              <a:rPr lang="zh-CN" altLang="en-US" sz="2400">
                <a:solidFill>
                  <a:srgbClr val="000000"/>
                </a:solidFill>
                <a:latin typeface="微软雅黑"/>
                <a:ea typeface="微软雅黑"/>
              </a:rPr>
              <a:t>：</a:t>
            </a:r>
            <a:r>
              <a:rPr lang="en-US" altLang="zh-CN" sz="2400">
                <a:solidFill>
                  <a:srgbClr val="000000"/>
                </a:solidFill>
                <a:latin typeface="微软雅黑"/>
                <a:ea typeface="微软雅黑"/>
              </a:rPr>
              <a:t>IDLE / SELECTED / SWAPPING / RESOLVING</a:t>
            </a:r>
            <a:endParaRPr lang="en-US" altLang="zh-CN" sz="24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/>
                <a:ea typeface="微软雅黑"/>
              </a:rPr>
              <a:t>	</a:t>
            </a:r>
            <a:r>
              <a:rPr lang="zh-CN" altLang="en-US" sz="2400">
                <a:solidFill>
                  <a:srgbClr val="000000"/>
                </a:solidFill>
                <a:latin typeface="微软雅黑"/>
                <a:ea typeface="微软雅黑"/>
              </a:rPr>
              <a:t>黑盒 </a:t>
            </a:r>
            <a:r>
              <a:rPr lang="en-US" altLang="zh-CN" sz="2400">
                <a:solidFill>
                  <a:srgbClr val="000000"/>
                </a:solidFill>
                <a:latin typeface="微软雅黑"/>
                <a:ea typeface="微软雅黑"/>
              </a:rPr>
              <a:t>try</a:t>
            </a:r>
            <a:r>
              <a:rPr lang="en-US" altLang="zh-CN" sz="2400" dirty="0" err="1">
                <a:solidFill>
                  <a:srgbClr val="000000"/>
                </a:solidFill>
                <a:latin typeface="微软雅黑"/>
                <a:ea typeface="微软雅黑"/>
              </a:rPr>
              <a:t>_swap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：先只认识接口</a:t>
            </a:r>
          </a:p>
          <a:p>
            <a:pPr marL="0" indent="0">
              <a:buNone/>
            </a:pPr>
            <a:r>
              <a:rPr lang="zh-CN" altLang="en-US" sz="3200" dirty="0"/>
              <a:t>判定层：让系统知道如何进行宝石消除和计分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>
                <a:solidFill>
                  <a:srgbClr val="000000"/>
                </a:solidFill>
                <a:latin typeface="微软雅黑"/>
                <a:ea typeface="微软雅黑"/>
              </a:rPr>
              <a:t>try</a:t>
            </a:r>
            <a:r>
              <a:rPr lang="en-US" altLang="zh-CN" sz="2400" err="1">
                <a:solidFill>
                  <a:srgbClr val="000000"/>
                </a:solidFill>
                <a:latin typeface="微软雅黑"/>
                <a:ea typeface="微软雅黑"/>
              </a:rPr>
              <a:t>_</a:t>
            </a:r>
            <a:r>
              <a:rPr lang="en-US" altLang="zh-CN" sz="2400">
                <a:solidFill>
                  <a:srgbClr val="000000"/>
                </a:solidFill>
                <a:latin typeface="微软雅黑"/>
                <a:ea typeface="微软雅黑"/>
              </a:rPr>
              <a:t>swap </a:t>
            </a:r>
            <a:r>
              <a:rPr lang="zh-CN" altLang="en-US" sz="2400">
                <a:solidFill>
                  <a:srgbClr val="000000"/>
                </a:solidFill>
                <a:latin typeface="微软雅黑"/>
                <a:ea typeface="微软雅黑"/>
              </a:rPr>
              <a:t>内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部长什么样</a:t>
            </a:r>
          </a:p>
          <a:p>
            <a:pPr marL="0" indent="0"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/>
                <a:ea typeface="微软雅黑"/>
              </a:rPr>
              <a:t>	run </a:t>
            </a:r>
            <a:r>
              <a:rPr lang="zh-CN" altLang="en-US" sz="2400">
                <a:solidFill>
                  <a:srgbClr val="000000"/>
                </a:solidFill>
                <a:latin typeface="微软雅黑"/>
                <a:ea typeface="微软雅黑"/>
              </a:rPr>
              <a:t>算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法：找</a:t>
            </a:r>
            <a:r>
              <a:rPr lang="zh-CN" altLang="en-US" sz="2400">
                <a:solidFill>
                  <a:srgbClr val="000000"/>
                </a:solidFill>
                <a:latin typeface="微软雅黑"/>
                <a:ea typeface="微软雅黑"/>
              </a:rPr>
              <a:t>连续 ≥</a:t>
            </a:r>
            <a:r>
              <a:rPr lang="en-US" altLang="zh-CN" sz="2400">
                <a:solidFill>
                  <a:srgbClr val="000000"/>
                </a:solidFill>
                <a:latin typeface="微软雅黑"/>
                <a:ea typeface="微软雅黑"/>
              </a:rPr>
              <a:t>3 </a:t>
            </a:r>
            <a:r>
              <a:rPr lang="zh-CN" altLang="en-US" sz="2400">
                <a:solidFill>
                  <a:srgbClr val="000000"/>
                </a:solidFill>
                <a:latin typeface="微软雅黑"/>
                <a:ea typeface="微软雅黑"/>
              </a:rPr>
              <a:t>同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  <a:ea typeface="微软雅黑"/>
              </a:rPr>
              <a:t>色</a:t>
            </a:r>
            <a:endParaRPr lang="en-US" altLang="zh-CN" sz="24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/>
                <a:ea typeface="微软雅黑"/>
              </a:rPr>
              <a:t>	</a:t>
            </a:r>
            <a:r>
              <a:rPr lang="en-US" altLang="zh-CN" sz="2000">
                <a:solidFill>
                  <a:srgbClr val="000000"/>
                </a:solidFill>
                <a:latin typeface="微软雅黑"/>
                <a:ea typeface="微软雅黑"/>
              </a:rPr>
              <a:t>L </a:t>
            </a:r>
            <a:r>
              <a:rPr lang="zh-CN" altLang="en-US" sz="2000">
                <a:solidFill>
                  <a:srgbClr val="000000"/>
                </a:solidFill>
                <a:latin typeface="微软雅黑"/>
                <a:ea typeface="微软雅黑"/>
              </a:rPr>
              <a:t>形去重 </a:t>
            </a:r>
            <a:r>
              <a:rPr lang="en-US" altLang="zh-CN" sz="2000">
                <a:solidFill>
                  <a:srgbClr val="000000"/>
                </a:solidFill>
                <a:latin typeface="微软雅黑"/>
                <a:ea typeface="微软雅黑"/>
              </a:rPr>
              <a:t>+ </a:t>
            </a:r>
            <a:r>
              <a:rPr lang="zh-CN" altLang="en-US" sz="2000">
                <a:solidFill>
                  <a:srgbClr val="000000"/>
                </a:solidFill>
                <a:latin typeface="微软雅黑"/>
                <a:ea typeface="微软雅黑"/>
              </a:rPr>
              <a:t>回</a:t>
            </a:r>
            <a:r>
              <a:rPr lang="zh-CN" altLang="en-US" sz="2000" dirty="0">
                <a:solidFill>
                  <a:srgbClr val="000000"/>
                </a:solidFill>
                <a:latin typeface="微软雅黑"/>
                <a:ea typeface="微软雅黑"/>
              </a:rPr>
              <a:t>滚套路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今天的内容基本都是代码（比较枯燥），所以一定要认真听一下</a:t>
            </a:r>
            <a:r>
              <a:rPr lang="en-US" altLang="zh-CN" sz="2400" dirty="0">
                <a:solidFill>
                  <a:srgbClr val="FF0000"/>
                </a:solidFill>
              </a:rPr>
              <a:t>~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0EFA9C-E3C8-A985-97F5-F94F381E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L2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概要： 交互 和 判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</a:t>
            </a:r>
          </a:p>
        </p:txBody>
      </p:sp>
    </p:spTree>
    <p:extLst>
      <p:ext uri="{BB962C8B-B14F-4D97-AF65-F5344CB8AC3E}">
        <p14:creationId xmlns:p14="http://schemas.microsoft.com/office/powerpoint/2010/main" val="1724674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31EEA72-A02F-031D-D937-A4E38420D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zh-CN" dirty="0"/>
              <a:t>鼠标点下去：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① 拿屏幕坐标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② 翻译成格子坐标（world_to_grid）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③ 取出那颗宝石（get_gem_at）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④ 按规则表分支处理：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空闲 → 选中它（</a:t>
            </a:r>
            <a:r>
              <a:rPr lang="zh-CN" altLang="en-US" dirty="0"/>
              <a:t>添加半透明遮罩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选中 → 点自己？取消 </a:t>
            </a:r>
            <a:r>
              <a:rPr lang="en-US" altLang="zh-CN" b="1" dirty="0"/>
              <a:t>/</a:t>
            </a:r>
            <a:r>
              <a:rPr lang="zh-CN" altLang="zh-CN" dirty="0"/>
              <a:t>点相邻？交换</a:t>
            </a:r>
            <a:r>
              <a:rPr lang="en-US" altLang="zh-CN" dirty="0"/>
              <a:t> </a:t>
            </a:r>
            <a:r>
              <a:rPr lang="en-US" altLang="zh-CN" b="1" dirty="0"/>
              <a:t>/</a:t>
            </a:r>
            <a:r>
              <a:rPr lang="en-US" altLang="zh-CN" dirty="0"/>
              <a:t> </a:t>
            </a:r>
            <a:r>
              <a:rPr lang="zh-CN" altLang="zh-CN" dirty="0"/>
              <a:t>点非相邻？换选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⑤ 交换时：锁输入 → 问 Board 能不能换（try_swap，黑盒）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zh-CN" dirty="0"/>
              <a:t>→ 等结果 → 解锁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CD40CBD-4688-CDCE-8714-250B7EE86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交互层速览：结构伪代码</a:t>
            </a:r>
          </a:p>
        </p:txBody>
      </p:sp>
    </p:spTree>
    <p:extLst>
      <p:ext uri="{BB962C8B-B14F-4D97-AF65-F5344CB8AC3E}">
        <p14:creationId xmlns:p14="http://schemas.microsoft.com/office/powerpoint/2010/main" val="257748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FB90881-4601-5A30-8E15-4B4F8B9E1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088" y="1579818"/>
            <a:ext cx="9775293" cy="2844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>
                <a:latin typeface="Consolas" panose="020B0609020204030204" pitchFamily="49" charset="0"/>
              </a:rPr>
              <a:t>func world</a:t>
            </a:r>
            <a:r>
              <a:rPr lang="en-US" altLang="zh-CN" sz="2000" dirty="0" err="1">
                <a:latin typeface="Consolas" panose="020B0609020204030204" pitchFamily="49" charset="0"/>
              </a:rPr>
              <a:t>_to_grid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>
                <a:latin typeface="Consolas" panose="020B0609020204030204" pitchFamily="49" charset="0"/>
              </a:rPr>
              <a:t>world: Vector2) -&gt; Vector2i</a:t>
            </a:r>
            <a:r>
              <a:rPr lang="en-US" altLang="zh-CN" sz="20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altLang="zh-CN" sz="2000">
                <a:latin typeface="Consolas" panose="020B0609020204030204" pitchFamily="49" charset="0"/>
              </a:rPr>
              <a:t>	var local := world - origin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>
                <a:latin typeface="Consolas" panose="020B0609020204030204" pitchFamily="49" charset="0"/>
              </a:rPr>
              <a:t>	var col := int</a:t>
            </a:r>
            <a:r>
              <a:rPr lang="en-US" altLang="zh-CN" sz="2000" dirty="0">
                <a:latin typeface="Consolas" panose="020B0609020204030204" pitchFamily="49" charset="0"/>
              </a:rPr>
              <a:t>(floor(</a:t>
            </a:r>
            <a:r>
              <a:rPr lang="en-US" altLang="zh-CN" sz="2000" dirty="0" err="1">
                <a:latin typeface="Consolas" panose="020B0609020204030204" pitchFamily="49" charset="0"/>
              </a:rPr>
              <a:t>local</a:t>
            </a:r>
            <a:r>
              <a:rPr lang="en-US" altLang="zh-CN" sz="2000" err="1">
                <a:latin typeface="Consolas" panose="020B0609020204030204" pitchFamily="49" charset="0"/>
              </a:rPr>
              <a:t>.</a:t>
            </a:r>
            <a:r>
              <a:rPr lang="en-US" altLang="zh-CN" sz="2000">
                <a:latin typeface="Consolas" panose="020B0609020204030204" pitchFamily="49" charset="0"/>
              </a:rPr>
              <a:t>x / CELL</a:t>
            </a:r>
            <a:r>
              <a:rPr lang="en-US" altLang="zh-CN" sz="2000" dirty="0">
                <a:latin typeface="Consolas" panose="020B0609020204030204" pitchFamily="49" charset="0"/>
              </a:rPr>
              <a:t>_SIZE))</a:t>
            </a:r>
          </a:p>
          <a:p>
            <a:pPr marL="0" indent="0">
              <a:buNone/>
            </a:pPr>
            <a:r>
              <a:rPr lang="en-US" altLang="zh-CN" sz="2000">
                <a:latin typeface="Consolas" panose="020B0609020204030204" pitchFamily="49" charset="0"/>
              </a:rPr>
              <a:t>	var row := int</a:t>
            </a:r>
            <a:r>
              <a:rPr lang="en-US" altLang="zh-CN" sz="2000" dirty="0">
                <a:latin typeface="Consolas" panose="020B0609020204030204" pitchFamily="49" charset="0"/>
              </a:rPr>
              <a:t>(floor(</a:t>
            </a:r>
            <a:r>
              <a:rPr lang="en-US" altLang="zh-CN" sz="2000" dirty="0" err="1">
                <a:latin typeface="Consolas" panose="020B0609020204030204" pitchFamily="49" charset="0"/>
              </a:rPr>
              <a:t>local</a:t>
            </a:r>
            <a:r>
              <a:rPr lang="en-US" altLang="zh-CN" sz="2000" err="1">
                <a:latin typeface="Consolas" panose="020B0609020204030204" pitchFamily="49" charset="0"/>
              </a:rPr>
              <a:t>.</a:t>
            </a:r>
            <a:r>
              <a:rPr lang="en-US" altLang="zh-CN" sz="2000">
                <a:latin typeface="Consolas" panose="020B0609020204030204" pitchFamily="49" charset="0"/>
              </a:rPr>
              <a:t>y / CELL</a:t>
            </a:r>
            <a:r>
              <a:rPr lang="en-US" altLang="zh-CN" sz="2000" dirty="0">
                <a:latin typeface="Consolas" panose="020B0609020204030204" pitchFamily="49" charset="0"/>
              </a:rPr>
              <a:t>_SIZE))</a:t>
            </a:r>
          </a:p>
          <a:p>
            <a:pPr marL="0" indent="0">
              <a:buNone/>
            </a:pPr>
            <a:r>
              <a:rPr lang="en-US" altLang="zh-CN" sz="2000">
                <a:latin typeface="Consolas" panose="020B0609020204030204" pitchFamily="49" charset="0"/>
              </a:rPr>
              <a:t>	if col &lt; 0 or col &gt;= GRID</a:t>
            </a:r>
            <a:r>
              <a:rPr lang="en-US" altLang="zh-CN" sz="2000" err="1">
                <a:latin typeface="Consolas" panose="020B0609020204030204" pitchFamily="49" charset="0"/>
              </a:rPr>
              <a:t>_</a:t>
            </a:r>
            <a:r>
              <a:rPr lang="en-US" altLang="zh-CN" sz="2000">
                <a:latin typeface="Consolas" panose="020B0609020204030204" pitchFamily="49" charset="0"/>
              </a:rPr>
              <a:t>SIZE or row &lt; 0 or row &gt;= GRID</a:t>
            </a:r>
            <a:r>
              <a:rPr lang="en-US" altLang="zh-CN" sz="2000" dirty="0">
                <a:latin typeface="Consolas" panose="020B0609020204030204" pitchFamily="49" charset="0"/>
              </a:rPr>
              <a:t>_SIZE: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	return Vector2i</a:t>
            </a:r>
            <a:r>
              <a:rPr lang="en-US" altLang="zh-CN" sz="2000" dirty="0">
                <a:latin typeface="Consolas" panose="020B0609020204030204" pitchFamily="49" charset="0"/>
              </a:rPr>
              <a:t>(-</a:t>
            </a:r>
            <a:r>
              <a:rPr lang="en-US" altLang="zh-CN" sz="2000">
                <a:latin typeface="Consolas" panose="020B0609020204030204" pitchFamily="49" charset="0"/>
              </a:rPr>
              <a:t>1, -</a:t>
            </a:r>
            <a:r>
              <a:rPr lang="en-US" altLang="zh-CN" sz="2000" dirty="0">
                <a:latin typeface="Consolas" panose="020B0609020204030204" pitchFamily="49" charset="0"/>
              </a:rPr>
              <a:t>1)</a:t>
            </a:r>
          </a:p>
          <a:p>
            <a:pPr marL="0" indent="0">
              <a:buNone/>
            </a:pPr>
            <a:r>
              <a:rPr lang="en-US" altLang="zh-CN" sz="2000">
                <a:latin typeface="Consolas" panose="020B0609020204030204" pitchFamily="49" charset="0"/>
              </a:rPr>
              <a:t>	return Vector2i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err="1">
                <a:latin typeface="Consolas" panose="020B0609020204030204" pitchFamily="49" charset="0"/>
              </a:rPr>
              <a:t>col</a:t>
            </a:r>
            <a:r>
              <a:rPr lang="en-US" altLang="zh-CN" sz="2000">
                <a:latin typeface="Consolas" panose="020B0609020204030204" pitchFamily="49" charset="0"/>
              </a:rPr>
              <a:t>, row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C91206-4B3E-F68D-ACAC-FA38C5528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反向操作：屏幕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坐标 → 格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子坐标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E6D4E8-55DA-9E23-D302-6E2BD86C529D}"/>
              </a:ext>
            </a:extLst>
          </p:cNvPr>
          <p:cNvSpPr/>
          <p:nvPr/>
        </p:nvSpPr>
        <p:spPr>
          <a:xfrm>
            <a:off x="460088" y="1579818"/>
            <a:ext cx="9775293" cy="2844697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B1AE64-7C3F-F36C-E6EA-992DF8697476}"/>
              </a:ext>
            </a:extLst>
          </p:cNvPr>
          <p:cNvSpPr txBox="1"/>
          <p:nvPr/>
        </p:nvSpPr>
        <p:spPr>
          <a:xfrm>
            <a:off x="460088" y="4635486"/>
            <a:ext cx="110928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继续从</a:t>
            </a:r>
            <a:r>
              <a:rPr lang="en-US" altLang="zh-CN" sz="2400" b="1" dirty="0"/>
              <a:t>board.gd</a:t>
            </a:r>
            <a:r>
              <a:rPr lang="zh-CN" altLang="en-US" sz="2400" b="1" dirty="0"/>
              <a:t>开始，</a:t>
            </a:r>
            <a:r>
              <a:rPr lang="zh-CN" altLang="en-US" sz="2400" dirty="0"/>
              <a:t>我们来添加以下函数</a:t>
            </a:r>
            <a:r>
              <a:rPr lang="en-US" altLang="zh-CN" sz="2400" dirty="0"/>
              <a:t>~</a:t>
            </a:r>
          </a:p>
          <a:p>
            <a:endParaRPr lang="en-US" altLang="zh-CN" sz="2400" dirty="0"/>
          </a:p>
          <a:p>
            <a:r>
              <a:rPr lang="zh-CN" altLang="en-US" sz="2400" b="1" dirty="0"/>
              <a:t>计算方法</a:t>
            </a:r>
            <a:r>
              <a:rPr lang="zh-CN" altLang="en-US" sz="2400" b="1"/>
              <a:t>：</a:t>
            </a:r>
            <a:r>
              <a:rPr lang="zh-CN" altLang="zh-CN" sz="2400" b="1"/>
              <a:t>减 o</a:t>
            </a:r>
            <a:r>
              <a:rPr lang="zh-CN" altLang="zh-CN" sz="2400" b="1" dirty="0"/>
              <a:t>rigin（棋盘左上角</a:t>
            </a:r>
            <a:r>
              <a:rPr lang="zh-CN" altLang="zh-CN" sz="2400" b="1"/>
              <a:t>）→ 除以 6</a:t>
            </a:r>
            <a:r>
              <a:rPr lang="zh-CN" altLang="zh-CN" sz="2400" b="1" dirty="0"/>
              <a:t>4（格宽</a:t>
            </a:r>
            <a:r>
              <a:rPr lang="zh-CN" altLang="zh-CN" sz="2400" b="1"/>
              <a:t>）→ f</a:t>
            </a:r>
            <a:r>
              <a:rPr lang="zh-CN" altLang="zh-CN" sz="2400" b="1" dirty="0"/>
              <a:t>lo</a:t>
            </a:r>
            <a:r>
              <a:rPr lang="zh-CN" altLang="zh-CN" sz="2400" b="1"/>
              <a:t>or 向</a:t>
            </a:r>
            <a:r>
              <a:rPr lang="zh-CN" altLang="zh-CN" sz="2400" b="1" dirty="0"/>
              <a:t>下取整</a:t>
            </a:r>
            <a:endParaRPr lang="en-US" altLang="zh-CN" sz="2400" b="1" dirty="0"/>
          </a:p>
          <a:p>
            <a:r>
              <a:rPr lang="zh-CN" altLang="en-US" sz="2400" b="1" dirty="0"/>
              <a:t>（</a:t>
            </a:r>
            <a:r>
              <a:rPr lang="en-US" altLang="zh-CN" sz="2400" b="1" dirty="0"/>
              <a:t>-1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-1</a:t>
            </a:r>
            <a:r>
              <a:rPr lang="zh-CN" altLang="en-US" sz="2400" b="1" dirty="0"/>
              <a:t>）</a:t>
            </a:r>
            <a:r>
              <a:rPr lang="zh-CN" altLang="en-US" sz="2400" dirty="0"/>
              <a:t>是</a:t>
            </a:r>
            <a:r>
              <a:rPr lang="zh-CN" altLang="en-US" sz="2400" b="1" dirty="0"/>
              <a:t>越界坐标</a:t>
            </a:r>
            <a:r>
              <a:rPr lang="zh-CN" altLang="en-US" sz="2400" dirty="0"/>
              <a:t>，当点击位置出界，统一处理成一个信号方便后续处理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27968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40EBFF0-432D-32EA-7A8E-F9BD87E7A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088" y="1651898"/>
            <a:ext cx="11006352" cy="2487483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000" dirty="0">
                <a:latin typeface="Consolas" panose="020B0609020204030204" pitchFamily="49" charset="0"/>
              </a:rPr>
              <a:t>fu</a:t>
            </a:r>
            <a:r>
              <a:rPr lang="zh-CN" altLang="zh-CN" sz="2000">
                <a:latin typeface="Consolas" panose="020B0609020204030204" pitchFamily="49" charset="0"/>
              </a:rPr>
              <a:t>nc g</a:t>
            </a:r>
            <a:r>
              <a:rPr lang="zh-CN" altLang="zh-CN" sz="2000" dirty="0">
                <a:latin typeface="Consolas" panose="020B0609020204030204" pitchFamily="49" charset="0"/>
              </a:rPr>
              <a:t>et_gem_at(po</a:t>
            </a:r>
            <a:r>
              <a:rPr lang="zh-CN" altLang="zh-CN" sz="2000">
                <a:latin typeface="Consolas" panose="020B0609020204030204" pitchFamily="49" charset="0"/>
              </a:rPr>
              <a:t>s: V</a:t>
            </a:r>
            <a:r>
              <a:rPr lang="zh-CN" altLang="zh-CN" sz="2000" dirty="0">
                <a:latin typeface="Consolas" panose="020B0609020204030204" pitchFamily="49" charset="0"/>
              </a:rPr>
              <a:t>ector2</a:t>
            </a:r>
            <a:r>
              <a:rPr lang="zh-CN" altLang="zh-CN" sz="2000">
                <a:latin typeface="Consolas" panose="020B0609020204030204" pitchFamily="49" charset="0"/>
              </a:rPr>
              <a:t>i) -&gt; G</a:t>
            </a:r>
            <a:r>
              <a:rPr lang="zh-CN" altLang="zh-CN" sz="2000" dirty="0">
                <a:latin typeface="Consolas" panose="020B0609020204030204" pitchFamily="49" charset="0"/>
              </a:rPr>
              <a:t>em: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zh-CN" altLang="zh-CN" sz="2000">
                <a:latin typeface="Consolas" panose="020B0609020204030204" pitchFamily="49" charset="0"/>
              </a:rPr>
              <a:t>if g</a:t>
            </a:r>
            <a:r>
              <a:rPr lang="zh-CN" altLang="zh-CN" sz="2000" dirty="0">
                <a:latin typeface="Consolas" panose="020B0609020204030204" pitchFamily="49" charset="0"/>
              </a:rPr>
              <a:t>rid.is_empty():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zh-CN" altLang="zh-CN" sz="2000" dirty="0">
                <a:latin typeface="Consolas" panose="020B0609020204030204" pitchFamily="49" charset="0"/>
              </a:rPr>
              <a:t>retu</a:t>
            </a:r>
            <a:r>
              <a:rPr lang="zh-CN" altLang="zh-CN" sz="2000">
                <a:latin typeface="Consolas" panose="020B0609020204030204" pitchFamily="49" charset="0"/>
              </a:rPr>
              <a:t>rn n</a:t>
            </a:r>
            <a:r>
              <a:rPr lang="zh-CN" altLang="zh-CN" sz="2000" dirty="0">
                <a:latin typeface="Consolas" panose="020B0609020204030204" pitchFamily="49" charset="0"/>
              </a:rPr>
              <a:t>ull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zh-CN" altLang="zh-CN" sz="2000">
                <a:latin typeface="Consolas" panose="020B0609020204030204" pitchFamily="49" charset="0"/>
              </a:rPr>
              <a:t>if p</a:t>
            </a:r>
            <a:r>
              <a:rPr lang="zh-CN" altLang="zh-CN" sz="2000" dirty="0">
                <a:latin typeface="Consolas" panose="020B0609020204030204" pitchFamily="49" charset="0"/>
              </a:rPr>
              <a:t>os</a:t>
            </a:r>
            <a:r>
              <a:rPr lang="zh-CN" altLang="zh-CN" sz="2000">
                <a:latin typeface="Consolas" panose="020B0609020204030204" pitchFamily="49" charset="0"/>
              </a:rPr>
              <a:t>.x &lt; 0 or p</a:t>
            </a:r>
            <a:r>
              <a:rPr lang="zh-CN" altLang="zh-CN" sz="2000" dirty="0">
                <a:latin typeface="Consolas" panose="020B0609020204030204" pitchFamily="49" charset="0"/>
              </a:rPr>
              <a:t>os</a:t>
            </a:r>
            <a:r>
              <a:rPr lang="zh-CN" altLang="zh-CN" sz="2000">
                <a:latin typeface="Consolas" panose="020B0609020204030204" pitchFamily="49" charset="0"/>
              </a:rPr>
              <a:t>.x &gt;= G</a:t>
            </a:r>
            <a:r>
              <a:rPr lang="zh-CN" altLang="zh-CN" sz="2000" dirty="0">
                <a:latin typeface="Consolas" panose="020B0609020204030204" pitchFamily="49" charset="0"/>
              </a:rPr>
              <a:t>RID_SI</a:t>
            </a:r>
            <a:r>
              <a:rPr lang="zh-CN" altLang="zh-CN" sz="2000">
                <a:latin typeface="Consolas" panose="020B0609020204030204" pitchFamily="49" charset="0"/>
              </a:rPr>
              <a:t>ZE or p</a:t>
            </a:r>
            <a:r>
              <a:rPr lang="zh-CN" altLang="zh-CN" sz="2000" dirty="0">
                <a:latin typeface="Consolas" panose="020B0609020204030204" pitchFamily="49" charset="0"/>
              </a:rPr>
              <a:t>os</a:t>
            </a:r>
            <a:r>
              <a:rPr lang="zh-CN" altLang="zh-CN" sz="2000">
                <a:latin typeface="Consolas" panose="020B0609020204030204" pitchFamily="49" charset="0"/>
              </a:rPr>
              <a:t>.y &lt; 0 or p</a:t>
            </a:r>
            <a:r>
              <a:rPr lang="zh-CN" altLang="zh-CN" sz="2000" dirty="0">
                <a:latin typeface="Consolas" panose="020B0609020204030204" pitchFamily="49" charset="0"/>
              </a:rPr>
              <a:t>os</a:t>
            </a:r>
            <a:r>
              <a:rPr lang="zh-CN" altLang="zh-CN" sz="2000">
                <a:latin typeface="Consolas" panose="020B0609020204030204" pitchFamily="49" charset="0"/>
              </a:rPr>
              <a:t>.y &gt;= G</a:t>
            </a:r>
            <a:r>
              <a:rPr lang="zh-CN" altLang="zh-CN" sz="2000" dirty="0">
                <a:latin typeface="Consolas" panose="020B0609020204030204" pitchFamily="49" charset="0"/>
              </a:rPr>
              <a:t>RID_SIZE: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zh-CN" altLang="zh-CN" sz="2000" dirty="0">
                <a:latin typeface="Consolas" panose="020B0609020204030204" pitchFamily="49" charset="0"/>
              </a:rPr>
              <a:t>retu</a:t>
            </a:r>
            <a:r>
              <a:rPr lang="zh-CN" altLang="zh-CN" sz="2000">
                <a:latin typeface="Consolas" panose="020B0609020204030204" pitchFamily="49" charset="0"/>
              </a:rPr>
              <a:t>rn n</a:t>
            </a:r>
            <a:r>
              <a:rPr lang="zh-CN" altLang="zh-CN" sz="2000" dirty="0">
                <a:latin typeface="Consolas" panose="020B0609020204030204" pitchFamily="49" charset="0"/>
              </a:rPr>
              <a:t>ull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</a:rPr>
              <a:t>retu</a:t>
            </a:r>
            <a:r>
              <a:rPr lang="zh-CN" altLang="zh-CN" sz="2000">
                <a:latin typeface="Consolas" panose="020B0609020204030204" pitchFamily="49" charset="0"/>
              </a:rPr>
              <a:t>rn g</a:t>
            </a:r>
            <a:r>
              <a:rPr lang="zh-CN" altLang="zh-CN" sz="2000" dirty="0">
                <a:latin typeface="Consolas" panose="020B0609020204030204" pitchFamily="49" charset="0"/>
              </a:rPr>
              <a:t>rid[pos.x][pos.</a:t>
            </a:r>
            <a:r>
              <a:rPr lang="zh-CN" altLang="zh-CN" sz="2000">
                <a:latin typeface="Consolas" panose="020B0609020204030204" pitchFamily="49" charset="0"/>
              </a:rPr>
              <a:t>y] as G</a:t>
            </a:r>
            <a:r>
              <a:rPr lang="zh-CN" altLang="zh-CN" sz="2000" dirty="0">
                <a:latin typeface="Consolas" panose="020B0609020204030204" pitchFamily="49" charset="0"/>
              </a:rPr>
              <a:t>em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B883F4-5BA6-5CD4-E66E-9D942577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顺着格子找宝石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8AC840-527D-760A-FD4D-BCE901730DC1}"/>
              </a:ext>
            </a:extLst>
          </p:cNvPr>
          <p:cNvSpPr/>
          <p:nvPr/>
        </p:nvSpPr>
        <p:spPr>
          <a:xfrm>
            <a:off x="460088" y="1579818"/>
            <a:ext cx="11006353" cy="2559563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37DBA5-F73C-8DCF-4532-7E4F13D3A67D}"/>
              </a:ext>
            </a:extLst>
          </p:cNvPr>
          <p:cNvSpPr txBox="1"/>
          <p:nvPr/>
        </p:nvSpPr>
        <p:spPr>
          <a:xfrm>
            <a:off x="443519" y="4522839"/>
            <a:ext cx="110229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两个</a:t>
            </a:r>
            <a:r>
              <a:rPr lang="en-US" altLang="zh-CN" sz="2400" dirty="0"/>
              <a:t>if</a:t>
            </a:r>
            <a:r>
              <a:rPr lang="zh-CN" altLang="en-US" sz="2400" dirty="0"/>
              <a:t>条件判断负责将</a:t>
            </a:r>
            <a:r>
              <a:rPr lang="zh-CN" altLang="en-US" sz="2400" b="1" dirty="0"/>
              <a:t>非法数据排除</a:t>
            </a:r>
            <a:r>
              <a:rPr lang="zh-CN" altLang="en-US" sz="2400" dirty="0"/>
              <a:t>（空棋盘，越界位置）</a:t>
            </a:r>
            <a:endParaRPr lang="en-US" altLang="zh-CN" sz="2400" dirty="0"/>
          </a:p>
          <a:p>
            <a:r>
              <a:rPr lang="zh-CN" altLang="en-US" sz="2400" dirty="0"/>
              <a:t>然后，得到宝石所在位置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完整点击链路将在后面展示</a:t>
            </a:r>
            <a:r>
              <a:rPr lang="en-US" altLang="zh-CN" sz="2400" dirty="0"/>
              <a:t>~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9132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C368BBB-08DA-8464-7D63-BA3C066B6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60" y="1579820"/>
            <a:ext cx="8526596" cy="1920465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fu</a:t>
            </a:r>
            <a:r>
              <a:rPr lang="zh-CN" altLang="zh-CN" sz="2400">
                <a:latin typeface="Consolas" panose="020B0609020204030204" pitchFamily="49" charset="0"/>
              </a:rPr>
              <a:t>nc i</a:t>
            </a:r>
            <a:r>
              <a:rPr lang="zh-CN" altLang="zh-CN" sz="2400" dirty="0">
                <a:latin typeface="Consolas" panose="020B0609020204030204" pitchFamily="49" charset="0"/>
              </a:rPr>
              <a:t>s_adjacent(</a:t>
            </a:r>
            <a:r>
              <a:rPr lang="zh-CN" altLang="zh-CN" sz="2400">
                <a:latin typeface="Consolas" panose="020B0609020204030204" pitchFamily="49" charset="0"/>
              </a:rPr>
              <a:t>a: G</a:t>
            </a:r>
            <a:r>
              <a:rPr lang="zh-CN" altLang="zh-CN" sz="2400" dirty="0">
                <a:latin typeface="Consolas" panose="020B0609020204030204" pitchFamily="49" charset="0"/>
              </a:rPr>
              <a:t>e</a:t>
            </a:r>
            <a:r>
              <a:rPr lang="zh-CN" altLang="zh-CN" sz="2400">
                <a:latin typeface="Consolas" panose="020B0609020204030204" pitchFamily="49" charset="0"/>
              </a:rPr>
              <a:t>m, b: G</a:t>
            </a:r>
            <a:r>
              <a:rPr lang="zh-CN" altLang="zh-CN" sz="2400" dirty="0">
                <a:latin typeface="Consolas" panose="020B0609020204030204" pitchFamily="49" charset="0"/>
              </a:rPr>
              <a:t>e</a:t>
            </a:r>
            <a:r>
              <a:rPr lang="zh-CN" altLang="zh-CN" sz="2400">
                <a:latin typeface="Consolas" panose="020B0609020204030204" pitchFamily="49" charset="0"/>
              </a:rPr>
              <a:t>m) -&gt; b</a:t>
            </a:r>
            <a:r>
              <a:rPr lang="zh-CN" altLang="zh-CN" sz="2400" dirty="0">
                <a:latin typeface="Consolas" panose="020B0609020204030204" pitchFamily="49" charset="0"/>
              </a:rPr>
              <a:t>ool: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zh-CN" altLang="zh-CN" sz="2400" dirty="0">
                <a:latin typeface="Consolas" panose="020B0609020204030204" pitchFamily="49" charset="0"/>
              </a:rPr>
              <a:t>v</a:t>
            </a:r>
            <a:r>
              <a:rPr lang="zh-CN" altLang="zh-CN" sz="2400">
                <a:latin typeface="Consolas" panose="020B0609020204030204" pitchFamily="49" charset="0"/>
              </a:rPr>
              <a:t>ar dx := a</a:t>
            </a:r>
            <a:r>
              <a:rPr lang="zh-CN" altLang="zh-CN" sz="2400" dirty="0">
                <a:latin typeface="Consolas" panose="020B0609020204030204" pitchFamily="49" charset="0"/>
              </a:rPr>
              <a:t>bsi(a.grid_pos</a:t>
            </a:r>
            <a:r>
              <a:rPr lang="zh-CN" altLang="zh-CN" sz="2400">
                <a:latin typeface="Consolas" panose="020B0609020204030204" pitchFamily="49" charset="0"/>
              </a:rPr>
              <a:t>.x - b</a:t>
            </a:r>
            <a:r>
              <a:rPr lang="zh-CN" altLang="zh-CN" sz="2400" dirty="0">
                <a:latin typeface="Consolas" panose="020B0609020204030204" pitchFamily="49" charset="0"/>
              </a:rPr>
              <a:t>.grid_pos.x)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zh-CN" altLang="zh-CN" sz="2400" dirty="0">
                <a:latin typeface="Consolas" panose="020B0609020204030204" pitchFamily="49" charset="0"/>
              </a:rPr>
              <a:t>v</a:t>
            </a:r>
            <a:r>
              <a:rPr lang="zh-CN" altLang="zh-CN" sz="2400">
                <a:latin typeface="Consolas" panose="020B0609020204030204" pitchFamily="49" charset="0"/>
              </a:rPr>
              <a:t>ar dy := a</a:t>
            </a:r>
            <a:r>
              <a:rPr lang="zh-CN" altLang="zh-CN" sz="2400" dirty="0">
                <a:latin typeface="Consolas" panose="020B0609020204030204" pitchFamily="49" charset="0"/>
              </a:rPr>
              <a:t>bsi(a.grid_pos</a:t>
            </a:r>
            <a:r>
              <a:rPr lang="zh-CN" altLang="zh-CN" sz="2400">
                <a:latin typeface="Consolas" panose="020B0609020204030204" pitchFamily="49" charset="0"/>
              </a:rPr>
              <a:t>.y - b</a:t>
            </a:r>
            <a:r>
              <a:rPr lang="zh-CN" altLang="zh-CN" sz="2400" dirty="0">
                <a:latin typeface="Consolas" panose="020B0609020204030204" pitchFamily="49" charset="0"/>
              </a:rPr>
              <a:t>.grid_pos.y)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zh-CN" altLang="zh-CN" sz="2400" dirty="0">
                <a:latin typeface="Consolas" panose="020B0609020204030204" pitchFamily="49" charset="0"/>
              </a:rPr>
              <a:t>retu</a:t>
            </a:r>
            <a:r>
              <a:rPr lang="zh-CN" altLang="zh-CN" sz="2400">
                <a:latin typeface="Consolas" panose="020B0609020204030204" pitchFamily="49" charset="0"/>
              </a:rPr>
              <a:t>rn dx + dy == 1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5B80432-F9B8-EBD4-D5E8-46A21EC0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判断两个宝石是否相连：曼哈顿距离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186066-AF2F-2FC1-FF24-6E71DF225746}"/>
              </a:ext>
            </a:extLst>
          </p:cNvPr>
          <p:cNvSpPr/>
          <p:nvPr/>
        </p:nvSpPr>
        <p:spPr>
          <a:xfrm>
            <a:off x="460089" y="1579819"/>
            <a:ext cx="8752738" cy="184918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90379C-B3A5-3351-D4DF-1D3459CB608B}"/>
              </a:ext>
            </a:extLst>
          </p:cNvPr>
          <p:cNvSpPr txBox="1"/>
          <p:nvPr/>
        </p:nvSpPr>
        <p:spPr>
          <a:xfrm>
            <a:off x="460089" y="3939352"/>
            <a:ext cx="110229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曼哈顿距</a:t>
            </a:r>
            <a:r>
              <a:rPr lang="zh-CN" altLang="zh-CN" sz="2400" b="1"/>
              <a:t>离</a:t>
            </a:r>
            <a:r>
              <a:rPr lang="zh-CN" altLang="zh-CN" sz="2400"/>
              <a:t>= 横</a:t>
            </a:r>
            <a:r>
              <a:rPr lang="zh-CN" altLang="zh-CN" sz="2400" dirty="0"/>
              <a:t>差+纵差（只能上下左右走，不能斜穿——</a:t>
            </a:r>
            <a:r>
              <a:rPr lang="zh-CN" altLang="en-US" sz="2400" dirty="0"/>
              <a:t>就像你打出租车那样</a:t>
            </a:r>
            <a:r>
              <a:rPr lang="zh-CN" altLang="zh-CN" sz="2400" dirty="0"/>
              <a:t>）</a:t>
            </a:r>
          </a:p>
          <a:p>
            <a:r>
              <a:rPr lang="en-US" altLang="zh-CN" sz="2400" dirty="0"/>
              <a:t>	</a:t>
            </a:r>
            <a:r>
              <a:rPr lang="zh-CN" altLang="zh-CN" sz="2400"/>
              <a:t>== 1</a:t>
            </a:r>
            <a:r>
              <a:rPr lang="zh-CN" altLang="en-US" sz="2400" dirty="0"/>
              <a:t>：</a:t>
            </a:r>
            <a:r>
              <a:rPr lang="zh-CN" altLang="zh-CN" sz="2400" dirty="0"/>
              <a:t>上下左右相邻；斜对</a:t>
            </a:r>
            <a:r>
              <a:rPr lang="zh-CN" altLang="zh-CN" sz="2400"/>
              <a:t>角是 1</a:t>
            </a:r>
            <a:r>
              <a:rPr lang="zh-CN" altLang="zh-CN" sz="2400" dirty="0"/>
              <a:t>+1=2，</a:t>
            </a:r>
            <a:r>
              <a:rPr lang="zh-CN" altLang="zh-CN" sz="2400" b="1" dirty="0"/>
              <a:t>不算</a:t>
            </a:r>
            <a:r>
              <a:rPr lang="zh-CN" altLang="en-US" sz="2400" b="1" dirty="0"/>
              <a:t>相邻</a:t>
            </a:r>
            <a:endParaRPr lang="en-US" altLang="zh-CN" sz="2400" b="1" dirty="0"/>
          </a:p>
          <a:p>
            <a:r>
              <a:rPr lang="en-US" altLang="zh-CN" sz="2400" dirty="0"/>
              <a:t>	</a:t>
            </a:r>
            <a:r>
              <a:rPr lang="zh-CN" altLang="zh-CN" sz="2400" dirty="0"/>
              <a:t>absi=绝对值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	</a:t>
            </a:r>
            <a:r>
              <a:rPr lang="zh-CN" altLang="en-US" sz="2400" dirty="0">
                <a:solidFill>
                  <a:srgbClr val="FF0000"/>
                </a:solidFill>
              </a:rPr>
              <a:t>（</a:t>
            </a:r>
            <a:r>
              <a:rPr lang="zh-CN" altLang="zh-CN" sz="2400" dirty="0">
                <a:solidFill>
                  <a:srgbClr val="FF0000"/>
                </a:solidFill>
              </a:rPr>
              <a:t>God</a:t>
            </a:r>
            <a:r>
              <a:rPr lang="zh-CN" altLang="zh-CN" sz="2400">
                <a:solidFill>
                  <a:srgbClr val="FF0000"/>
                </a:solidFill>
              </a:rPr>
              <a:t>ot 4 把</a:t>
            </a:r>
            <a:r>
              <a:rPr lang="zh-CN" altLang="zh-CN" sz="2400" dirty="0">
                <a:solidFill>
                  <a:srgbClr val="FF0000"/>
                </a:solidFill>
              </a:rPr>
              <a:t>警告当错误，abs</a:t>
            </a:r>
            <a:r>
              <a:rPr lang="zh-CN" altLang="zh-CN" sz="2400">
                <a:solidFill>
                  <a:srgbClr val="FF0000"/>
                </a:solidFill>
              </a:rPr>
              <a:t>() </a:t>
            </a:r>
            <a:r>
              <a:rPr lang="zh-CN" altLang="en-US" sz="2400">
                <a:solidFill>
                  <a:srgbClr val="FF0000"/>
                </a:solidFill>
              </a:rPr>
              <a:t>编</a:t>
            </a:r>
            <a:r>
              <a:rPr lang="zh-CN" altLang="en-US" sz="2400" dirty="0">
                <a:solidFill>
                  <a:srgbClr val="FF0000"/>
                </a:solidFill>
              </a:rPr>
              <a:t>译</a:t>
            </a:r>
            <a:r>
              <a:rPr lang="zh-CN" altLang="zh-CN" sz="2400" dirty="0">
                <a:solidFill>
                  <a:srgbClr val="FF0000"/>
                </a:solidFill>
              </a:rPr>
              <a:t>不</a:t>
            </a:r>
            <a:r>
              <a:rPr lang="zh-CN" altLang="en-US" sz="2400" dirty="0">
                <a:solidFill>
                  <a:srgbClr val="FF0000"/>
                </a:solidFill>
              </a:rPr>
              <a:t>通</a:t>
            </a:r>
            <a:r>
              <a:rPr lang="zh-CN" altLang="zh-CN" sz="2400" dirty="0">
                <a:solidFill>
                  <a:srgbClr val="FF0000"/>
                </a:solidFill>
              </a:rPr>
              <a:t>过，必</a:t>
            </a:r>
            <a:r>
              <a:rPr lang="zh-CN" altLang="zh-CN" sz="2400">
                <a:solidFill>
                  <a:srgbClr val="FF0000"/>
                </a:solidFill>
              </a:rPr>
              <a:t>须用 a</a:t>
            </a:r>
            <a:r>
              <a:rPr lang="zh-CN" altLang="zh-CN" sz="2400" dirty="0">
                <a:solidFill>
                  <a:srgbClr val="FF0000"/>
                </a:solidFill>
              </a:rPr>
              <a:t>bsi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zh-CN" sz="2400" b="1"/>
              <a:t>相邻</a:t>
            </a:r>
            <a:r>
              <a:rPr lang="en-US" altLang="zh-CN" sz="2400" b="1"/>
              <a:t> </a:t>
            </a:r>
            <a:r>
              <a:rPr lang="zh-CN" altLang="zh-CN" sz="2400" b="1"/>
              <a:t>由 B</a:t>
            </a:r>
            <a:r>
              <a:rPr lang="zh-CN" altLang="zh-CN" sz="2400" b="1" dirty="0"/>
              <a:t>oa</a:t>
            </a:r>
            <a:r>
              <a:rPr lang="zh-CN" altLang="zh-CN" sz="2400" b="1"/>
              <a:t>rd 说</a:t>
            </a:r>
            <a:r>
              <a:rPr lang="zh-CN" altLang="zh-CN" sz="2400" b="1" dirty="0"/>
              <a:t>了算</a:t>
            </a:r>
            <a:r>
              <a:rPr lang="zh-CN" altLang="zh-CN" sz="2400" dirty="0"/>
              <a:t>：Ma</a:t>
            </a:r>
            <a:r>
              <a:rPr lang="zh-CN" altLang="zh-CN" sz="2400"/>
              <a:t>in 调 b</a:t>
            </a:r>
            <a:r>
              <a:rPr lang="zh-CN" altLang="zh-CN" sz="2400" dirty="0"/>
              <a:t>oard.is_adjacent(..</a:t>
            </a:r>
            <a:r>
              <a:rPr lang="zh-CN" altLang="zh-CN" sz="2400"/>
              <a:t>.) 只</a:t>
            </a:r>
            <a:r>
              <a:rPr lang="zh-CN" altLang="zh-CN" sz="2400" dirty="0"/>
              <a:t>问</a:t>
            </a:r>
            <a:r>
              <a:rPr lang="zh-CN" altLang="en-US" sz="2400" dirty="0"/>
              <a:t>“</a:t>
            </a:r>
            <a:r>
              <a:rPr lang="zh-CN" altLang="zh-CN" sz="2400" dirty="0"/>
              <a:t>是/不是</a:t>
            </a:r>
            <a:r>
              <a:rPr lang="zh-CN" altLang="en-US" sz="2400" dirty="0"/>
              <a:t>”</a:t>
            </a:r>
            <a:r>
              <a:rPr lang="zh-CN" altLang="zh-CN" sz="2400" dirty="0"/>
              <a:t>，不自己算</a:t>
            </a:r>
            <a:r>
              <a:rPr lang="zh-CN" altLang="en-US" sz="2400" dirty="0"/>
              <a:t>（</a:t>
            </a:r>
            <a:r>
              <a:rPr lang="zh-CN" altLang="zh-CN" sz="2400" dirty="0"/>
              <a:t>黑盒法</a:t>
            </a:r>
            <a:r>
              <a:rPr lang="zh-CN" altLang="en-US" sz="2400" dirty="0"/>
              <a:t>）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88460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E56FF5-50D3-595D-638E-0A25C2E7A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651898"/>
            <a:ext cx="6363500" cy="992979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fu</a:t>
            </a:r>
            <a:r>
              <a:rPr lang="zh-CN" altLang="zh-CN" sz="2400">
                <a:latin typeface="Consolas" panose="020B0609020204030204" pitchFamily="49" charset="0"/>
              </a:rPr>
              <a:t>nc s</a:t>
            </a:r>
            <a:r>
              <a:rPr lang="zh-CN" altLang="zh-CN" sz="2400" dirty="0">
                <a:latin typeface="Consolas" panose="020B0609020204030204" pitchFamily="49" charset="0"/>
              </a:rPr>
              <a:t>et_selected(o</a:t>
            </a:r>
            <a:r>
              <a:rPr lang="zh-CN" altLang="zh-CN" sz="2400">
                <a:latin typeface="Consolas" panose="020B0609020204030204" pitchFamily="49" charset="0"/>
              </a:rPr>
              <a:t>n: b</a:t>
            </a:r>
            <a:r>
              <a:rPr lang="zh-CN" altLang="zh-CN" sz="2400" dirty="0">
                <a:latin typeface="Consolas" panose="020B0609020204030204" pitchFamily="49" charset="0"/>
              </a:rPr>
              <a:t>oo</a:t>
            </a:r>
            <a:r>
              <a:rPr lang="zh-CN" altLang="zh-CN" sz="2400">
                <a:latin typeface="Consolas" panose="020B0609020204030204" pitchFamily="49" charset="0"/>
              </a:rPr>
              <a:t>l) -&gt; v</a:t>
            </a:r>
            <a:r>
              <a:rPr lang="zh-CN" altLang="zh-CN" sz="2400" dirty="0">
                <a:latin typeface="Consolas" panose="020B0609020204030204" pitchFamily="49" charset="0"/>
              </a:rPr>
              <a:t>oid: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zh-CN" altLang="zh-CN" sz="2400" dirty="0">
                <a:latin typeface="Consolas" panose="020B0609020204030204" pitchFamily="49" charset="0"/>
              </a:rPr>
              <a:t>_select_mask.visib</a:t>
            </a:r>
            <a:r>
              <a:rPr lang="zh-CN" altLang="zh-CN" sz="2400">
                <a:latin typeface="Consolas" panose="020B0609020204030204" pitchFamily="49" charset="0"/>
              </a:rPr>
              <a:t>le = o</a:t>
            </a:r>
            <a:r>
              <a:rPr lang="zh-CN" altLang="zh-CN" sz="2400" dirty="0">
                <a:latin typeface="Consolas" panose="020B0609020204030204" pitchFamily="49" charset="0"/>
              </a:rPr>
              <a:t>n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D516BB2-AD93-7E55-C3D9-84B82359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回到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gem.gd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半透明遮罩实现添加逻辑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AC3E73-7F94-5EF0-9FC8-2955514408C8}"/>
              </a:ext>
            </a:extLst>
          </p:cNvPr>
          <p:cNvSpPr/>
          <p:nvPr/>
        </p:nvSpPr>
        <p:spPr>
          <a:xfrm>
            <a:off x="599768" y="1579820"/>
            <a:ext cx="6489290" cy="106505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6B3B36-2A31-6ADA-699E-C6E019FECDD3}"/>
              </a:ext>
            </a:extLst>
          </p:cNvPr>
          <p:cNvSpPr txBox="1"/>
          <p:nvPr/>
        </p:nvSpPr>
        <p:spPr>
          <a:xfrm>
            <a:off x="599768" y="3013501"/>
            <a:ext cx="1108095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还记得</a:t>
            </a:r>
            <a:r>
              <a:rPr lang="en-US" altLang="zh-CN" sz="2800" dirty="0"/>
              <a:t>L1</a:t>
            </a:r>
            <a:r>
              <a:rPr lang="zh-CN" altLang="en-US" sz="2800" dirty="0"/>
              <a:t>中，有一条我们要求先注释掉的代码吗</a:t>
            </a:r>
            <a:r>
              <a:rPr lang="en-US" altLang="zh-CN" sz="2800" dirty="0"/>
              <a:t>?</a:t>
            </a:r>
            <a:r>
              <a:rPr lang="zh-CN" altLang="en-US" sz="2800" dirty="0"/>
              <a:t>现在取消注释，并添加以上代码段。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/>
              <a:t>利用 </a:t>
            </a:r>
            <a:r>
              <a:rPr lang="en-US" altLang="zh-CN" sz="2800"/>
              <a:t>bool</a:t>
            </a:r>
            <a:r>
              <a:rPr lang="zh-CN" altLang="en-US" sz="2800"/>
              <a:t>值 来</a:t>
            </a:r>
            <a:r>
              <a:rPr lang="zh-CN" altLang="en-US" sz="2800" dirty="0"/>
              <a:t>做一份开关：</a:t>
            </a:r>
            <a:r>
              <a:rPr lang="zh-CN" altLang="zh-CN" sz="2800" dirty="0"/>
              <a:t>true</a:t>
            </a:r>
            <a:r>
              <a:rPr lang="en-US" altLang="zh-CN" sz="2800" dirty="0"/>
              <a:t>=</a:t>
            </a:r>
            <a:r>
              <a:rPr lang="zh-CN" altLang="zh-CN" sz="2800" dirty="0"/>
              <a:t>选中、false</a:t>
            </a:r>
            <a:r>
              <a:rPr lang="en-US" altLang="zh-CN" sz="2800" dirty="0"/>
              <a:t>=</a:t>
            </a:r>
            <a:r>
              <a:rPr lang="zh-CN" altLang="zh-CN" sz="2800" dirty="0"/>
              <a:t>取消</a:t>
            </a:r>
            <a:r>
              <a:rPr lang="zh-CN" altLang="zh-CN" sz="2800"/>
              <a:t>——</a:t>
            </a:r>
            <a:r>
              <a:rPr lang="en-US" altLang="zh-CN" sz="2800"/>
              <a:t> </a:t>
            </a:r>
            <a:r>
              <a:rPr lang="zh-CN" altLang="zh-CN" sz="2800"/>
              <a:t>_</a:t>
            </a:r>
            <a:r>
              <a:rPr lang="zh-CN" altLang="zh-CN" sz="2800" dirty="0"/>
              <a:t>select_ma</a:t>
            </a:r>
            <a:r>
              <a:rPr lang="zh-CN" altLang="zh-CN" sz="2800"/>
              <a:t>sk 是 L1 用 @</a:t>
            </a:r>
            <a:r>
              <a:rPr lang="zh-CN" altLang="zh-CN" sz="2800" dirty="0"/>
              <a:t>onrea</a:t>
            </a:r>
            <a:r>
              <a:rPr lang="zh-CN" altLang="zh-CN" sz="2800"/>
              <a:t>dy 拿</a:t>
            </a:r>
            <a:r>
              <a:rPr lang="zh-CN" altLang="zh-CN" sz="2800" dirty="0"/>
              <a:t>到的子节点</a:t>
            </a:r>
          </a:p>
          <a:p>
            <a:endParaRPr lang="en-US" altLang="zh-CN" sz="2400" dirty="0"/>
          </a:p>
          <a:p>
            <a:r>
              <a:rPr lang="zh-CN" altLang="en-US" dirty="0">
                <a:solidFill>
                  <a:schemeClr val="accent6"/>
                </a:solidFill>
              </a:rPr>
              <a:t>布尔</a:t>
            </a:r>
            <a:r>
              <a:rPr lang="zh-CN" altLang="en-US">
                <a:solidFill>
                  <a:schemeClr val="accent6"/>
                </a:solidFill>
              </a:rPr>
              <a:t>类型 </a:t>
            </a:r>
            <a:r>
              <a:rPr lang="en-US" altLang="zh-CN">
                <a:solidFill>
                  <a:schemeClr val="accent6"/>
                </a:solidFill>
              </a:rPr>
              <a:t>bool </a:t>
            </a:r>
            <a:r>
              <a:rPr lang="zh-CN" altLang="en-US">
                <a:solidFill>
                  <a:schemeClr val="accent6"/>
                </a:solidFill>
              </a:rPr>
              <a:t>是</a:t>
            </a:r>
            <a:r>
              <a:rPr lang="zh-CN" altLang="en-US" dirty="0">
                <a:solidFill>
                  <a:schemeClr val="accent6"/>
                </a:solidFill>
              </a:rPr>
              <a:t>内</a:t>
            </a:r>
            <a:r>
              <a:rPr lang="zh-CN" altLang="en-US">
                <a:solidFill>
                  <a:schemeClr val="accent6"/>
                </a:solidFill>
              </a:rPr>
              <a:t>置的 </a:t>
            </a:r>
            <a:r>
              <a:rPr lang="en-US" altLang="zh-CN">
                <a:solidFill>
                  <a:schemeClr val="accent6"/>
                </a:solidFill>
              </a:rPr>
              <a:t>Var</a:t>
            </a:r>
            <a:r>
              <a:rPr lang="zh-CN" altLang="en-US" dirty="0">
                <a:solidFill>
                  <a:schemeClr val="accent6"/>
                </a:solidFill>
              </a:rPr>
              <a:t>（变</a:t>
            </a:r>
            <a:r>
              <a:rPr lang="zh-CN" altLang="en-US">
                <a:solidFill>
                  <a:schemeClr val="accent6"/>
                </a:solidFill>
              </a:rPr>
              <a:t>体）</a:t>
            </a:r>
            <a:r>
              <a:rPr lang="en-US" altLang="zh-CN">
                <a:solidFill>
                  <a:schemeClr val="accent6"/>
                </a:solidFill>
              </a:rPr>
              <a:t> </a:t>
            </a:r>
            <a:r>
              <a:rPr lang="zh-CN" altLang="en-US">
                <a:solidFill>
                  <a:schemeClr val="accent6"/>
                </a:solidFill>
              </a:rPr>
              <a:t>类</a:t>
            </a:r>
            <a:r>
              <a:rPr lang="zh-CN" altLang="en-US" dirty="0">
                <a:solidFill>
                  <a:schemeClr val="accent6"/>
                </a:solidFill>
              </a:rPr>
              <a:t>型，只能</a:t>
            </a:r>
            <a:r>
              <a:rPr lang="zh-CN" altLang="en-US">
                <a:solidFill>
                  <a:schemeClr val="accent6"/>
                </a:solidFill>
              </a:rPr>
              <a:t>存储 </a:t>
            </a:r>
            <a:r>
              <a:rPr lang="en-US" altLang="zh-CN">
                <a:solidFill>
                  <a:schemeClr val="accent6"/>
                </a:solidFill>
              </a:rPr>
              <a:t>true</a:t>
            </a:r>
            <a:r>
              <a:rPr lang="zh-CN" altLang="en-US" dirty="0">
                <a:solidFill>
                  <a:schemeClr val="accent6"/>
                </a:solidFill>
              </a:rPr>
              <a:t>（真</a:t>
            </a:r>
            <a:r>
              <a:rPr lang="zh-CN" altLang="en-US">
                <a:solidFill>
                  <a:schemeClr val="accent6"/>
                </a:solidFill>
              </a:rPr>
              <a:t>）和 </a:t>
            </a:r>
            <a:r>
              <a:rPr lang="en-US" altLang="zh-CN">
                <a:solidFill>
                  <a:schemeClr val="accent6"/>
                </a:solidFill>
              </a:rPr>
              <a:t>false</a:t>
            </a:r>
            <a:r>
              <a:rPr lang="zh-CN" altLang="en-US" dirty="0">
                <a:solidFill>
                  <a:schemeClr val="accent6"/>
                </a:solidFill>
              </a:rPr>
              <a:t>（假）的其中之一。你可以把它理解为开关，要么处于打开状态，要么处于关闭状态。</a:t>
            </a:r>
            <a:r>
              <a:rPr lang="zh-CN" altLang="en-US" sz="2000" dirty="0"/>
              <a:t>（节选自</a:t>
            </a:r>
            <a:r>
              <a:rPr lang="en-US" altLang="zh-CN" sz="2000" dirty="0" err="1"/>
              <a:t>godot</a:t>
            </a:r>
            <a:r>
              <a:rPr lang="zh-CN" altLang="en-US" sz="2000" dirty="0"/>
              <a:t>内置文档）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2278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D398243-8D2C-739E-606A-C2BD16B4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651898"/>
            <a:ext cx="10740884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在主场景中为</a:t>
            </a:r>
            <a:r>
              <a:rPr lang="en-US" altLang="zh-CN" dirty="0"/>
              <a:t>Main</a:t>
            </a:r>
            <a:r>
              <a:rPr lang="zh-CN" altLang="en-US" dirty="0"/>
              <a:t>主节点添加脚本，命名为</a:t>
            </a:r>
            <a:r>
              <a:rPr lang="en-US" altLang="zh-CN" dirty="0"/>
              <a:t>main.gd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	</a:t>
            </a:r>
            <a:r>
              <a:rPr lang="zh-CN" altLang="en-US" dirty="0"/>
              <a:t>游戏中的“指挥中心”，负责接收信号并将信号处理发给对应</a:t>
            </a:r>
            <a:r>
              <a:rPr lang="en-US" altLang="zh-CN" dirty="0"/>
              <a:t>	</a:t>
            </a:r>
            <a:r>
              <a:rPr lang="zh-CN" altLang="en-US" dirty="0"/>
              <a:t>其他组件，自己并不直接参与棋盘的变动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依旧请注意文件分类和命名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47FE28D-C342-6378-ED8C-1704385C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准备动作：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main.gd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52A8B3-5822-A4CC-E631-BEBA6853D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845" y="3136489"/>
            <a:ext cx="4051374" cy="366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06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E73ABC2-2691-0B16-4D8D-B3437F708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524000"/>
            <a:ext cx="10740884" cy="51127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M1 状态枚举 enum State 游戏的四种状态 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M2 变量声明 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M3 音效节点 ×3 （场景操作，非代码）</a:t>
            </a:r>
          </a:p>
          <a:p>
            <a:pPr marL="0" indent="0">
              <a:buNone/>
            </a:pPr>
            <a:r>
              <a:rPr lang="zh-CN" altLang="zh-CN" dirty="0"/>
              <a:t>M4 选中辅助 _select/_deselect 亮/灭</a:t>
            </a:r>
            <a:r>
              <a:rPr lang="zh-CN" altLang="en-US" dirty="0"/>
              <a:t>遮罩</a:t>
            </a:r>
            <a:r>
              <a:rPr lang="zh-CN" altLang="zh-CN" dirty="0"/>
              <a:t> 用 selected</a:t>
            </a:r>
          </a:p>
          <a:p>
            <a:pPr marL="0" indent="0">
              <a:buNone/>
            </a:pPr>
            <a:r>
              <a:rPr lang="zh-CN" altLang="zh-CN" dirty="0"/>
              <a:t>M5 交换流程 _do_swap 锁→问→等 用 state/board</a:t>
            </a:r>
          </a:p>
          <a:p>
            <a:pPr marL="0" indent="0">
              <a:buNone/>
            </a:pPr>
            <a:r>
              <a:rPr lang="zh-CN" altLang="zh-CN" dirty="0"/>
              <a:t>M6 规则表</a:t>
            </a:r>
            <a:r>
              <a:rPr lang="zh-CN" altLang="en-US" dirty="0"/>
              <a:t>：</a:t>
            </a:r>
            <a:r>
              <a:rPr lang="zh-CN" altLang="zh-CN" dirty="0"/>
              <a:t>点击后怎么反应</a:t>
            </a:r>
            <a:r>
              <a:rPr lang="zh-CN" altLang="en-US" dirty="0"/>
              <a:t>（可选注释内容，非代码）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M7+M8 点选规则 _on_pointer_down 分支判断 用 board/state/selected</a:t>
            </a:r>
          </a:p>
          <a:p>
            <a:pPr marL="0" indent="0">
              <a:buNone/>
            </a:pPr>
            <a:r>
              <a:rPr lang="zh-CN" altLang="zh-CN" dirty="0"/>
              <a:t>M9 输入入口 _unhandled_input 所有点击进来 用 state</a:t>
            </a:r>
          </a:p>
          <a:p>
            <a:pPr marL="0" indent="0">
              <a:buNone/>
            </a:pPr>
            <a:r>
              <a:rPr lang="zh-CN" altLang="zh-CN" dirty="0"/>
              <a:t>M10 InputMap「动作」概念</a:t>
            </a:r>
            <a:r>
              <a:rPr lang="zh-CN" altLang="en-US" dirty="0"/>
              <a:t>（可选注释内容，非代码）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DFFADE6-56B5-ED4B-45C9-A9CCFC5D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节课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main.gd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代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码速览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5424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2611FA0-24D2-323F-2ECF-08067439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所有点击 → 入口 _unhandled_input（M9）</a:t>
            </a:r>
          </a:p>
          <a:p>
            <a:pPr marL="0" indent="0">
              <a:buNone/>
            </a:pPr>
            <a:r>
              <a:rPr lang="zh-CN" altLang="zh-CN" dirty="0"/>
              <a:t>   └─ 交给 _on_pointer_down（M7/M8）按规则表分支：</a:t>
            </a:r>
          </a:p>
          <a:p>
            <a:pPr marL="0" indent="0">
              <a:buNone/>
            </a:pPr>
            <a:r>
              <a:rPr lang="zh-CN" altLang="zh-CN" dirty="0"/>
              <a:t>        IDLE 点宝石    → 选中（_select 亮</a:t>
            </a:r>
            <a:r>
              <a:rPr lang="zh-CN" altLang="en-US" dirty="0"/>
              <a:t>遮罩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r>
              <a:rPr lang="zh-CN" altLang="zh-CN" dirty="0"/>
              <a:t>        SELECTED 点自己 → 取消（_deselect 灭</a:t>
            </a:r>
            <a:r>
              <a:rPr lang="zh-CN" altLang="en-US" dirty="0"/>
              <a:t>遮罩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r>
              <a:rPr lang="zh-CN" altLang="zh-CN" dirty="0"/>
              <a:t>        SELECTED 点相邻 → 交换（_do_swap → 问 board.try_swap）</a:t>
            </a:r>
          </a:p>
          <a:p>
            <a:pPr marL="0" indent="0">
              <a:buNone/>
            </a:pPr>
            <a:r>
              <a:rPr lang="zh-CN" altLang="zh-CN" dirty="0"/>
              <a:t>        SELECTED 点别的 → 换选（旧灭新亮）</a:t>
            </a:r>
          </a:p>
          <a:p>
            <a:pPr marL="0" indent="0">
              <a:buNone/>
            </a:pPr>
            <a:r>
              <a:rPr lang="zh-CN" altLang="zh-CN" dirty="0"/>
              <a:t>        SWAPPING/RESOLVING → 锁输入，点击无视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14A9961-8ACF-4F7E-2C8B-FDDECA4D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节课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main.gd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能速览：</a:t>
            </a:r>
          </a:p>
        </p:txBody>
      </p:sp>
    </p:spTree>
    <p:extLst>
      <p:ext uri="{BB962C8B-B14F-4D97-AF65-F5344CB8AC3E}">
        <p14:creationId xmlns:p14="http://schemas.microsoft.com/office/powerpoint/2010/main" val="1762387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35E2824-5F5F-97B0-1137-3335A483A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8701548" cy="514083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en</a:t>
            </a:r>
            <a:r>
              <a:rPr lang="zh-CN" altLang="zh-CN" sz="2400">
                <a:latin typeface="Consolas" panose="020B0609020204030204" pitchFamily="49" charset="0"/>
              </a:rPr>
              <a:t>um S</a:t>
            </a:r>
            <a:r>
              <a:rPr lang="zh-CN" altLang="zh-CN" sz="2400" dirty="0">
                <a:latin typeface="Consolas" panose="020B0609020204030204" pitchFamily="49" charset="0"/>
              </a:rPr>
              <a:t>ta</a:t>
            </a:r>
            <a:r>
              <a:rPr lang="zh-CN" altLang="zh-CN" sz="2400">
                <a:latin typeface="Consolas" panose="020B0609020204030204" pitchFamily="49" charset="0"/>
              </a:rPr>
              <a:t>te { I</a:t>
            </a:r>
            <a:r>
              <a:rPr lang="zh-CN" altLang="zh-CN" sz="2400" dirty="0">
                <a:latin typeface="Consolas" panose="020B0609020204030204" pitchFamily="49" charset="0"/>
              </a:rPr>
              <a:t>DL</a:t>
            </a:r>
            <a:r>
              <a:rPr lang="zh-CN" altLang="zh-CN" sz="2400">
                <a:latin typeface="Consolas" panose="020B0609020204030204" pitchFamily="49" charset="0"/>
              </a:rPr>
              <a:t>E, S</a:t>
            </a:r>
            <a:r>
              <a:rPr lang="zh-CN" altLang="zh-CN" sz="2400" dirty="0">
                <a:latin typeface="Consolas" panose="020B0609020204030204" pitchFamily="49" charset="0"/>
              </a:rPr>
              <a:t>ELECTE</a:t>
            </a:r>
            <a:r>
              <a:rPr lang="zh-CN" altLang="zh-CN" sz="2400">
                <a:latin typeface="Consolas" panose="020B0609020204030204" pitchFamily="49" charset="0"/>
              </a:rPr>
              <a:t>D, S</a:t>
            </a:r>
            <a:r>
              <a:rPr lang="zh-CN" altLang="zh-CN" sz="2400" dirty="0">
                <a:latin typeface="Consolas" panose="020B0609020204030204" pitchFamily="49" charset="0"/>
              </a:rPr>
              <a:t>WAPPIN</a:t>
            </a:r>
            <a:r>
              <a:rPr lang="zh-CN" altLang="zh-CN" sz="2400">
                <a:latin typeface="Consolas" panose="020B0609020204030204" pitchFamily="49" charset="0"/>
              </a:rPr>
              <a:t>G, R</a:t>
            </a:r>
            <a:r>
              <a:rPr lang="zh-CN" altLang="zh-CN" sz="2400" dirty="0">
                <a:latin typeface="Consolas" panose="020B0609020204030204" pitchFamily="49" charset="0"/>
              </a:rPr>
              <a:t>ESOLVI</a:t>
            </a:r>
            <a:r>
              <a:rPr lang="zh-CN" altLang="zh-CN" sz="2400">
                <a:latin typeface="Consolas" panose="020B0609020204030204" pitchFamily="49" charset="0"/>
              </a:rPr>
              <a:t>NG }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32AB43-EC0D-F7CC-BE3A-0815FFB1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状态机总览：游戏在任何时刻总会处于以下状态其中之一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134BE0-C5E7-A2F9-7517-7B04D25A1B0B}"/>
              </a:ext>
            </a:extLst>
          </p:cNvPr>
          <p:cNvSpPr/>
          <p:nvPr/>
        </p:nvSpPr>
        <p:spPr>
          <a:xfrm>
            <a:off x="629265" y="1720645"/>
            <a:ext cx="8701548" cy="619063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829F78-9069-3DA2-5D1F-2ED24576E09F}"/>
              </a:ext>
            </a:extLst>
          </p:cNvPr>
          <p:cNvSpPr txBox="1"/>
          <p:nvPr/>
        </p:nvSpPr>
        <p:spPr>
          <a:xfrm>
            <a:off x="558411" y="2691506"/>
            <a:ext cx="1075745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（接下来所有代码块均为</a:t>
            </a:r>
            <a:r>
              <a:rPr lang="en-US" altLang="zh-CN" sz="2400" b="1" dirty="0"/>
              <a:t>main.gd</a:t>
            </a:r>
            <a:r>
              <a:rPr lang="zh-CN" altLang="en-US" sz="2400" b="1" dirty="0"/>
              <a:t>中的代码）</a:t>
            </a:r>
            <a:endParaRPr lang="en-US" altLang="zh-CN" sz="2400" b="1" dirty="0"/>
          </a:p>
          <a:p>
            <a:r>
              <a:rPr lang="zh-CN" altLang="zh-CN" sz="2400" b="1" dirty="0"/>
              <a:t>状态机思想</a:t>
            </a:r>
            <a:r>
              <a:rPr lang="zh-CN" altLang="zh-CN" sz="2400" dirty="0"/>
              <a:t>：</a:t>
            </a:r>
            <a:endParaRPr lang="en-US" altLang="zh-CN" sz="2400" dirty="0"/>
          </a:p>
          <a:p>
            <a:r>
              <a:rPr lang="zh-CN" altLang="zh-CN" sz="2200" dirty="0"/>
              <a:t>游戏任何时刻</a:t>
            </a:r>
            <a:r>
              <a:rPr lang="zh-CN" altLang="zh-CN" sz="2200" b="1" dirty="0"/>
              <a:t>只能处于一个状态</a:t>
            </a:r>
            <a:r>
              <a:rPr lang="zh-CN" altLang="zh-CN" sz="2200" dirty="0"/>
              <a:t>——不是</a:t>
            </a:r>
            <a:r>
              <a:rPr lang="zh-CN" altLang="en-US" sz="2200" dirty="0"/>
              <a:t>“</a:t>
            </a:r>
            <a:r>
              <a:rPr lang="zh-CN" altLang="zh-CN" sz="2200" dirty="0"/>
              <a:t>可能空闲也可能选中</a:t>
            </a:r>
            <a:r>
              <a:rPr lang="zh-CN" altLang="en-US" sz="2200" dirty="0"/>
              <a:t>”</a:t>
            </a:r>
            <a:r>
              <a:rPr lang="zh-CN" altLang="zh-CN" sz="2200" dirty="0"/>
              <a:t>，而是</a:t>
            </a:r>
            <a:r>
              <a:rPr lang="zh-CN" altLang="en-US" sz="2200" dirty="0"/>
              <a:t>“</a:t>
            </a:r>
            <a:r>
              <a:rPr lang="zh-CN" altLang="zh-CN" sz="2200" dirty="0"/>
              <a:t>这一刻就是空闲，下一刻才变成选中</a:t>
            </a:r>
            <a:r>
              <a:rPr lang="zh-CN" altLang="en-US" sz="2200" dirty="0"/>
              <a:t>”</a:t>
            </a:r>
            <a:endParaRPr lang="zh-CN" altLang="zh-CN" sz="2200" dirty="0"/>
          </a:p>
          <a:p>
            <a:r>
              <a:rPr lang="zh-CN" altLang="zh-CN" sz="2400" b="1" dirty="0"/>
              <a:t>四个状态</a:t>
            </a:r>
            <a:r>
              <a:rPr lang="zh-CN" altLang="zh-CN" sz="2400" dirty="0"/>
              <a:t>：</a:t>
            </a:r>
            <a:endParaRPr lang="en-US" altLang="zh-CN" sz="2400" dirty="0"/>
          </a:p>
          <a:p>
            <a:r>
              <a:rPr lang="zh-CN" altLang="zh-CN" sz="2200" b="1" dirty="0"/>
              <a:t>玩家可操作</a:t>
            </a:r>
            <a:r>
              <a:rPr lang="zh-CN" altLang="zh-CN" sz="2200" dirty="0"/>
              <a:t>（IDLE/SELECTED</a:t>
            </a:r>
            <a:r>
              <a:rPr lang="zh-CN" altLang="zh-CN" sz="2200"/>
              <a:t>）+ </a:t>
            </a:r>
            <a:r>
              <a:rPr lang="zh-CN" altLang="zh-CN" sz="2200" b="1"/>
              <a:t>动</a:t>
            </a:r>
            <a:r>
              <a:rPr lang="zh-CN" altLang="zh-CN" sz="2200" b="1" dirty="0"/>
              <a:t>画中锁输入</a:t>
            </a:r>
            <a:r>
              <a:rPr lang="zh-CN" altLang="zh-CN" sz="2200" dirty="0"/>
              <a:t>（SWAPPING/RESOLVING，刹车）</a:t>
            </a:r>
          </a:p>
          <a:p>
            <a:r>
              <a:rPr lang="zh-CN" altLang="en-US" sz="2400" b="1" dirty="0"/>
              <a:t>状态机作用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zh-CN" altLang="zh-CN" sz="2200" dirty="0"/>
              <a:t>没有它，点一下</a:t>
            </a:r>
            <a:r>
              <a:rPr lang="zh-CN" altLang="en-US" sz="2200" dirty="0"/>
              <a:t>可能</a:t>
            </a:r>
            <a:r>
              <a:rPr lang="zh-CN" altLang="zh-CN" sz="2200" dirty="0"/>
              <a:t>会同时触发“选中”和“交换”，游戏</a:t>
            </a:r>
            <a:r>
              <a:rPr lang="zh-CN" altLang="en-US" sz="2200" dirty="0"/>
              <a:t>不知道如何处理输入，会导致些意想不到的情况</a:t>
            </a:r>
            <a:r>
              <a:rPr lang="zh-CN" altLang="zh-CN" sz="2200" dirty="0"/>
              <a:t>。</a:t>
            </a:r>
            <a:r>
              <a:rPr lang="zh-CN" altLang="zh-CN" sz="2200" b="1">
                <a:solidFill>
                  <a:srgbClr val="FF0000"/>
                </a:solidFill>
              </a:rPr>
              <a:t>状态 = 游</a:t>
            </a:r>
            <a:r>
              <a:rPr lang="zh-CN" altLang="zh-CN" sz="2200" b="1" dirty="0">
                <a:solidFill>
                  <a:srgbClr val="FF0000"/>
                </a:solidFill>
              </a:rPr>
              <a:t>戏的记忆</a:t>
            </a:r>
            <a:endParaRPr lang="zh-CN" altLang="zh-C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888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750A27F-BD0A-0DE7-FC44-877A8A6C5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4935793" cy="1409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>
                <a:latin typeface="Consolas" panose="020B0609020204030204" pitchFamily="49" charset="0"/>
              </a:rPr>
              <a:t>@onready var board = $</a:t>
            </a:r>
            <a:r>
              <a:rPr lang="en-US" altLang="zh-CN" sz="2400" dirty="0">
                <a:latin typeface="Consolas" panose="020B0609020204030204" pitchFamily="49" charset="0"/>
              </a:rPr>
              <a:t>Board</a:t>
            </a:r>
          </a:p>
          <a:p>
            <a:pPr marL="0" indent="0">
              <a:buNone/>
            </a:pPr>
            <a:r>
              <a:rPr lang="en-US" altLang="zh-CN" sz="2400">
                <a:latin typeface="Consolas" panose="020B0609020204030204" pitchFamily="49" charset="0"/>
              </a:rPr>
              <a:t>var state: int = State</a:t>
            </a:r>
            <a:r>
              <a:rPr lang="en-US" altLang="zh-CN" sz="2400" dirty="0" err="1">
                <a:latin typeface="Consolas" panose="020B0609020204030204" pitchFamily="49" charset="0"/>
              </a:rPr>
              <a:t>.IDLE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>
                <a:latin typeface="Consolas" panose="020B0609020204030204" pitchFamily="49" charset="0"/>
              </a:rPr>
              <a:t>var selected: Gem = null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7704F6-4E4F-BA24-3A4D-B661536D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声明变量，继续准备原料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94EF8E-C02E-9375-E304-D2ABD38F8725}"/>
              </a:ext>
            </a:extLst>
          </p:cNvPr>
          <p:cNvSpPr/>
          <p:nvPr/>
        </p:nvSpPr>
        <p:spPr>
          <a:xfrm>
            <a:off x="629265" y="1720645"/>
            <a:ext cx="4935793" cy="151416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188109-EC5B-B546-EC11-5051468A8C3C}"/>
              </a:ext>
            </a:extLst>
          </p:cNvPr>
          <p:cNvSpPr txBox="1"/>
          <p:nvPr/>
        </p:nvSpPr>
        <p:spPr>
          <a:xfrm>
            <a:off x="629265" y="3903406"/>
            <a:ext cx="1029437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新建脚本后就要事先声明变量，这要求了开发者需要有大局观（什）</a:t>
            </a:r>
            <a:endParaRPr lang="en-US" altLang="zh-CN" sz="2400" dirty="0"/>
          </a:p>
          <a:p>
            <a:br>
              <a:rPr lang="en-US" altLang="zh-CN" sz="2400" dirty="0"/>
            </a:br>
            <a:r>
              <a:rPr lang="en-US" altLang="zh-CN" sz="2400" dirty="0"/>
              <a:t>	</a:t>
            </a:r>
            <a:r>
              <a:rPr lang="en-US" altLang="zh-CN" sz="2000" dirty="0">
                <a:solidFill>
                  <a:schemeClr val="accent6"/>
                </a:solidFill>
              </a:rPr>
              <a:t>Tips</a:t>
            </a:r>
            <a:r>
              <a:rPr lang="zh-CN" altLang="en-US" sz="2000" dirty="0">
                <a:solidFill>
                  <a:schemeClr val="accent6"/>
                </a:solidFill>
              </a:rPr>
              <a:t>：我说以后碰到变量不够的情况，可以在你新增的函数上面添加变量声明，当写完并通过编译后再统一把变量声明移到脚本顶部</a:t>
            </a:r>
            <a:endParaRPr lang="en-US" altLang="zh-CN" sz="2000" dirty="0">
              <a:solidFill>
                <a:schemeClr val="accent6"/>
              </a:solidFill>
            </a:endParaRPr>
          </a:p>
          <a:p>
            <a:r>
              <a:rPr lang="en-US" altLang="zh-CN" sz="2000" dirty="0">
                <a:solidFill>
                  <a:schemeClr val="accent6"/>
                </a:solidFill>
              </a:rPr>
              <a:t>	Tips</a:t>
            </a:r>
            <a:r>
              <a:rPr lang="zh-CN" altLang="en-US" sz="2000" dirty="0">
                <a:solidFill>
                  <a:schemeClr val="accent6"/>
                </a:solidFill>
              </a:rPr>
              <a:t>：按住</a:t>
            </a:r>
            <a:r>
              <a:rPr lang="en-US" altLang="zh-CN" sz="2000" dirty="0">
                <a:solidFill>
                  <a:schemeClr val="accent6"/>
                </a:solidFill>
              </a:rPr>
              <a:t>Ctrl</a:t>
            </a:r>
            <a:r>
              <a:rPr lang="zh-CN" altLang="en-US" sz="2000" dirty="0">
                <a:solidFill>
                  <a:schemeClr val="accent6"/>
                </a:solidFill>
              </a:rPr>
              <a:t>键，将鼠标悬浮在你想检</a:t>
            </a:r>
            <a:r>
              <a:rPr lang="zh-CN" altLang="en-US" sz="2000">
                <a:solidFill>
                  <a:schemeClr val="accent6"/>
                </a:solidFill>
              </a:rPr>
              <a:t>索的 函</a:t>
            </a:r>
            <a:r>
              <a:rPr lang="zh-CN" altLang="en-US" sz="2000" dirty="0">
                <a:solidFill>
                  <a:schemeClr val="accent6"/>
                </a:solidFill>
              </a:rPr>
              <a:t>数</a:t>
            </a:r>
            <a:r>
              <a:rPr lang="en-US" altLang="zh-CN" sz="2000" dirty="0">
                <a:solidFill>
                  <a:schemeClr val="accent6"/>
                </a:solidFill>
              </a:rPr>
              <a:t>/</a:t>
            </a:r>
            <a:r>
              <a:rPr lang="zh-CN" altLang="en-US" sz="2000" dirty="0">
                <a:solidFill>
                  <a:schemeClr val="accent6"/>
                </a:solidFill>
              </a:rPr>
              <a:t>变量</a:t>
            </a:r>
            <a:r>
              <a:rPr lang="en-US" altLang="zh-CN" sz="2000">
                <a:solidFill>
                  <a:schemeClr val="accent6"/>
                </a:solidFill>
              </a:rPr>
              <a:t>/</a:t>
            </a:r>
            <a:r>
              <a:rPr lang="zh-CN" altLang="en-US" sz="2000">
                <a:solidFill>
                  <a:schemeClr val="accent6"/>
                </a:solidFill>
              </a:rPr>
              <a:t>类 等</a:t>
            </a:r>
            <a:r>
              <a:rPr lang="zh-CN" altLang="en-US" sz="2000" dirty="0">
                <a:solidFill>
                  <a:schemeClr val="accent6"/>
                </a:solidFill>
              </a:rPr>
              <a:t>内容，然后鼠标左键即可跳转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048927-C3C7-FE20-E88B-1F6F472BA0A5}"/>
              </a:ext>
            </a:extLst>
          </p:cNvPr>
          <p:cNvSpPr txBox="1"/>
          <p:nvPr/>
        </p:nvSpPr>
        <p:spPr>
          <a:xfrm>
            <a:off x="6213987" y="1636440"/>
            <a:ext cx="4424516" cy="168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棋盘节点（</a:t>
            </a:r>
            <a:r>
              <a:rPr lang="en-US" altLang="zh-CN" sz="2400" dirty="0"/>
              <a:t>L1</a:t>
            </a:r>
            <a:r>
              <a:rPr lang="zh-CN" altLang="en-US" sz="2400" dirty="0"/>
              <a:t>新建）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当前状态：初始空闲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当前选中的宝石</a:t>
            </a:r>
          </a:p>
        </p:txBody>
      </p:sp>
    </p:spTree>
    <p:extLst>
      <p:ext uri="{BB962C8B-B14F-4D97-AF65-F5344CB8AC3E}">
        <p14:creationId xmlns:p14="http://schemas.microsoft.com/office/powerpoint/2010/main" val="3228768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1525E69-4CD6-6F81-4B4E-1094578C2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563330"/>
            <a:ext cx="4925961" cy="4925960"/>
          </a:xfrm>
        </p:spPr>
        <p:txBody>
          <a:bodyPr/>
          <a:lstStyle/>
          <a:p>
            <a:pPr marL="0" indent="0">
              <a:buNone/>
            </a:pPr>
            <a:r>
              <a:rPr lang="zh-CN" altLang="zh-CN"/>
              <a:t>选中 </a:t>
            </a:r>
            <a:r>
              <a:rPr lang="zh-CN" altLang="zh-CN" b="1"/>
              <a:t>M</a:t>
            </a:r>
            <a:r>
              <a:rPr lang="zh-CN" altLang="zh-CN" b="1" dirty="0"/>
              <a:t>a</a:t>
            </a:r>
            <a:r>
              <a:rPr lang="zh-CN" altLang="zh-CN" b="1"/>
              <a:t>in </a:t>
            </a:r>
            <a:r>
              <a:rPr lang="zh-CN" altLang="zh-CN"/>
              <a:t>节点 → 添</a:t>
            </a:r>
            <a:r>
              <a:rPr lang="zh-CN" altLang="zh-CN" dirty="0"/>
              <a:t>加子</a:t>
            </a:r>
            <a:r>
              <a:rPr lang="zh-CN" altLang="zh-CN"/>
              <a:t>节点 </a:t>
            </a:r>
            <a:r>
              <a:rPr lang="zh-CN" altLang="zh-CN" b="1"/>
              <a:t>A</a:t>
            </a:r>
            <a:r>
              <a:rPr lang="zh-CN" altLang="zh-CN" b="1" dirty="0"/>
              <a:t>udioStreamPlay</a:t>
            </a:r>
            <a:r>
              <a:rPr lang="zh-CN" altLang="zh-CN" b="1"/>
              <a:t>er </a:t>
            </a:r>
            <a:r>
              <a:rPr lang="zh-CN" altLang="zh-CN"/>
              <a:t>×</a:t>
            </a:r>
            <a:r>
              <a:rPr lang="zh-CN" altLang="zh-CN" dirty="0"/>
              <a:t>3，分别命名：</a:t>
            </a:r>
          </a:p>
          <a:p>
            <a:pPr marL="0" indent="0">
              <a:buNone/>
            </a:pPr>
            <a:r>
              <a:rPr lang="zh-CN" altLang="zh-CN" sz="2400" dirty="0"/>
              <a:t>SfxCli</a:t>
            </a:r>
            <a:r>
              <a:rPr lang="zh-CN" altLang="zh-CN" sz="2400"/>
              <a:t>ck   → s</a:t>
            </a:r>
            <a:r>
              <a:rPr lang="zh-CN" altLang="zh-CN" sz="2400" dirty="0"/>
              <a:t>trea</a:t>
            </a:r>
            <a:r>
              <a:rPr lang="zh-CN" altLang="zh-CN" sz="2400"/>
              <a:t>m: a</a:t>
            </a:r>
            <a:r>
              <a:rPr lang="zh-CN" altLang="zh-CN" sz="2400" dirty="0"/>
              <a:t>ssets/ui-kenney/Sounds/click-a.o</a:t>
            </a:r>
            <a:r>
              <a:rPr lang="zh-CN" altLang="zh-CN" sz="2400"/>
              <a:t>gg   （</a:t>
            </a:r>
            <a:r>
              <a:rPr lang="zh-CN" altLang="zh-CN" sz="2400" dirty="0"/>
              <a:t>点自己/取消）</a:t>
            </a:r>
          </a:p>
          <a:p>
            <a:pPr marL="0" indent="0">
              <a:buNone/>
            </a:pPr>
            <a:r>
              <a:rPr lang="zh-CN" altLang="zh-CN" sz="2400" dirty="0"/>
              <a:t>SfxSele</a:t>
            </a:r>
            <a:r>
              <a:rPr lang="zh-CN" altLang="zh-CN" sz="2400"/>
              <a:t>ct  → s</a:t>
            </a:r>
            <a:r>
              <a:rPr lang="zh-CN" altLang="zh-CN" sz="2400" dirty="0"/>
              <a:t>trea</a:t>
            </a:r>
            <a:r>
              <a:rPr lang="zh-CN" altLang="zh-CN" sz="2400"/>
              <a:t>m: a</a:t>
            </a:r>
            <a:r>
              <a:rPr lang="zh-CN" altLang="zh-CN" sz="2400" dirty="0"/>
              <a:t>ssets/ui-kenney/Sounds/tap-b.o</a:t>
            </a:r>
            <a:r>
              <a:rPr lang="zh-CN" altLang="zh-CN" sz="2400"/>
              <a:t>gg     （</a:t>
            </a:r>
            <a:r>
              <a:rPr lang="zh-CN" altLang="zh-CN" sz="2400" dirty="0"/>
              <a:t>选中宝石）</a:t>
            </a:r>
          </a:p>
          <a:p>
            <a:pPr marL="0" indent="0">
              <a:buNone/>
            </a:pPr>
            <a:r>
              <a:rPr lang="zh-CN" altLang="zh-CN" sz="2400" dirty="0"/>
              <a:t>SfxSw</a:t>
            </a:r>
            <a:r>
              <a:rPr lang="zh-CN" altLang="zh-CN" sz="2400"/>
              <a:t>ap    → s</a:t>
            </a:r>
            <a:r>
              <a:rPr lang="zh-CN" altLang="zh-CN" sz="2400" dirty="0"/>
              <a:t>trea</a:t>
            </a:r>
            <a:r>
              <a:rPr lang="zh-CN" altLang="zh-CN" sz="2400"/>
              <a:t>m: a</a:t>
            </a:r>
            <a:r>
              <a:rPr lang="zh-CN" altLang="zh-CN" sz="2400" dirty="0"/>
              <a:t>ssets/ui-kenney/Sounds/switch-a.o</a:t>
            </a:r>
            <a:r>
              <a:rPr lang="zh-CN" altLang="zh-CN" sz="2400"/>
              <a:t>gg  （</a:t>
            </a:r>
            <a:r>
              <a:rPr lang="zh-CN" altLang="zh-CN" sz="2400" dirty="0"/>
              <a:t>交换）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32CF34F-6D51-BA60-96C4-A7C832D4C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添加音效节点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4B9E28-F9E4-7BB6-B323-E90D0FB33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868" r="86129" b="10453"/>
          <a:stretch>
            <a:fillRect/>
          </a:stretch>
        </p:blipFill>
        <p:spPr>
          <a:xfrm>
            <a:off x="6096001" y="390006"/>
            <a:ext cx="2439493" cy="60986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AD2050-A440-0E08-3452-3648172C60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645" t="8596" b="4421"/>
          <a:stretch>
            <a:fillRect/>
          </a:stretch>
        </p:blipFill>
        <p:spPr>
          <a:xfrm>
            <a:off x="8535494" y="390649"/>
            <a:ext cx="3214293" cy="609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43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4FF3AC4-536F-1E04-2E26-1F5BF6BF0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80" y="1368847"/>
            <a:ext cx="8446924" cy="38957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func _</a:t>
            </a:r>
            <a:r>
              <a:rPr lang="en-US" altLang="zh-CN" sz="2000" dirty="0" err="1">
                <a:latin typeface="Consolas" panose="020B0609020204030204" pitchFamily="49" charset="0"/>
              </a:rPr>
              <a:t>select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err="1">
                <a:latin typeface="Consolas" panose="020B0609020204030204" pitchFamily="49" charset="0"/>
              </a:rPr>
              <a:t>gem</a:t>
            </a:r>
            <a:r>
              <a:rPr lang="en-US" altLang="zh-CN" sz="2000">
                <a:latin typeface="Consolas" panose="020B0609020204030204" pitchFamily="49" charset="0"/>
              </a:rPr>
              <a:t>: Gem) -&gt; void</a:t>
            </a:r>
            <a:r>
              <a:rPr lang="en-US" altLang="zh-CN" sz="20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	selected = gem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	if selected != null</a:t>
            </a:r>
            <a:r>
              <a:rPr lang="en-US" altLang="zh-CN" sz="20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selected.set_selected</a:t>
            </a:r>
            <a:r>
              <a:rPr lang="en-US" altLang="zh-CN" sz="2000" dirty="0">
                <a:latin typeface="Consolas" panose="020B0609020204030204" pitchFamily="49" charset="0"/>
              </a:rPr>
              <a:t>(true)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func _</a:t>
            </a:r>
            <a:r>
              <a:rPr lang="en-US" altLang="zh-CN" sz="2000" err="1">
                <a:latin typeface="Consolas" panose="020B0609020204030204" pitchFamily="49" charset="0"/>
              </a:rPr>
              <a:t>deselect</a:t>
            </a:r>
            <a:r>
              <a:rPr lang="en-US" altLang="zh-CN" sz="2000">
                <a:latin typeface="Consolas" panose="020B0609020204030204" pitchFamily="49" charset="0"/>
              </a:rPr>
              <a:t>() -&gt; void</a:t>
            </a:r>
            <a:r>
              <a:rPr lang="en-US" altLang="zh-CN" sz="20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	if selected != null and is</a:t>
            </a:r>
            <a:r>
              <a:rPr lang="en-US" altLang="zh-CN" sz="2000" dirty="0" err="1">
                <a:latin typeface="Consolas" panose="020B0609020204030204" pitchFamily="49" charset="0"/>
              </a:rPr>
              <a:t>_instance_valid</a:t>
            </a:r>
            <a:r>
              <a:rPr lang="en-US" altLang="zh-CN" sz="2000" dirty="0">
                <a:latin typeface="Consolas" panose="020B0609020204030204" pitchFamily="49" charset="0"/>
              </a:rPr>
              <a:t>(selected):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selected.set_selected</a:t>
            </a:r>
            <a:r>
              <a:rPr lang="en-US" altLang="zh-CN" sz="2000" dirty="0">
                <a:latin typeface="Consolas" panose="020B0609020204030204" pitchFamily="49" charset="0"/>
              </a:rPr>
              <a:t>(false)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>
                <a:latin typeface="Consolas" panose="020B0609020204030204" pitchFamily="49" charset="0"/>
              </a:rPr>
              <a:t>	selected = null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6F6706-FA09-B976-C336-2C67AF2A1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选中与取消选中，控制遮罩生成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89634A-00C5-8298-EC69-9B25A046CE9E}"/>
              </a:ext>
            </a:extLst>
          </p:cNvPr>
          <p:cNvSpPr/>
          <p:nvPr/>
        </p:nvSpPr>
        <p:spPr>
          <a:xfrm>
            <a:off x="725557" y="1368848"/>
            <a:ext cx="10129256" cy="3861914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62F018-A88D-0408-B45E-0D9E678E06AC}"/>
              </a:ext>
            </a:extLst>
          </p:cNvPr>
          <p:cNvSpPr txBox="1"/>
          <p:nvPr/>
        </p:nvSpPr>
        <p:spPr>
          <a:xfrm>
            <a:off x="725557" y="5264572"/>
            <a:ext cx="104733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chemeClr val="accent6"/>
                </a:solidFill>
              </a:rPr>
              <a:t>is_instance_valid</a:t>
            </a:r>
            <a:r>
              <a:rPr lang="zh-CN" altLang="en-US" sz="2000" dirty="0">
                <a:solidFill>
                  <a:schemeClr val="accent6"/>
                </a:solidFill>
              </a:rPr>
              <a:t>：如果 </a:t>
            </a:r>
            <a:r>
              <a:rPr lang="en-US" altLang="zh-CN" sz="2000" dirty="0">
                <a:solidFill>
                  <a:schemeClr val="accent6"/>
                </a:solidFill>
              </a:rPr>
              <a:t>instance </a:t>
            </a:r>
            <a:r>
              <a:rPr lang="zh-CN" altLang="en-US" sz="2000" dirty="0">
                <a:solidFill>
                  <a:schemeClr val="accent6"/>
                </a:solidFill>
              </a:rPr>
              <a:t>是有效的 </a:t>
            </a:r>
            <a:r>
              <a:rPr lang="en-US" altLang="zh-CN" sz="2000" dirty="0">
                <a:solidFill>
                  <a:schemeClr val="accent6"/>
                </a:solidFill>
              </a:rPr>
              <a:t>Object</a:t>
            </a:r>
            <a:r>
              <a:rPr lang="zh-CN" altLang="en-US" sz="2000" dirty="0">
                <a:solidFill>
                  <a:schemeClr val="accent6"/>
                </a:solidFill>
              </a:rPr>
              <a:t>（例如，没有从内存中删除），则返回 </a:t>
            </a:r>
            <a:r>
              <a:rPr lang="en-US" altLang="zh-CN" sz="2000" dirty="0">
                <a:solidFill>
                  <a:schemeClr val="accent6"/>
                </a:solidFill>
              </a:rPr>
              <a:t>true</a:t>
            </a:r>
            <a:r>
              <a:rPr lang="en-US" altLang="zh-CN" sz="2000" dirty="0"/>
              <a:t>——</a:t>
            </a:r>
            <a:r>
              <a:rPr lang="zh-CN" altLang="en-US" sz="2000" dirty="0"/>
              <a:t>这</a:t>
            </a:r>
            <a:r>
              <a:rPr lang="zh-CN" altLang="zh-CN" sz="2000" dirty="0"/>
              <a:t>是"这颗宝石还活着吗"的保险（防止它已被消除还去操作）</a:t>
            </a:r>
          </a:p>
          <a:p>
            <a:r>
              <a:rPr lang="zh-CN" altLang="zh-CN" sz="2000" b="1" dirty="0"/>
              <a:t>画面与数据同步原则</a:t>
            </a:r>
            <a:r>
              <a:rPr lang="zh-CN" altLang="zh-CN" sz="2000" dirty="0"/>
              <a:t>：</a:t>
            </a:r>
            <a:r>
              <a:rPr lang="zh-CN" altLang="en-US" sz="2000" dirty="0"/>
              <a:t>遮罩</a:t>
            </a:r>
            <a:r>
              <a:rPr lang="zh-CN" altLang="zh-CN" sz="2000" dirty="0"/>
              <a:t>亮灭（画面）和 selected（数据）永远一起变——规则表里会反复看到这对组合</a:t>
            </a:r>
            <a:r>
              <a:rPr lang="zh-CN" altLang="en-US" sz="2000" dirty="0"/>
              <a:t>（我说动画高于一切👂🐉吗）</a:t>
            </a:r>
            <a:endParaRPr lang="zh-CN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60DB1F-01B6-E07F-4C1A-2A2AD6085E43}"/>
              </a:ext>
            </a:extLst>
          </p:cNvPr>
          <p:cNvSpPr txBox="1"/>
          <p:nvPr/>
        </p:nvSpPr>
        <p:spPr>
          <a:xfrm>
            <a:off x="6833420" y="1692669"/>
            <a:ext cx="4365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/>
              <a:t>_select</a:t>
            </a:r>
            <a:r>
              <a:rPr lang="zh-CN" altLang="zh-CN" sz="2000" dirty="0"/>
              <a:t>：记录引用（selected = gem）+ 亮</a:t>
            </a:r>
            <a:r>
              <a:rPr lang="zh-CN" altLang="en-US" sz="2000" dirty="0"/>
              <a:t>遮罩</a:t>
            </a:r>
            <a:r>
              <a:rPr lang="zh-CN" altLang="zh-CN" sz="2000" dirty="0"/>
              <a:t>——两步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0BC02F8-0662-586B-C1AC-CAB1FC78E6B1}"/>
              </a:ext>
            </a:extLst>
          </p:cNvPr>
          <p:cNvSpPr txBox="1"/>
          <p:nvPr/>
        </p:nvSpPr>
        <p:spPr>
          <a:xfrm>
            <a:off x="6880081" y="3124677"/>
            <a:ext cx="4365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_deselect：灭</a:t>
            </a:r>
            <a:r>
              <a:rPr lang="zh-CN" altLang="en-US" sz="2000" dirty="0"/>
              <a:t>遮罩</a:t>
            </a:r>
            <a:r>
              <a:rPr lang="zh-CN" altLang="zh-CN" sz="2000" dirty="0"/>
              <a:t> + 清空记录（selected = null）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27936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9174B97-B927-737E-8A2C-9B0A73145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7" y="1510992"/>
            <a:ext cx="6835449" cy="500779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_</a:t>
            </a:r>
            <a:r>
              <a:rPr lang="en-US" altLang="zh-CN" sz="2000" dirty="0" err="1">
                <a:latin typeface="Consolas" panose="020B0609020204030204" pitchFamily="49" charset="0"/>
              </a:rPr>
              <a:t>do_swap</a:t>
            </a:r>
            <a:r>
              <a:rPr lang="en-US" altLang="zh-CN" sz="2000" dirty="0">
                <a:latin typeface="Consolas" panose="020B0609020204030204" pitchFamily="49" charset="0"/>
              </a:rPr>
              <a:t>(a: Gem, b: Gem) -&gt; void: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state = </a:t>
            </a:r>
            <a:r>
              <a:rPr lang="en-US" altLang="zh-CN" sz="2000" dirty="0" err="1">
                <a:latin typeface="Consolas" panose="020B0609020204030204" pitchFamily="49" charset="0"/>
              </a:rPr>
              <a:t>State.SWAPPING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_deselect()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$</a:t>
            </a:r>
            <a:r>
              <a:rPr lang="en-US" altLang="zh-CN" sz="2000" dirty="0" err="1">
                <a:latin typeface="Consolas" panose="020B0609020204030204" pitchFamily="49" charset="0"/>
              </a:rPr>
              <a:t>SfxSwap.play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var ok: bool = await </a:t>
            </a:r>
            <a:r>
              <a:rPr lang="en-US" altLang="zh-CN" sz="2000" dirty="0" err="1">
                <a:latin typeface="Consolas" panose="020B0609020204030204" pitchFamily="49" charset="0"/>
              </a:rPr>
              <a:t>board.try_swap</a:t>
            </a:r>
            <a:r>
              <a:rPr lang="en-US" altLang="zh-CN" sz="2000" dirty="0">
                <a:latin typeface="Consolas" panose="020B0609020204030204" pitchFamily="49" charset="0"/>
              </a:rPr>
              <a:t>(a, b)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if not ok: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state = </a:t>
            </a:r>
            <a:r>
              <a:rPr lang="en-US" altLang="zh-CN" sz="2000" dirty="0" err="1">
                <a:latin typeface="Consolas" panose="020B0609020204030204" pitchFamily="49" charset="0"/>
              </a:rPr>
              <a:t>State.IDLE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return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state = </a:t>
            </a:r>
            <a:r>
              <a:rPr lang="en-US" altLang="zh-CN" sz="2000" dirty="0" err="1">
                <a:latin typeface="Consolas" panose="020B0609020204030204" pitchFamily="49" charset="0"/>
              </a:rPr>
              <a:t>State.RESOLVING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await </a:t>
            </a:r>
            <a:r>
              <a:rPr lang="en-US" altLang="zh-CN" sz="2000" dirty="0" err="1">
                <a:latin typeface="Consolas" panose="020B0609020204030204" pitchFamily="49" charset="0"/>
              </a:rPr>
              <a:t>board.resolve_board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state = </a:t>
            </a:r>
            <a:r>
              <a:rPr lang="en-US" altLang="zh-CN" sz="2000" dirty="0" err="1">
                <a:latin typeface="Consolas" panose="020B0609020204030204" pitchFamily="49" charset="0"/>
              </a:rPr>
              <a:t>State.IDLE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7DA0151-657F-89AA-2046-78331385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锁</a:t>
            </a:r>
            <a:r>
              <a:rPr lang="zh-CN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状态 → 问 B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oa</a:t>
            </a:r>
            <a:r>
              <a:rPr lang="zh-CN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rd → 等结算 → 解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锁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1ECD86-5904-18FF-D68E-E939F5E2FC56}"/>
              </a:ext>
            </a:extLst>
          </p:cNvPr>
          <p:cNvSpPr/>
          <p:nvPr/>
        </p:nvSpPr>
        <p:spPr>
          <a:xfrm>
            <a:off x="725556" y="1510991"/>
            <a:ext cx="6835449" cy="4820984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B61933-3055-0184-E7BE-BB958469E12F}"/>
              </a:ext>
            </a:extLst>
          </p:cNvPr>
          <p:cNvSpPr txBox="1"/>
          <p:nvPr/>
        </p:nvSpPr>
        <p:spPr>
          <a:xfrm>
            <a:off x="7836309" y="1569984"/>
            <a:ext cx="36301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交换成不成功、弹不弹回，</a:t>
            </a:r>
            <a:r>
              <a:rPr lang="zh-CN" altLang="zh-CN" sz="2000"/>
              <a:t>全是 b</a:t>
            </a:r>
            <a:r>
              <a:rPr lang="zh-CN" altLang="zh-CN" sz="2000" dirty="0"/>
              <a:t>oard.try_sw</a:t>
            </a:r>
            <a:r>
              <a:rPr lang="zh-CN" altLang="zh-CN" sz="2000"/>
              <a:t>ap 内</a:t>
            </a:r>
            <a:r>
              <a:rPr lang="zh-CN" altLang="zh-CN" sz="2000" dirty="0"/>
              <a:t>部的事——</a:t>
            </a:r>
            <a:r>
              <a:rPr lang="zh-CN" altLang="zh-CN" sz="2000" b="1" dirty="0"/>
              <a:t>这页只看</a:t>
            </a:r>
            <a:r>
              <a:rPr lang="zh-CN" altLang="zh-CN" sz="2000" b="1"/>
              <a:t>接口 t</a:t>
            </a:r>
            <a:r>
              <a:rPr lang="zh-CN" altLang="zh-CN" sz="2000" b="1" dirty="0"/>
              <a:t>ry_swap(</a:t>
            </a:r>
            <a:r>
              <a:rPr lang="zh-CN" altLang="zh-CN" sz="2000" b="1"/>
              <a:t>a, b) -&gt; b</a:t>
            </a:r>
            <a:r>
              <a:rPr lang="zh-CN" altLang="zh-CN" sz="2000" b="1" dirty="0"/>
              <a:t>o</a:t>
            </a:r>
            <a:r>
              <a:rPr lang="zh-CN" altLang="zh-CN" sz="2000" b="1"/>
              <a:t>ol 的</a:t>
            </a:r>
            <a:r>
              <a:rPr lang="zh-CN" altLang="zh-CN" sz="2000" b="1" dirty="0"/>
              <a:t>用法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zh-CN" sz="2000" b="1" dirty="0"/>
              <a:t>分工思想（贯穿全课）</a:t>
            </a:r>
            <a:r>
              <a:rPr lang="zh-CN" altLang="zh-CN" sz="2000" dirty="0"/>
              <a:t>：Ma</a:t>
            </a:r>
            <a:r>
              <a:rPr lang="zh-CN" altLang="zh-CN" sz="2000"/>
              <a:t>in 管</a:t>
            </a:r>
            <a:r>
              <a:rPr lang="zh-CN" altLang="zh-CN" sz="2000" dirty="0"/>
              <a:t>流程（什么时候做什么），Boa</a:t>
            </a:r>
            <a:r>
              <a:rPr lang="zh-CN" altLang="zh-CN" sz="2000"/>
              <a:t>rd 管</a:t>
            </a:r>
            <a:r>
              <a:rPr lang="zh-CN" altLang="zh-CN" sz="2000" dirty="0"/>
              <a:t>规则（能不能、成不成）——这</a:t>
            </a:r>
            <a:r>
              <a:rPr lang="zh-CN" altLang="zh-CN" sz="2000"/>
              <a:t>就是 L1 黑</a:t>
            </a:r>
            <a:r>
              <a:rPr lang="zh-CN" altLang="zh-CN" sz="2000" dirty="0"/>
              <a:t>盒法在真实代码里的样子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awa</a:t>
            </a:r>
            <a:r>
              <a:rPr lang="zh-CN" altLang="zh-CN" sz="2000"/>
              <a:t>it 的</a:t>
            </a:r>
            <a:r>
              <a:rPr lang="zh-CN" altLang="zh-CN" sz="2000" dirty="0"/>
              <a:t>含义</a:t>
            </a:r>
            <a:r>
              <a:rPr lang="zh-CN" altLang="zh-CN" sz="2000"/>
              <a:t>：等 B</a:t>
            </a:r>
            <a:r>
              <a:rPr lang="zh-CN" altLang="zh-CN" sz="2000" dirty="0"/>
              <a:t>oa</a:t>
            </a:r>
            <a:r>
              <a:rPr lang="zh-CN" altLang="zh-CN" sz="2000"/>
              <a:t>rd 干</a:t>
            </a:r>
            <a:r>
              <a:rPr lang="zh-CN" altLang="zh-CN" sz="2000" dirty="0"/>
              <a:t>完活再继续</a:t>
            </a:r>
            <a:r>
              <a:rPr lang="zh-CN" altLang="zh-CN" sz="2000"/>
              <a:t>（第 3 课 T3 模</a:t>
            </a:r>
            <a:r>
              <a:rPr lang="zh-CN" altLang="zh-CN" sz="2000" dirty="0"/>
              <a:t>板详讲动画串行）</a:t>
            </a:r>
          </a:p>
        </p:txBody>
      </p:sp>
    </p:spTree>
    <p:extLst>
      <p:ext uri="{BB962C8B-B14F-4D97-AF65-F5344CB8AC3E}">
        <p14:creationId xmlns:p14="http://schemas.microsoft.com/office/powerpoint/2010/main" val="1009120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82D8498-3EFB-7240-8044-B628FF3A5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474839"/>
            <a:ext cx="10886340" cy="4702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 IDLE（空闲）  点宝石  选中（</a:t>
            </a:r>
            <a:r>
              <a:rPr lang="zh-CN" altLang="en-US" sz="2400" dirty="0"/>
              <a:t>遮罩</a:t>
            </a:r>
            <a:r>
              <a:rPr lang="zh-CN" altLang="zh-CN" sz="2400" dirty="0"/>
              <a:t>亮）</a:t>
            </a:r>
            <a:r>
              <a:rPr lang="zh-CN" altLang="en-US" sz="2400" dirty="0"/>
              <a:t> →</a:t>
            </a:r>
            <a:r>
              <a:rPr lang="zh-CN" altLang="zh-CN" sz="2400" dirty="0"/>
              <a:t> SELECTED </a:t>
            </a:r>
          </a:p>
          <a:p>
            <a:pPr marL="0" indent="0">
              <a:buNone/>
            </a:pPr>
            <a:r>
              <a:rPr lang="zh-CN" altLang="zh-CN" sz="2400" dirty="0"/>
              <a:t> IDLE  点空白  无视  IDLE </a:t>
            </a:r>
          </a:p>
          <a:p>
            <a:pPr marL="0" indent="0">
              <a:buNone/>
            </a:pPr>
            <a:r>
              <a:rPr lang="zh-CN" altLang="zh-CN" sz="2400" dirty="0"/>
              <a:t> SELECTED（已选中）  点自己  取消（</a:t>
            </a:r>
            <a:r>
              <a:rPr lang="zh-CN" altLang="en-US" sz="2400" dirty="0"/>
              <a:t>遮罩</a:t>
            </a:r>
            <a:r>
              <a:rPr lang="zh-CN" altLang="zh-CN" sz="2400" dirty="0"/>
              <a:t>灭）</a:t>
            </a:r>
            <a:r>
              <a:rPr lang="zh-CN" altLang="en-US" sz="2400" dirty="0"/>
              <a:t>→</a:t>
            </a:r>
            <a:r>
              <a:rPr lang="zh-CN" altLang="zh-CN" sz="2400" dirty="0"/>
              <a:t> IDLE </a:t>
            </a:r>
          </a:p>
          <a:p>
            <a:pPr marL="0" indent="0">
              <a:buNone/>
            </a:pPr>
            <a:r>
              <a:rPr lang="zh-CN" altLang="zh-CN" sz="2400" dirty="0"/>
              <a:t> SELECTED  点相邻  交换两颗（核心玩法！）</a:t>
            </a:r>
            <a:r>
              <a:rPr lang="zh-CN" altLang="en-US" sz="2400" dirty="0"/>
              <a:t> →</a:t>
            </a:r>
            <a:r>
              <a:rPr lang="zh-CN" altLang="zh-CN" sz="2400" dirty="0"/>
              <a:t> SWAPPING </a:t>
            </a:r>
          </a:p>
          <a:p>
            <a:pPr marL="0" indent="0">
              <a:buNone/>
            </a:pPr>
            <a:r>
              <a:rPr lang="zh-CN" altLang="zh-CN" sz="2400" dirty="0"/>
              <a:t> SELECTED  点非相邻  换选（旧灭新亮）</a:t>
            </a:r>
            <a:r>
              <a:rPr lang="zh-CN" altLang="en-US" sz="2400" dirty="0"/>
              <a:t> →</a:t>
            </a:r>
            <a:r>
              <a:rPr lang="zh-CN" altLang="zh-CN" sz="2400" dirty="0"/>
              <a:t> SELECTED </a:t>
            </a:r>
          </a:p>
          <a:p>
            <a:pPr marL="0" indent="0">
              <a:buNone/>
            </a:pPr>
            <a:r>
              <a:rPr lang="zh-CN" altLang="zh-CN" sz="2400" dirty="0"/>
              <a:t> SELECTED  点空白  取消（</a:t>
            </a:r>
            <a:r>
              <a:rPr lang="zh-CN" altLang="en-US" sz="2400" dirty="0"/>
              <a:t>遮罩</a:t>
            </a:r>
            <a:r>
              <a:rPr lang="zh-CN" altLang="zh-CN" sz="2400" dirty="0"/>
              <a:t>灭）</a:t>
            </a:r>
            <a:r>
              <a:rPr lang="zh-CN" altLang="en-US" sz="2400" dirty="0"/>
              <a:t> →</a:t>
            </a:r>
            <a:r>
              <a:rPr lang="zh-CN" altLang="zh-CN" sz="2400" dirty="0"/>
              <a:t> IDLE </a:t>
            </a:r>
          </a:p>
          <a:p>
            <a:pPr marL="0" indent="0">
              <a:buNone/>
            </a:pPr>
            <a:r>
              <a:rPr lang="zh-CN" altLang="zh-CN" sz="2400" dirty="0"/>
              <a:t> SWAPPING / RESOLVING（动画中）</a:t>
            </a:r>
            <a:r>
              <a:rPr lang="zh-CN" altLang="en-US" sz="2400" dirty="0"/>
              <a:t> </a:t>
            </a:r>
            <a:r>
              <a:rPr lang="zh-CN" altLang="zh-CN" sz="2400" dirty="0"/>
              <a:t>任意点击锁输入（无视）</a:t>
            </a:r>
            <a:r>
              <a:rPr lang="zh-CN" altLang="en-US" sz="2400" dirty="0"/>
              <a:t> →</a:t>
            </a:r>
            <a:r>
              <a:rPr lang="zh-CN" altLang="zh-CN" sz="2400" dirty="0"/>
              <a:t> 不变 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zh-CN" altLang="en-US" sz="3200" dirty="0">
                <a:solidFill>
                  <a:srgbClr val="C00000"/>
                </a:solidFill>
              </a:rPr>
              <a:t>请记住这一套逻辑，接下来我们将用代码复现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A8C7A4-158E-8B27-60C3-EC3C77AF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交互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情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况</a:t>
            </a:r>
            <a:r>
              <a:rPr lang="zh-CN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表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（前面提到的规则表的详细版）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4203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B984A6F-55A4-E637-CAF8-5C582A52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82" y="1510992"/>
            <a:ext cx="11328789" cy="510611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000" dirty="0" err="1">
                <a:latin typeface="Consolas" panose="020B0609020204030204" pitchFamily="49" charset="0"/>
              </a:rPr>
              <a:t>func</a:t>
            </a:r>
            <a:r>
              <a:rPr sz="2000" dirty="0">
                <a:latin typeface="Consolas" panose="020B0609020204030204" pitchFamily="49" charset="0"/>
              </a:rPr>
              <a:t> _</a:t>
            </a:r>
            <a:r>
              <a:rPr sz="2000" dirty="0" err="1">
                <a:latin typeface="Consolas" panose="020B0609020204030204" pitchFamily="49" charset="0"/>
              </a:rPr>
              <a:t>on_pointer_down</a:t>
            </a:r>
            <a:r>
              <a:rPr sz="2000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var world := </a:t>
            </a:r>
            <a:r>
              <a:rPr sz="2000" dirty="0" err="1">
                <a:latin typeface="Consolas" panose="020B0609020204030204" pitchFamily="49" charset="0"/>
              </a:rPr>
              <a:t>get_global_mouse_position</a:t>
            </a:r>
            <a:r>
              <a:rPr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var clicked: Gem = </a:t>
            </a:r>
            <a:r>
              <a:rPr sz="2000" dirty="0" err="1">
                <a:latin typeface="Consolas" panose="020B0609020204030204" pitchFamily="49" charset="0"/>
              </a:rPr>
              <a:t>board.get_gem_at</a:t>
            </a:r>
            <a:r>
              <a:rPr sz="2000" dirty="0">
                <a:latin typeface="Consolas" panose="020B0609020204030204" pitchFamily="49" charset="0"/>
              </a:rPr>
              <a:t>(</a:t>
            </a:r>
            <a:r>
              <a:rPr sz="2000" dirty="0" err="1">
                <a:latin typeface="Consolas" panose="020B0609020204030204" pitchFamily="49" charset="0"/>
              </a:rPr>
              <a:t>board.world_to_grid</a:t>
            </a:r>
            <a:r>
              <a:rPr sz="2000" dirty="0">
                <a:latin typeface="Consolas" panose="020B0609020204030204" pitchFamily="49" charset="0"/>
              </a:rPr>
              <a:t>(world))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if clicked == null: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_deselect()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state = </a:t>
            </a:r>
            <a:r>
              <a:rPr sz="2000" dirty="0" err="1">
                <a:latin typeface="Consolas" panose="020B0609020204030204" pitchFamily="49" charset="0"/>
              </a:rPr>
              <a:t>State.IDLE</a:t>
            </a:r>
            <a:endParaRPr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return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if state == </a:t>
            </a:r>
            <a:r>
              <a:rPr sz="2000" dirty="0" err="1">
                <a:latin typeface="Consolas" panose="020B0609020204030204" pitchFamily="49" charset="0"/>
              </a:rPr>
              <a:t>State.SELECTED</a:t>
            </a:r>
            <a:r>
              <a:rPr sz="2000" dirty="0">
                <a:latin typeface="Consolas" panose="020B0609020204030204" pitchFamily="49" charset="0"/>
              </a:rPr>
              <a:t> and selected != null: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if clicked == selected: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	_deselect()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	state = </a:t>
            </a:r>
            <a:r>
              <a:rPr sz="2000" dirty="0" err="1">
                <a:latin typeface="Consolas" panose="020B0609020204030204" pitchFamily="49" charset="0"/>
              </a:rPr>
              <a:t>State.IDLE</a:t>
            </a:r>
            <a:endParaRPr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	$</a:t>
            </a:r>
            <a:r>
              <a:rPr sz="2000" dirty="0" err="1">
                <a:latin typeface="Consolas" panose="020B0609020204030204" pitchFamily="49" charset="0"/>
              </a:rPr>
              <a:t>SfxClick.play</a:t>
            </a:r>
            <a:r>
              <a:rPr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	return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50C9414-6B9B-5C7F-AC38-FF11940F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拿</a:t>
            </a:r>
            <a:r>
              <a:rPr lang="zh-CN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坐标 → 点空白 → 空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闲选中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（上半部分）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1F029-5B12-61F7-DCA1-323515BAB8BD}"/>
              </a:ext>
            </a:extLst>
          </p:cNvPr>
          <p:cNvSpPr/>
          <p:nvPr/>
        </p:nvSpPr>
        <p:spPr>
          <a:xfrm>
            <a:off x="519082" y="1510991"/>
            <a:ext cx="11230466" cy="510611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5A0F01-BC68-198B-5A62-E195E993FDB5}"/>
              </a:ext>
            </a:extLst>
          </p:cNvPr>
          <p:cNvSpPr txBox="1"/>
          <p:nvPr/>
        </p:nvSpPr>
        <p:spPr>
          <a:xfrm>
            <a:off x="6838334" y="2774603"/>
            <a:ext cx="4424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get_gem_at(world_to_grid(world))</a:t>
            </a:r>
            <a:endParaRPr lang="en-US" altLang="zh-CN" sz="2000" dirty="0"/>
          </a:p>
          <a:p>
            <a:r>
              <a:rPr lang="zh-CN" altLang="zh-CN" sz="2000" dirty="0">
                <a:solidFill>
                  <a:srgbClr val="C00000"/>
                </a:solidFill>
              </a:rPr>
              <a:t>从里往外读</a:t>
            </a:r>
            <a:r>
              <a:rPr lang="zh-CN" altLang="zh-CN" sz="2000" dirty="0"/>
              <a:t>：先翻译坐标，结果塞给 get_gem_at 取宝石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4880D8C-C558-F30F-A20F-63D29267B84B}"/>
              </a:ext>
            </a:extLst>
          </p:cNvPr>
          <p:cNvCxnSpPr>
            <a:cxnSpLocks/>
          </p:cNvCxnSpPr>
          <p:nvPr/>
        </p:nvCxnSpPr>
        <p:spPr>
          <a:xfrm>
            <a:off x="4463161" y="2615380"/>
            <a:ext cx="449334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99B9BAC4-B392-D5BC-44C9-5CE1F7F8F9E8}"/>
              </a:ext>
            </a:extLst>
          </p:cNvPr>
          <p:cNvSpPr/>
          <p:nvPr/>
        </p:nvSpPr>
        <p:spPr>
          <a:xfrm>
            <a:off x="6763908" y="2805033"/>
            <a:ext cx="4607096" cy="105930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D91AB77-D1E7-D2DB-3498-D6838A1A508B}"/>
              </a:ext>
            </a:extLst>
          </p:cNvPr>
          <p:cNvCxnSpPr>
            <a:cxnSpLocks/>
          </p:cNvCxnSpPr>
          <p:nvPr/>
        </p:nvCxnSpPr>
        <p:spPr>
          <a:xfrm>
            <a:off x="1479754" y="3033252"/>
            <a:ext cx="231549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277BA64-71CC-48FA-235A-67BF534E031A}"/>
              </a:ext>
            </a:extLst>
          </p:cNvPr>
          <p:cNvSpPr txBox="1"/>
          <p:nvPr/>
        </p:nvSpPr>
        <p:spPr>
          <a:xfrm>
            <a:off x="4747615" y="2723535"/>
            <a:ext cx="1779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点到空白：当作</a:t>
            </a:r>
            <a:r>
              <a:rPr lang="zh-CN" altLang="en-US" b="1" dirty="0"/>
              <a:t>（</a:t>
            </a:r>
            <a:r>
              <a:rPr lang="en-US" altLang="zh-CN" b="1" dirty="0"/>
              <a:t>-1</a:t>
            </a:r>
            <a:r>
              <a:rPr lang="zh-CN" altLang="en-US" b="1" dirty="0"/>
              <a:t>，</a:t>
            </a:r>
            <a:r>
              <a:rPr lang="en-US" altLang="zh-CN" b="1" dirty="0"/>
              <a:t>-1</a:t>
            </a:r>
            <a:r>
              <a:rPr lang="zh-CN" altLang="en-US" b="1" dirty="0"/>
              <a:t>）</a:t>
            </a:r>
            <a:r>
              <a:rPr lang="zh-CN" altLang="en-US" dirty="0"/>
              <a:t>处理为“不想选”的情况，去遮罩，</a:t>
            </a:r>
            <a:r>
              <a:rPr lang="zh-CN" altLang="zh-CN" dirty="0"/>
              <a:t>回 IDLE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EF4B82-3005-6BA9-2EF0-2A2F7B7F095F}"/>
              </a:ext>
            </a:extLst>
          </p:cNvPr>
          <p:cNvSpPr/>
          <p:nvPr/>
        </p:nvSpPr>
        <p:spPr>
          <a:xfrm>
            <a:off x="6709832" y="4606084"/>
            <a:ext cx="4607095" cy="14773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F36BA2-A87D-31AA-A7B7-57E4FBBBCEEF}"/>
              </a:ext>
            </a:extLst>
          </p:cNvPr>
          <p:cNvSpPr txBox="1"/>
          <p:nvPr/>
        </p:nvSpPr>
        <p:spPr>
          <a:xfrm>
            <a:off x="6763908" y="4608344"/>
            <a:ext cx="44989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先判断"已选中"</a:t>
            </a:r>
            <a:r>
              <a:rPr lang="zh-CN" altLang="zh-CN" dirty="0"/>
              <a:t>：</a:t>
            </a:r>
            <a:r>
              <a:rPr lang="zh-CN" altLang="zh-CN"/>
              <a:t>if s</a:t>
            </a:r>
            <a:r>
              <a:rPr lang="zh-CN" altLang="zh-CN" dirty="0"/>
              <a:t>ta</a:t>
            </a:r>
            <a:r>
              <a:rPr lang="zh-CN" altLang="zh-CN"/>
              <a:t>te == S</a:t>
            </a:r>
            <a:r>
              <a:rPr lang="zh-CN" altLang="zh-CN" dirty="0"/>
              <a:t>ELECT</a:t>
            </a:r>
            <a:r>
              <a:rPr lang="zh-CN" altLang="zh-CN"/>
              <a:t>ED and s</a:t>
            </a:r>
            <a:r>
              <a:rPr lang="zh-CN" altLang="zh-CN" dirty="0"/>
              <a:t>elect</a:t>
            </a:r>
            <a:r>
              <a:rPr lang="zh-CN" altLang="zh-CN"/>
              <a:t>ed != n</a:t>
            </a:r>
            <a:r>
              <a:rPr lang="zh-CN" altLang="zh-CN" dirty="0"/>
              <a:t>ull——游戏已经选中一颗时，点击走"选中后"的分支。</a:t>
            </a:r>
            <a:endParaRPr lang="en-US" altLang="zh-CN" dirty="0"/>
          </a:p>
          <a:p>
            <a:r>
              <a:rPr lang="zh-CN" altLang="zh-CN" b="1" dirty="0"/>
              <a:t>为什么判断放前面？</a:t>
            </a:r>
            <a:r>
              <a:rPr lang="zh-CN" altLang="zh-CN" dirty="0"/>
              <a:t>因为要先处理"手里已有一颗"的情况，下面的空闲选中是兜底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E1F7BF-5A4F-96B1-7C99-F9AB54566A38}"/>
              </a:ext>
            </a:extLst>
          </p:cNvPr>
          <p:cNvSpPr/>
          <p:nvPr/>
        </p:nvSpPr>
        <p:spPr>
          <a:xfrm>
            <a:off x="4747615" y="2772033"/>
            <a:ext cx="1779638" cy="14003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C2B95F1-9C9F-87D8-505E-F08215E8AF3A}"/>
              </a:ext>
            </a:extLst>
          </p:cNvPr>
          <p:cNvCxnSpPr>
            <a:cxnSpLocks/>
          </p:cNvCxnSpPr>
          <p:nvPr/>
        </p:nvCxnSpPr>
        <p:spPr>
          <a:xfrm>
            <a:off x="1479754" y="4532013"/>
            <a:ext cx="571677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5E6E6C5-8285-58A9-45FC-B11186C7F499}"/>
              </a:ext>
            </a:extLst>
          </p:cNvPr>
          <p:cNvCxnSpPr/>
          <p:nvPr/>
        </p:nvCxnSpPr>
        <p:spPr>
          <a:xfrm>
            <a:off x="3893574" y="2909507"/>
            <a:ext cx="68825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6B94C80-02B7-0C1E-660C-088FA4C5960C}"/>
              </a:ext>
            </a:extLst>
          </p:cNvPr>
          <p:cNvCxnSpPr/>
          <p:nvPr/>
        </p:nvCxnSpPr>
        <p:spPr>
          <a:xfrm>
            <a:off x="7846142" y="2615380"/>
            <a:ext cx="0" cy="1618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648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C433C53-DB25-0321-6BB5-349EE7A0A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6" y="1637072"/>
            <a:ext cx="8347587" cy="3505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dirty="0"/>
              <a:t>	</a:t>
            </a:r>
            <a:r>
              <a:rPr sz="2000" dirty="0">
                <a:latin typeface="Consolas" panose="020B0609020204030204" pitchFamily="49" charset="0"/>
              </a:rPr>
              <a:t>	if </a:t>
            </a:r>
            <a:r>
              <a:rPr sz="2000" dirty="0" err="1">
                <a:latin typeface="Consolas" panose="020B0609020204030204" pitchFamily="49" charset="0"/>
              </a:rPr>
              <a:t>board.is_adjacent</a:t>
            </a:r>
            <a:r>
              <a:rPr sz="2000" dirty="0">
                <a:latin typeface="Consolas" panose="020B0609020204030204" pitchFamily="49" charset="0"/>
              </a:rPr>
              <a:t>(selected, clicked):</a:t>
            </a:r>
          </a:p>
          <a:p>
            <a:pPr marL="0" indent="0">
              <a:lnSpc>
                <a:spcPct val="10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	await _</a:t>
            </a:r>
            <a:r>
              <a:rPr sz="2000" dirty="0" err="1">
                <a:latin typeface="Consolas" panose="020B0609020204030204" pitchFamily="49" charset="0"/>
              </a:rPr>
              <a:t>do_swap</a:t>
            </a:r>
            <a:r>
              <a:rPr sz="2000" dirty="0">
                <a:latin typeface="Consolas" panose="020B0609020204030204" pitchFamily="49" charset="0"/>
              </a:rPr>
              <a:t>(selected, clicked)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	return</a:t>
            </a:r>
          </a:p>
          <a:p>
            <a:pPr marL="0" indent="0">
              <a:lnSpc>
                <a:spcPct val="10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	_deselect()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_select(clicked)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state = </a:t>
            </a:r>
            <a:r>
              <a:rPr sz="2000" dirty="0" err="1">
                <a:latin typeface="Consolas" panose="020B0609020204030204" pitchFamily="49" charset="0"/>
              </a:rPr>
              <a:t>State.SELECTED</a:t>
            </a:r>
            <a:endParaRPr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	$</a:t>
            </a:r>
            <a:r>
              <a:rPr sz="2000" dirty="0" err="1">
                <a:latin typeface="Consolas" panose="020B0609020204030204" pitchFamily="49" charset="0"/>
              </a:rPr>
              <a:t>SfxSelect.play</a:t>
            </a:r>
            <a:r>
              <a:rPr sz="20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4523B7-AF00-8019-839D-F2D75665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选中之后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三种可能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（下半部分）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239A7E-AB66-CABF-F925-3B6715E6DB1F}"/>
              </a:ext>
            </a:extLst>
          </p:cNvPr>
          <p:cNvSpPr/>
          <p:nvPr/>
        </p:nvSpPr>
        <p:spPr>
          <a:xfrm>
            <a:off x="108156" y="1510991"/>
            <a:ext cx="7570838" cy="3788596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8C023E-715A-CDBC-AB0A-3A0C0030529B}"/>
              </a:ext>
            </a:extLst>
          </p:cNvPr>
          <p:cNvSpPr txBox="1"/>
          <p:nvPr/>
        </p:nvSpPr>
        <p:spPr>
          <a:xfrm>
            <a:off x="7777314" y="1552124"/>
            <a:ext cx="421803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① 点自己：反悔了 → 去遮罩、回 IDLE（clicked == selected 判断“是不是同一颗”）</a:t>
            </a:r>
          </a:p>
          <a:p>
            <a:endParaRPr/>
          </a:p>
          <a:p>
            <a:endParaRPr/>
          </a:p>
          <a:p>
            <a:r>
              <a:t>② 点相邻：board.is_adjacent（黑盒）问"挨着吗"→ 挨着就 _do_swap（M5）</a:t>
            </a:r>
          </a:p>
          <a:p>
            <a:endParaRPr/>
          </a:p>
          <a:p>
            <a:endParaRPr/>
          </a:p>
          <a:p>
            <a:r>
              <a:t>③ 点非相邻：远的那颗不要了 → 旧遮罩灭、新遮罩亮、保持 SELECTED（换选）</a:t>
            </a:r>
          </a:p>
        </p:txBody>
      </p:sp>
    </p:spTree>
    <p:extLst>
      <p:ext uri="{BB962C8B-B14F-4D97-AF65-F5344CB8AC3E}">
        <p14:creationId xmlns:p14="http://schemas.microsoft.com/office/powerpoint/2010/main" val="3314247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3D842F9-389C-C04E-495C-23BFD6D99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604" y="1579818"/>
            <a:ext cx="10740884" cy="265788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>
                <a:latin typeface="Consolas" panose="020B0609020204030204" pitchFamily="49" charset="0"/>
              </a:rPr>
              <a:t>func _</a:t>
            </a:r>
            <a:r>
              <a:rPr lang="en-US" altLang="zh-CN" sz="2400" dirty="0" err="1">
                <a:latin typeface="Consolas" panose="020B0609020204030204" pitchFamily="49" charset="0"/>
              </a:rPr>
              <a:t>unhandled_input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err="1">
                <a:latin typeface="Consolas" panose="020B0609020204030204" pitchFamily="49" charset="0"/>
              </a:rPr>
              <a:t>event</a:t>
            </a:r>
            <a:r>
              <a:rPr lang="en-US" altLang="zh-CN" sz="2400">
                <a:latin typeface="Consolas" panose="020B0609020204030204" pitchFamily="49" charset="0"/>
              </a:rPr>
              <a:t>: InputEvent) -&gt; void</a:t>
            </a:r>
            <a:r>
              <a:rPr lang="en-US" altLang="zh-CN" sz="24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>
                <a:latin typeface="Consolas" panose="020B0609020204030204" pitchFamily="49" charset="0"/>
              </a:rPr>
              <a:t>	if state == State</a:t>
            </a:r>
            <a:r>
              <a:rPr lang="en-US" altLang="zh-CN" sz="2400" err="1">
                <a:latin typeface="Consolas" panose="020B0609020204030204" pitchFamily="49" charset="0"/>
              </a:rPr>
              <a:t>.</a:t>
            </a:r>
            <a:r>
              <a:rPr lang="en-US" altLang="zh-CN" sz="2400">
                <a:latin typeface="Consolas" panose="020B0609020204030204" pitchFamily="49" charset="0"/>
              </a:rPr>
              <a:t>SWAPPING or state == State</a:t>
            </a:r>
            <a:r>
              <a:rPr lang="en-US" altLang="zh-CN" sz="2400" dirty="0" err="1">
                <a:latin typeface="Consolas" panose="020B0609020204030204" pitchFamily="49" charset="0"/>
              </a:rPr>
              <a:t>.RESOLVING</a:t>
            </a:r>
            <a:r>
              <a:rPr lang="en-US" altLang="zh-CN" sz="24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return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>
                <a:latin typeface="Consolas" panose="020B0609020204030204" pitchFamily="49" charset="0"/>
              </a:rPr>
              <a:t>	if event</a:t>
            </a:r>
            <a:r>
              <a:rPr lang="en-US" altLang="zh-CN" sz="2400" dirty="0" err="1">
                <a:latin typeface="Consolas" panose="020B0609020204030204" pitchFamily="49" charset="0"/>
              </a:rPr>
              <a:t>.is_action_pressed</a:t>
            </a:r>
            <a:r>
              <a:rPr lang="en-US" altLang="zh-CN" sz="2400" dirty="0">
                <a:latin typeface="Consolas" panose="020B0609020204030204" pitchFamily="49" charset="0"/>
              </a:rPr>
              <a:t>("click"):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	await _</a:t>
            </a:r>
            <a:r>
              <a:rPr lang="en-US" altLang="zh-CN" sz="2400" dirty="0" err="1">
                <a:latin typeface="Consolas" panose="020B0609020204030204" pitchFamily="49" charset="0"/>
              </a:rPr>
              <a:t>on_pointer_down</a:t>
            </a:r>
            <a:r>
              <a:rPr lang="en-US" altLang="zh-CN" sz="2400" dirty="0">
                <a:latin typeface="Consolas" panose="020B0609020204030204" pitchFamily="49" charset="0"/>
              </a:rPr>
              <a:t>()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63146AF-2BD3-4255-FDC3-8771B657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处理点击事件的入口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274984-53D8-F3BD-5E54-EFEE0B25479F}"/>
              </a:ext>
            </a:extLst>
          </p:cNvPr>
          <p:cNvSpPr/>
          <p:nvPr/>
        </p:nvSpPr>
        <p:spPr>
          <a:xfrm>
            <a:off x="519083" y="1510991"/>
            <a:ext cx="10963926" cy="2657886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F4336D-6FE1-534F-87E9-32D2443353E2}"/>
              </a:ext>
            </a:extLst>
          </p:cNvPr>
          <p:cNvSpPr txBox="1"/>
          <p:nvPr/>
        </p:nvSpPr>
        <p:spPr>
          <a:xfrm>
            <a:off x="630604" y="4562168"/>
            <a:ext cx="108524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入口</a:t>
            </a:r>
            <a:r>
              <a:rPr lang="zh-CN" altLang="zh-CN" dirty="0"/>
              <a:t>：所有</a:t>
            </a:r>
            <a:r>
              <a:rPr lang="zh-CN" altLang="zh-CN"/>
              <a:t>没被 UI 控</a:t>
            </a:r>
            <a:r>
              <a:rPr lang="zh-CN" altLang="zh-CN" dirty="0"/>
              <a:t>件消费的鼠标点击都进这个函数</a:t>
            </a:r>
            <a:endParaRPr lang="en-US" altLang="zh-CN" dirty="0"/>
          </a:p>
          <a:p>
            <a:r>
              <a:rPr lang="en-US" altLang="zh-CN" dirty="0" err="1">
                <a:latin typeface="Consolas" panose="020B0609020204030204" pitchFamily="49" charset="0"/>
              </a:rPr>
              <a:t>event.is_action_pressed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r>
              <a:rPr lang="zh-CN" altLang="en-US" dirty="0"/>
              <a:t>如果给定的动作与该事件匹配且正被按下，则</a:t>
            </a:r>
            <a:r>
              <a:rPr lang="zh-CN" altLang="en-US"/>
              <a:t>返回 </a:t>
            </a:r>
            <a:r>
              <a:rPr lang="en-US" altLang="zh-CN"/>
              <a:t>true</a:t>
            </a:r>
            <a:endParaRPr lang="en-US" altLang="zh-CN" dirty="0"/>
          </a:p>
          <a:p>
            <a:r>
              <a:rPr lang="zh-CN" altLang="zh-CN" b="1" dirty="0"/>
              <a:t>状态锁（刹车）</a:t>
            </a:r>
            <a:r>
              <a:rPr lang="zh-CN" altLang="zh-CN" dirty="0"/>
              <a:t>：SWAPPING/RESOLVI</a:t>
            </a:r>
            <a:r>
              <a:rPr lang="zh-CN" altLang="zh-CN"/>
              <a:t>NG 时直接 r</a:t>
            </a:r>
            <a:r>
              <a:rPr lang="zh-CN" altLang="zh-CN" dirty="0"/>
              <a:t>eturn——动画播放中不允许新输入</a:t>
            </a:r>
          </a:p>
          <a:p>
            <a:r>
              <a:rPr lang="en-US" altLang="zh-CN" dirty="0"/>
              <a:t>-</a:t>
            </a:r>
            <a:r>
              <a:rPr lang="zh-CN" altLang="zh-CN" dirty="0"/>
              <a:t>awa</a:t>
            </a:r>
            <a:r>
              <a:rPr lang="zh-CN" altLang="zh-CN"/>
              <a:t>it _</a:t>
            </a:r>
            <a:r>
              <a:rPr lang="zh-CN" altLang="zh-CN" dirty="0"/>
              <a:t>on_pointer_down</a:t>
            </a:r>
            <a:r>
              <a:rPr lang="zh-CN" altLang="zh-CN"/>
              <a:t>() ：进入 M</a:t>
            </a:r>
            <a:r>
              <a:rPr lang="zh-CN" altLang="zh-CN" dirty="0"/>
              <a:t>7/</a:t>
            </a:r>
            <a:r>
              <a:rPr lang="zh-CN" altLang="zh-CN"/>
              <a:t>M8 的</a:t>
            </a:r>
            <a:r>
              <a:rPr lang="zh-CN" altLang="zh-CN" dirty="0"/>
              <a:t>规则判断</a:t>
            </a:r>
            <a:endParaRPr lang="en-US" altLang="zh-CN" dirty="0"/>
          </a:p>
          <a:p>
            <a:pPr marL="285750" indent="-285750">
              <a:buFontTx/>
              <a:buChar char="-"/>
            </a:pP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写完这块代码不代表大功告成，我们还要在项目设置内让</a:t>
            </a:r>
            <a:r>
              <a:rPr lang="en-US" altLang="zh-CN" dirty="0" err="1">
                <a:solidFill>
                  <a:srgbClr val="FF0000"/>
                </a:solidFill>
              </a:rPr>
              <a:t>godot</a:t>
            </a:r>
            <a:r>
              <a:rPr lang="zh-CN" altLang="en-US" dirty="0">
                <a:solidFill>
                  <a:srgbClr val="FF0000"/>
                </a:solidFill>
              </a:rPr>
              <a:t>能够真正识别按键</a:t>
            </a:r>
            <a:endParaRPr lang="zh-CN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827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EF12609-7BB8-2D7B-27F6-6FDEDF5B3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10" y="1799334"/>
            <a:ext cx="3337775" cy="4326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菜单：</a:t>
            </a:r>
            <a:r>
              <a:rPr lang="zh-CN" altLang="zh-CN"/>
              <a:t>项目 → 项</a:t>
            </a:r>
            <a:r>
              <a:rPr lang="zh-CN" altLang="zh-CN" dirty="0"/>
              <a:t>目设置</a:t>
            </a:r>
            <a:r>
              <a:rPr lang="zh-CN" altLang="en-US" dirty="0"/>
              <a:t>，上栏</a:t>
            </a:r>
            <a:r>
              <a:rPr lang="zh-CN" altLang="zh-CN" dirty="0"/>
              <a:t>点</a:t>
            </a:r>
            <a:r>
              <a:rPr lang="zh-CN" altLang="en-US" dirty="0"/>
              <a:t>“</a:t>
            </a:r>
            <a:r>
              <a:rPr lang="zh-CN" altLang="zh-CN" dirty="0"/>
              <a:t>输入映</a:t>
            </a:r>
            <a:r>
              <a:rPr lang="zh-CN" altLang="en-US"/>
              <a:t>射”</a:t>
            </a:r>
            <a:r>
              <a:rPr lang="zh-CN" altLang="zh-CN"/>
              <a:t> </a:t>
            </a:r>
            <a:r>
              <a:rPr lang="zh-CN" altLang="en-US"/>
              <a:t>添</a:t>
            </a:r>
            <a:r>
              <a:rPr lang="zh-CN" altLang="en-US" dirty="0"/>
              <a:t>加新动作</a:t>
            </a:r>
            <a:r>
              <a:rPr lang="zh-CN" altLang="zh-CN"/>
              <a:t>框打 c</a:t>
            </a:r>
            <a:r>
              <a:rPr lang="zh-CN" altLang="zh-CN" dirty="0"/>
              <a:t>li</a:t>
            </a:r>
            <a:r>
              <a:rPr lang="zh-CN" altLang="zh-CN"/>
              <a:t>ck → 点</a:t>
            </a:r>
            <a:r>
              <a:rPr lang="zh-CN" altLang="en-US" dirty="0"/>
              <a:t>“</a:t>
            </a:r>
            <a:r>
              <a:rPr lang="zh-CN" altLang="zh-CN" dirty="0"/>
              <a:t>添加</a:t>
            </a:r>
            <a:r>
              <a:rPr lang="zh-CN" altLang="en-US" dirty="0"/>
              <a:t>”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cli</a:t>
            </a:r>
            <a:r>
              <a:rPr lang="zh-CN" altLang="zh-CN"/>
              <a:t>ck 那</a:t>
            </a:r>
            <a:r>
              <a:rPr lang="zh-CN" altLang="zh-CN" dirty="0"/>
              <a:t>行右侧点</a:t>
            </a:r>
            <a:r>
              <a:rPr lang="zh-CN" altLang="en-US" dirty="0"/>
              <a:t>“</a:t>
            </a:r>
            <a:r>
              <a:rPr lang="zh-CN" altLang="zh-CN" dirty="0"/>
              <a:t>+</a:t>
            </a:r>
            <a:r>
              <a:rPr lang="zh-CN" altLang="en-US"/>
              <a:t>”</a:t>
            </a:r>
            <a:r>
              <a:rPr lang="zh-CN" altLang="zh-CN"/>
              <a:t>→ 选</a:t>
            </a:r>
            <a:r>
              <a:rPr lang="zh-CN" altLang="en-US" dirty="0"/>
              <a:t>“</a:t>
            </a:r>
            <a:r>
              <a:rPr lang="zh-CN" altLang="zh-CN" dirty="0"/>
              <a:t>鼠标键</a:t>
            </a:r>
            <a:r>
              <a:rPr lang="zh-CN" altLang="en-US"/>
              <a:t>”</a:t>
            </a:r>
            <a:r>
              <a:rPr lang="zh-CN" altLang="zh-CN"/>
              <a:t>→ 勾</a:t>
            </a:r>
            <a:r>
              <a:rPr lang="zh-CN" altLang="en-US" dirty="0"/>
              <a:t>“</a:t>
            </a:r>
            <a:r>
              <a:rPr lang="zh-CN" altLang="zh-CN" dirty="0"/>
              <a:t>左</a:t>
            </a:r>
            <a:r>
              <a:rPr lang="zh-CN" altLang="zh-CN"/>
              <a:t>键</a:t>
            </a:r>
            <a:r>
              <a:rPr lang="zh-CN" altLang="en-US"/>
              <a:t>”</a:t>
            </a:r>
            <a:r>
              <a:rPr lang="zh-CN" altLang="zh-CN"/>
              <a:t>  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FDB8A08-AA0D-EB88-7E78-624FBD622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给 c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lick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  <a:r>
              <a:rPr lang="zh-CN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行内部配置（否则你的代码识别不了输入）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AB147C-880B-7922-3035-55281A3E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366" y="1474868"/>
            <a:ext cx="8315479" cy="5058667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BD7561E-B248-97B1-8CDF-B7B05CEDE7DB}"/>
              </a:ext>
            </a:extLst>
          </p:cNvPr>
          <p:cNvCxnSpPr/>
          <p:nvPr/>
        </p:nvCxnSpPr>
        <p:spPr>
          <a:xfrm>
            <a:off x="4355690" y="2064774"/>
            <a:ext cx="70792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E741D0E-6B10-5058-3C74-872273DF38DA}"/>
              </a:ext>
            </a:extLst>
          </p:cNvPr>
          <p:cNvCxnSpPr/>
          <p:nvPr/>
        </p:nvCxnSpPr>
        <p:spPr>
          <a:xfrm>
            <a:off x="5845277" y="3102077"/>
            <a:ext cx="70792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9D9FE80-E156-7831-B91B-F656856001BA}"/>
              </a:ext>
            </a:extLst>
          </p:cNvPr>
          <p:cNvCxnSpPr/>
          <p:nvPr/>
        </p:nvCxnSpPr>
        <p:spPr>
          <a:xfrm>
            <a:off x="10043651" y="2757948"/>
            <a:ext cx="70792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5BFD4EF-0232-2079-0451-EEFCCAAD56AA}"/>
              </a:ext>
            </a:extLst>
          </p:cNvPr>
          <p:cNvCxnSpPr>
            <a:cxnSpLocks/>
          </p:cNvCxnSpPr>
          <p:nvPr/>
        </p:nvCxnSpPr>
        <p:spPr>
          <a:xfrm>
            <a:off x="4001728" y="3544529"/>
            <a:ext cx="162232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093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42AE79-ED47-9445-BC70-F5AA8F716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45" y="1481497"/>
            <a:ext cx="11397615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把：</a:t>
            </a:r>
            <a:r>
              <a:rPr lang="zh-CN" altLang="zh-CN" sz="2400" dirty="0">
                <a:latin typeface="Consolas" panose="020B0609020204030204" pitchFamily="49" charset="0"/>
              </a:rPr>
              <a:t>var clicked: Gem = board.get_gem_at(board.world_to_grid(world))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/>
              <a:t>改为：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sz="2400" dirty="0">
                <a:latin typeface="Consolas" panose="020B0609020204030204" pitchFamily="49" charset="0"/>
              </a:rPr>
              <a:t>var grid_pos: Vector2i = board.world_to_grid(world)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print("</a:t>
            </a:r>
            <a:r>
              <a:rPr lang="zh-CN" altLang="en-US" sz="2400" dirty="0">
                <a:latin typeface="Consolas" panose="020B0609020204030204" pitchFamily="49" charset="0"/>
              </a:rPr>
              <a:t>点击了格子：</a:t>
            </a:r>
            <a:r>
              <a:rPr lang="en-US" altLang="zh-CN" sz="2400" dirty="0">
                <a:latin typeface="Consolas" panose="020B0609020204030204" pitchFamily="49" charset="0"/>
              </a:rPr>
              <a:t>", </a:t>
            </a:r>
            <a:r>
              <a:rPr lang="en-US" altLang="zh-CN" sz="2400" dirty="0" err="1">
                <a:latin typeface="Consolas" panose="020B0609020204030204" pitchFamily="49" charset="0"/>
              </a:rPr>
              <a:t>grid_pos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var clicked: Gem = </a:t>
            </a:r>
            <a:r>
              <a:rPr lang="en-US" altLang="zh-CN" sz="2400" dirty="0" err="1">
                <a:latin typeface="Consolas" panose="020B0609020204030204" pitchFamily="49" charset="0"/>
              </a:rPr>
              <a:t>board.get_gem_at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grid_pos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5E745F3-ABB6-EDBE-EBE6-AFC1B64D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main.gd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，添加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debug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47FAE9-8E29-8596-CBD0-ED81E0A7188E}"/>
              </a:ext>
            </a:extLst>
          </p:cNvPr>
          <p:cNvSpPr/>
          <p:nvPr/>
        </p:nvSpPr>
        <p:spPr>
          <a:xfrm>
            <a:off x="233945" y="1510991"/>
            <a:ext cx="11476274" cy="252023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BE8471-60F1-AD41-9594-5D0A59A1B2F9}"/>
              </a:ext>
            </a:extLst>
          </p:cNvPr>
          <p:cNvSpPr txBox="1"/>
          <p:nvPr/>
        </p:nvSpPr>
        <p:spPr>
          <a:xfrm>
            <a:off x="233945" y="4222341"/>
            <a:ext cx="114762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/>
                </a:solidFill>
              </a:rPr>
              <a:t>Debug</a:t>
            </a:r>
            <a:r>
              <a:rPr lang="zh-CN" altLang="en-US" sz="2400" dirty="0">
                <a:solidFill>
                  <a:schemeClr val="accent6"/>
                </a:solidFill>
              </a:rPr>
              <a:t>内容可以帮你迅速验证脚本实际运行情况，技能查看成果</a:t>
            </a:r>
            <a:r>
              <a:rPr lang="en-US" altLang="zh-CN" sz="2400" dirty="0">
                <a:solidFill>
                  <a:schemeClr val="accent6"/>
                </a:solidFill>
              </a:rPr>
              <a:t>·</a:t>
            </a:r>
            <a:r>
              <a:rPr lang="zh-CN" altLang="en-US" sz="2400" dirty="0">
                <a:solidFill>
                  <a:schemeClr val="accent6"/>
                </a:solidFill>
              </a:rPr>
              <a:t>，也能排除</a:t>
            </a:r>
            <a:r>
              <a:rPr lang="en-US" altLang="zh-CN" sz="2400" dirty="0">
                <a:solidFill>
                  <a:schemeClr val="accent6"/>
                </a:solidFill>
              </a:rPr>
              <a:t>bug</a:t>
            </a:r>
            <a:r>
              <a:rPr lang="zh-CN" altLang="en-US" sz="2400" dirty="0">
                <a:solidFill>
                  <a:schemeClr val="accent6"/>
                </a:solidFill>
              </a:rPr>
              <a:t>，在开发阶段还请不要吝啬这样的代码</a:t>
            </a:r>
            <a:r>
              <a:rPr lang="en-US" altLang="zh-CN" sz="2400" dirty="0">
                <a:solidFill>
                  <a:schemeClr val="accent6"/>
                </a:solidFill>
              </a:rPr>
              <a:t>~</a:t>
            </a:r>
          </a:p>
          <a:p>
            <a:endParaRPr lang="en-US" altLang="zh-CN" sz="2400" dirty="0"/>
          </a:p>
          <a:p>
            <a:r>
              <a:rPr lang="zh-CN" altLang="en-US" sz="2400" dirty="0"/>
              <a:t>接下来按</a:t>
            </a:r>
            <a:r>
              <a:rPr lang="en-US" altLang="zh-CN" sz="2400" dirty="0"/>
              <a:t>F5</a:t>
            </a:r>
            <a:r>
              <a:rPr lang="zh-CN" altLang="en-US" sz="2400" dirty="0"/>
              <a:t>，点击宝石</a:t>
            </a:r>
            <a:r>
              <a:rPr lang="en-US" altLang="zh-CN" sz="2400" dirty="0"/>
              <a:t>/</a:t>
            </a:r>
            <a:r>
              <a:rPr lang="zh-CN" altLang="en-US" sz="2400" dirty="0"/>
              <a:t>棋盘外，检查控制台输出</a:t>
            </a:r>
            <a:endParaRPr lang="en-US" altLang="zh-CN" sz="2400" dirty="0"/>
          </a:p>
          <a:p>
            <a:r>
              <a:rPr lang="zh-CN" altLang="en-US" sz="2400" dirty="0"/>
              <a:t>还有，如果闪退：</a:t>
            </a:r>
            <a:r>
              <a:rPr lang="en-US" altLang="zh-CN" sz="2400" dirty="0"/>
              <a:t>_</a:t>
            </a:r>
            <a:r>
              <a:rPr lang="en-US" altLang="zh-CN" sz="2400" dirty="0" err="1"/>
              <a:t>do_swap</a:t>
            </a:r>
            <a:r>
              <a:rPr lang="en-US" altLang="zh-CN" sz="2400" dirty="0"/>
              <a:t>: Invalid call. Nonexistent function ‘</a:t>
            </a:r>
            <a:r>
              <a:rPr lang="en-US" altLang="zh-CN" sz="2400" dirty="0" err="1"/>
              <a:t>try_swap</a:t>
            </a:r>
            <a:r>
              <a:rPr lang="en-US" altLang="zh-CN" sz="2400" dirty="0"/>
              <a:t>’ in base ‘Node2D (board.gd)’. </a:t>
            </a:r>
            <a:r>
              <a:rPr lang="zh-CN" altLang="en-US" sz="2400" dirty="0"/>
              <a:t>那是因为我们还没写完整判定层，下半部分我们继续补全</a:t>
            </a:r>
            <a:r>
              <a:rPr lang="en-US" altLang="zh-CN" sz="2400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207070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1144749-FF69-BEAD-90F5-37952FB7E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b="1" dirty="0"/>
              <a:t>至此交互链全部拼完</a:t>
            </a:r>
            <a:r>
              <a:rPr lang="zh-CN" altLang="zh-CN" dirty="0"/>
              <a:t>：点击 → 坐标 → 分支 → 选中/交换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现在，我们的游戏已经知道如何处理鼠标输入了</a:t>
            </a:r>
            <a:r>
              <a:rPr lang="en-US" altLang="zh-CN" dirty="0"/>
              <a:t>~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不过别高兴太早，接下来还有第二关（）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AFE2707-2D4F-6917-8BDA-9410D22F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达成成就：隔墙有眼</a:t>
            </a:r>
          </a:p>
        </p:txBody>
      </p:sp>
      <p:pic>
        <p:nvPicPr>
          <p:cNvPr id="8" name="图片 7" descr="要塞 (Stronghold)">
            <a:extLst>
              <a:ext uri="{FF2B5EF4-FFF2-40B4-BE49-F238E27FC236}">
                <a16:creationId xmlns:a16="http://schemas.microsoft.com/office/drawing/2014/main" id="{2585334A-F4F2-D0DB-9502-65658EFCF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155" y="2950746"/>
            <a:ext cx="3754854" cy="37548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3B1F536-2995-5017-C430-C2D895F8F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180" y="245061"/>
            <a:ext cx="14287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64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9C3EA01-9B56-D81F-84D9-07312643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651898"/>
            <a:ext cx="10740884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交换两颗宝石后：</a:t>
            </a:r>
          </a:p>
          <a:p>
            <a:pPr marL="0" indent="0">
              <a:buNone/>
            </a:pPr>
            <a:r>
              <a:rPr lang="zh-CN" altLang="zh-CN" dirty="0"/>
              <a:t>   ① 先换数据 + 播动画（数据与表现分离）</a:t>
            </a:r>
          </a:p>
          <a:p>
            <a:pPr marL="0" indent="0">
              <a:buNone/>
            </a:pPr>
            <a:r>
              <a:rPr lang="zh-CN" altLang="zh-CN" dirty="0"/>
              <a:t>   ② 查所有「连续 ≥3 个同色」的宝石（find_match_groups）</a:t>
            </a:r>
          </a:p>
          <a:p>
            <a:pPr marL="0" indent="0">
              <a:buNone/>
            </a:pPr>
            <a:r>
              <a:rPr lang="zh-CN" altLang="zh-CN" dirty="0"/>
              <a:t>        横扫一遍 + 竖扫一遍 → 收集所有匹配组</a:t>
            </a:r>
          </a:p>
          <a:p>
            <a:pPr marL="0" indent="0">
              <a:buNone/>
            </a:pPr>
            <a:r>
              <a:rPr lang="zh-CN" altLang="zh-CN" dirty="0"/>
              <a:t>   ③ 摊平 + 去重（find_matches）：横竖共用的宝石只算一次</a:t>
            </a:r>
          </a:p>
          <a:p>
            <a:pPr marL="0" indent="0">
              <a:buNone/>
            </a:pPr>
            <a:r>
              <a:rPr lang="zh-CN" altLang="zh-CN" dirty="0"/>
              <a:t>   ④ 有匹配 → 交换成立（true）</a:t>
            </a:r>
          </a:p>
          <a:p>
            <a:pPr marL="0" indent="0">
              <a:buNone/>
            </a:pPr>
            <a:r>
              <a:rPr lang="zh-CN" altLang="zh-CN" dirty="0"/>
              <a:t>      没匹配 → 数据换回去 + 动画弹回（false）← 回滚套路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9671A50-8FA9-F54F-A805-BD4F0BC0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终于轮到判定层了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判定链全景：</a:t>
            </a:r>
          </a:p>
        </p:txBody>
      </p:sp>
    </p:spTree>
    <p:extLst>
      <p:ext uri="{BB962C8B-B14F-4D97-AF65-F5344CB8AC3E}">
        <p14:creationId xmlns:p14="http://schemas.microsoft.com/office/powerpoint/2010/main" val="61847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CABB2E3-023A-AC2F-4962-501B9C371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571" y="1543743"/>
            <a:ext cx="10740884" cy="353953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b="1" dirty="0"/>
              <a:t>找出所有匹配组</a:t>
            </a:r>
            <a:r>
              <a:rPr lang="zh-CN" altLang="zh-CN" sz="2200" dirty="0"/>
              <a:t>（一组 = 一段连续 ≥3 个同色宝石）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dirty="0"/>
              <a:t>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dirty="0"/>
              <a:t>├─ 1. </a:t>
            </a:r>
            <a:r>
              <a:rPr lang="zh-CN" altLang="zh-CN" sz="2200" b="1" dirty="0"/>
              <a:t>横向</a:t>
            </a:r>
            <a:r>
              <a:rPr lang="zh-CN" altLang="zh-CN" sz="2200" dirty="0"/>
              <a:t>：一行一行扫（8 行）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dirty="0"/>
              <a:t>│     对每一行：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dirty="0"/>
              <a:t>│       ① 找到一段「连续同色段」（叫 run）——从某格开始向右延伸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dirty="0"/>
              <a:t>│       ② 颜色变了 / 到头了 → 这段结束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dirty="0"/>
              <a:t>│       ③ 长度 ≥ 3 → 收进结果（一组）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dirty="0"/>
              <a:t>│       ④ 从这段之后继续找下一段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dirty="0"/>
              <a:t>├─ 2. </a:t>
            </a:r>
            <a:r>
              <a:rPr lang="zh-CN" altLang="zh-CN" sz="2200" b="1" dirty="0"/>
              <a:t>纵向</a:t>
            </a:r>
            <a:r>
              <a:rPr lang="zh-CN" altLang="zh-CN" sz="2200" dirty="0"/>
              <a:t>：一列一列扫（8 列，逻辑一模一样，方向换一下）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2200" dirty="0"/>
              <a:t>└─ 3. 返回所有组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26C471-06D9-0B2B-E240-6BAC3807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三消如何判定？（核心）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A97B7C-DD85-2789-B08E-09E6BD6D20E2}"/>
              </a:ext>
            </a:extLst>
          </p:cNvPr>
          <p:cNvSpPr txBox="1"/>
          <p:nvPr/>
        </p:nvSpPr>
        <p:spPr>
          <a:xfrm>
            <a:off x="5210028" y="5083277"/>
            <a:ext cx="62729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[红][红][红][蓝][红]     ← 从第 0 格开始，红色 run 延伸</a:t>
            </a:r>
          </a:p>
          <a:p>
            <a:r>
              <a:rPr lang="zh-CN" altLang="zh-CN" sz="2000" dirty="0"/>
              <a:t>  ↑start        ↑颜色变了，</a:t>
            </a:r>
            <a:r>
              <a:rPr lang="en-US" altLang="zh-CN" sz="2000" dirty="0"/>
              <a:t>cut</a:t>
            </a:r>
            <a:r>
              <a:rPr lang="zh-CN" altLang="zh-CN" sz="2000" dirty="0"/>
              <a:t>！</a:t>
            </a:r>
          </a:p>
          <a:p>
            <a:r>
              <a:rPr lang="zh-CN" altLang="zh-CN" sz="2000" dirty="0"/>
              <a:t>  长度 = 3 ≥ 3 → 收下这一组</a:t>
            </a:r>
          </a:p>
          <a:p>
            <a:r>
              <a:rPr lang="zh-CN" altLang="zh-CN" sz="2000" dirty="0"/>
              <a:t>  然后从蓝色那格继续找下一段……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21FC07-6216-80C0-9AB7-FD3834E1618D}"/>
              </a:ext>
            </a:extLst>
          </p:cNvPr>
          <p:cNvSpPr/>
          <p:nvPr/>
        </p:nvSpPr>
        <p:spPr>
          <a:xfrm>
            <a:off x="5210028" y="5083277"/>
            <a:ext cx="6138428" cy="142567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E81720-E5A9-196C-4B3A-9404688E9A5B}"/>
              </a:ext>
            </a:extLst>
          </p:cNvPr>
          <p:cNvSpPr txBox="1"/>
          <p:nvPr/>
        </p:nvSpPr>
        <p:spPr>
          <a:xfrm>
            <a:off x="3573343" y="5391053"/>
            <a:ext cx="18290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6"/>
                </a:solidFill>
              </a:rPr>
              <a:t>示例：</a:t>
            </a:r>
          </a:p>
        </p:txBody>
      </p:sp>
    </p:spTree>
    <p:extLst>
      <p:ext uri="{BB962C8B-B14F-4D97-AF65-F5344CB8AC3E}">
        <p14:creationId xmlns:p14="http://schemas.microsoft.com/office/powerpoint/2010/main" val="3597710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AE7E16-ED04-04CB-4C56-A14E92DD4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72" y="1368847"/>
            <a:ext cx="8901292" cy="5248263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sz="1600" dirty="0" err="1">
                <a:latin typeface="Consolas" panose="020B0609020204030204" pitchFamily="49" charset="0"/>
              </a:rPr>
              <a:t>func</a:t>
            </a:r>
            <a:r>
              <a:rPr sz="1600" dirty="0">
                <a:latin typeface="Consolas" panose="020B0609020204030204" pitchFamily="49" charset="0"/>
              </a:rPr>
              <a:t> </a:t>
            </a:r>
            <a:r>
              <a:rPr sz="1600" dirty="0" err="1">
                <a:latin typeface="Consolas" panose="020B0609020204030204" pitchFamily="49" charset="0"/>
              </a:rPr>
              <a:t>find_match_groups</a:t>
            </a:r>
            <a:r>
              <a:rPr sz="1600" dirty="0">
                <a:latin typeface="Consolas" panose="020B0609020204030204" pitchFamily="49" charset="0"/>
              </a:rPr>
              <a:t>() -&gt; Array: #非完整代码，请不要照抄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var groups: Array = []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for row in range(GRID_SIZE):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var </a:t>
            </a:r>
            <a:r>
              <a:rPr sz="1600" dirty="0" err="1">
                <a:latin typeface="Consolas" panose="020B0609020204030204" pitchFamily="49" charset="0"/>
              </a:rPr>
              <a:t>run_start</a:t>
            </a:r>
            <a:r>
              <a:rPr sz="1600" dirty="0">
                <a:latin typeface="Consolas" panose="020B0609020204030204" pitchFamily="49" charset="0"/>
              </a:rPr>
              <a:t> := 0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while </a:t>
            </a:r>
            <a:r>
              <a:rPr sz="1600" dirty="0" err="1">
                <a:latin typeface="Consolas" panose="020B0609020204030204" pitchFamily="49" charset="0"/>
              </a:rPr>
              <a:t>run_start</a:t>
            </a:r>
            <a:r>
              <a:rPr sz="1600" dirty="0">
                <a:latin typeface="Consolas" panose="020B0609020204030204" pitchFamily="49" charset="0"/>
              </a:rPr>
              <a:t> &lt; GRID_SIZE: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var gem0: Gem = grid[</a:t>
            </a:r>
            <a:r>
              <a:rPr sz="1600" dirty="0" err="1">
                <a:latin typeface="Consolas" panose="020B0609020204030204" pitchFamily="49" charset="0"/>
              </a:rPr>
              <a:t>run_start</a:t>
            </a:r>
            <a:r>
              <a:rPr sz="1600" dirty="0">
                <a:latin typeface="Consolas" panose="020B0609020204030204" pitchFamily="49" charset="0"/>
              </a:rPr>
              <a:t>][row] as Gem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if gem0 == null: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	</a:t>
            </a:r>
            <a:r>
              <a:rPr sz="1600" dirty="0" err="1">
                <a:latin typeface="Consolas" panose="020B0609020204030204" pitchFamily="49" charset="0"/>
              </a:rPr>
              <a:t>run_start</a:t>
            </a:r>
            <a:r>
              <a:rPr sz="1600" dirty="0">
                <a:latin typeface="Consolas" panose="020B0609020204030204" pitchFamily="49" charset="0"/>
              </a:rPr>
              <a:t> += 1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	continue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var </a:t>
            </a:r>
            <a:r>
              <a:rPr sz="1600" dirty="0" err="1">
                <a:latin typeface="Consolas" panose="020B0609020204030204" pitchFamily="49" charset="0"/>
              </a:rPr>
              <a:t>run_type</a:t>
            </a:r>
            <a:r>
              <a:rPr sz="1600" dirty="0">
                <a:latin typeface="Consolas" panose="020B0609020204030204" pitchFamily="49" charset="0"/>
              </a:rPr>
              <a:t>: int = gem0.type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var </a:t>
            </a:r>
            <a:r>
              <a:rPr sz="1600" dirty="0" err="1">
                <a:latin typeface="Consolas" panose="020B0609020204030204" pitchFamily="49" charset="0"/>
              </a:rPr>
              <a:t>run_end</a:t>
            </a:r>
            <a:r>
              <a:rPr sz="1600" dirty="0">
                <a:latin typeface="Consolas" panose="020B0609020204030204" pitchFamily="49" charset="0"/>
              </a:rPr>
              <a:t> := </a:t>
            </a:r>
            <a:r>
              <a:rPr sz="1600" dirty="0" err="1">
                <a:latin typeface="Consolas" panose="020B0609020204030204" pitchFamily="49" charset="0"/>
              </a:rPr>
              <a:t>run_start</a:t>
            </a:r>
            <a:r>
              <a:rPr sz="1600" dirty="0">
                <a:latin typeface="Consolas" panose="020B0609020204030204" pitchFamily="49" charset="0"/>
              </a:rPr>
              <a:t> + 1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while </a:t>
            </a:r>
            <a:r>
              <a:rPr sz="1600" dirty="0" err="1">
                <a:latin typeface="Consolas" panose="020B0609020204030204" pitchFamily="49" charset="0"/>
              </a:rPr>
              <a:t>run_end</a:t>
            </a:r>
            <a:r>
              <a:rPr sz="1600" dirty="0">
                <a:latin typeface="Consolas" panose="020B0609020204030204" pitchFamily="49" charset="0"/>
              </a:rPr>
              <a:t> &lt; GRID_SIZE: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	var g: Gem = grid[</a:t>
            </a:r>
            <a:r>
              <a:rPr sz="1600" dirty="0" err="1">
                <a:latin typeface="Consolas" panose="020B0609020204030204" pitchFamily="49" charset="0"/>
              </a:rPr>
              <a:t>run_end</a:t>
            </a:r>
            <a:r>
              <a:rPr sz="1600" dirty="0">
                <a:latin typeface="Consolas" panose="020B0609020204030204" pitchFamily="49" charset="0"/>
              </a:rPr>
              <a:t>][row] as Gem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	if g == null or </a:t>
            </a:r>
            <a:r>
              <a:rPr sz="1600" dirty="0" err="1">
                <a:latin typeface="Consolas" panose="020B0609020204030204" pitchFamily="49" charset="0"/>
              </a:rPr>
              <a:t>g.type</a:t>
            </a:r>
            <a:r>
              <a:rPr sz="1600" dirty="0">
                <a:latin typeface="Consolas" panose="020B0609020204030204" pitchFamily="49" charset="0"/>
              </a:rPr>
              <a:t> != </a:t>
            </a:r>
            <a:r>
              <a:rPr sz="1600" dirty="0" err="1">
                <a:latin typeface="Consolas" panose="020B0609020204030204" pitchFamily="49" charset="0"/>
              </a:rPr>
              <a:t>run_type</a:t>
            </a:r>
            <a:r>
              <a:rPr sz="16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		break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	</a:t>
            </a:r>
            <a:r>
              <a:rPr sz="1600" dirty="0" err="1">
                <a:latin typeface="Consolas" panose="020B0609020204030204" pitchFamily="49" charset="0"/>
              </a:rPr>
              <a:t>run_end</a:t>
            </a:r>
            <a:r>
              <a:rPr sz="1600" dirty="0">
                <a:latin typeface="Consolas" panose="020B0609020204030204" pitchFamily="49" charset="0"/>
              </a:rPr>
              <a:t> += 1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if </a:t>
            </a:r>
            <a:r>
              <a:rPr sz="1600" dirty="0" err="1">
                <a:latin typeface="Consolas" panose="020B0609020204030204" pitchFamily="49" charset="0"/>
              </a:rPr>
              <a:t>run_end</a:t>
            </a:r>
            <a:r>
              <a:rPr sz="1600" dirty="0">
                <a:latin typeface="Consolas" panose="020B0609020204030204" pitchFamily="49" charset="0"/>
              </a:rPr>
              <a:t> - </a:t>
            </a:r>
            <a:r>
              <a:rPr sz="1600" dirty="0" err="1">
                <a:latin typeface="Consolas" panose="020B0609020204030204" pitchFamily="49" charset="0"/>
              </a:rPr>
              <a:t>run_start</a:t>
            </a:r>
            <a:r>
              <a:rPr sz="1600" dirty="0">
                <a:latin typeface="Consolas" panose="020B0609020204030204" pitchFamily="49" charset="0"/>
              </a:rPr>
              <a:t> &gt;= 3: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	pass  # </a:t>
            </a:r>
            <a:r>
              <a:rPr sz="1600" dirty="0" err="1">
                <a:latin typeface="Consolas" panose="020B0609020204030204" pitchFamily="49" charset="0"/>
              </a:rPr>
              <a:t>收组见附件（完整版</a:t>
            </a:r>
            <a:r>
              <a:rPr sz="1600" dirty="0">
                <a:latin typeface="Consolas" panose="020B0609020204030204" pitchFamily="49" charset="0"/>
              </a:rPr>
              <a:t> L2-完整代码.txt）</a:t>
            </a:r>
          </a:p>
          <a:p>
            <a:pPr marL="0" indent="0">
              <a:spcBef>
                <a:spcPts val="400"/>
              </a:spcBef>
              <a:buNone/>
            </a:pPr>
            <a:r>
              <a:rPr sz="1600" dirty="0">
                <a:latin typeface="Consolas" panose="020B0609020204030204" pitchFamily="49" charset="0"/>
              </a:rPr>
              <a:t>			</a:t>
            </a:r>
            <a:r>
              <a:rPr sz="1600" dirty="0" err="1">
                <a:latin typeface="Consolas" panose="020B0609020204030204" pitchFamily="49" charset="0"/>
              </a:rPr>
              <a:t>run_start</a:t>
            </a:r>
            <a:r>
              <a:rPr sz="1600" dirty="0">
                <a:latin typeface="Consolas" panose="020B0609020204030204" pitchFamily="49" charset="0"/>
              </a:rPr>
              <a:t> = </a:t>
            </a:r>
            <a:r>
              <a:rPr sz="1600" dirty="0" err="1">
                <a:latin typeface="Consolas" panose="020B0609020204030204" pitchFamily="49" charset="0"/>
              </a:rPr>
              <a:t>run_end</a:t>
            </a:r>
            <a:endParaRPr sz="16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DAFDBE-D359-4980-8010-23CCCB2C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回到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board.gd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开始为游戏添加灵魂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（横向）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233097-4868-3115-664A-36184317B20B}"/>
              </a:ext>
            </a:extLst>
          </p:cNvPr>
          <p:cNvSpPr/>
          <p:nvPr/>
        </p:nvSpPr>
        <p:spPr>
          <a:xfrm>
            <a:off x="262372" y="1368847"/>
            <a:ext cx="8399847" cy="541541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667429-3A83-F57F-4838-E9B1BC2DCF19}"/>
              </a:ext>
            </a:extLst>
          </p:cNvPr>
          <p:cNvSpPr txBox="1"/>
          <p:nvPr/>
        </p:nvSpPr>
        <p:spPr>
          <a:xfrm>
            <a:off x="8662219" y="1368847"/>
            <a:ext cx="326740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run_start（起点）</a:t>
            </a:r>
            <a:endParaRPr lang="en-US" altLang="zh-CN" sz="2000" dirty="0"/>
          </a:p>
          <a:p>
            <a:r>
              <a:rPr lang="zh-CN" altLang="zh-CN" sz="2000" dirty="0"/>
              <a:t>run_end（终点，不含</a:t>
            </a:r>
            <a:r>
              <a:rPr lang="zh-CN" altLang="en-US" sz="2000" dirty="0"/>
              <a:t>）</a:t>
            </a:r>
            <a:r>
              <a:rPr lang="zh-CN" altLang="zh-CN" sz="2000" dirty="0"/>
              <a:t> </a:t>
            </a:r>
            <a:endParaRPr lang="en-US" altLang="zh-CN" sz="2000" dirty="0"/>
          </a:p>
          <a:p>
            <a:r>
              <a:rPr lang="zh-CN" altLang="zh-CN" sz="2000" dirty="0"/>
              <a:t>run_type（颜色）/ 长度 = run_end - run_start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因为课件上放不下完整代码，故进行关键逻辑提炼，完整代码可以看附件内容，放心，看懂就行，不着急写这样的代码</a:t>
            </a:r>
            <a:r>
              <a:rPr lang="en-US" altLang="zh-CN" sz="2000" dirty="0"/>
              <a:t>~</a:t>
            </a:r>
            <a:endParaRPr lang="zh-CN" altLang="zh-CN" sz="2000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6FACD3C-5CF1-D103-539A-0EBA472AFAB5}"/>
              </a:ext>
            </a:extLst>
          </p:cNvPr>
          <p:cNvCxnSpPr>
            <a:cxnSpLocks/>
          </p:cNvCxnSpPr>
          <p:nvPr/>
        </p:nvCxnSpPr>
        <p:spPr>
          <a:xfrm>
            <a:off x="1936658" y="2472814"/>
            <a:ext cx="247281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8AC7BEE-2E0A-0A6C-6844-284A430FBCBA}"/>
              </a:ext>
            </a:extLst>
          </p:cNvPr>
          <p:cNvCxnSpPr>
            <a:cxnSpLocks/>
          </p:cNvCxnSpPr>
          <p:nvPr/>
        </p:nvCxnSpPr>
        <p:spPr>
          <a:xfrm>
            <a:off x="2531123" y="4076552"/>
            <a:ext cx="417871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B9672A-3735-5C85-91AE-9AF8DA3FA467}"/>
              </a:ext>
            </a:extLst>
          </p:cNvPr>
          <p:cNvCxnSpPr>
            <a:cxnSpLocks/>
          </p:cNvCxnSpPr>
          <p:nvPr/>
        </p:nvCxnSpPr>
        <p:spPr>
          <a:xfrm>
            <a:off x="2543800" y="4360607"/>
            <a:ext cx="394273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585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7117663-81DE-20D4-F0F3-7A4AFE9C3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代码</a:t>
            </a:r>
            <a:r>
              <a:rPr lang="zh-CN" altLang="en-US" dirty="0"/>
              <a:t>基本</a:t>
            </a:r>
            <a:r>
              <a:rPr lang="zh-CN" altLang="zh-CN" dirty="0"/>
              <a:t>一样，只是把 row/col 换一下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zh-CN" sz="2400" dirty="0"/>
              <a:t>横向：for row → grid[run_start][row]    ← 固定行，扫列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zh-CN" sz="2400" dirty="0"/>
              <a:t>纵向：for col → grid[col][run_start]    ← 固定列，扫行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这页一笔带过，不过接下来要处理一个棘手的</a:t>
            </a:r>
            <a:r>
              <a:rPr lang="en-US" altLang="zh-CN" dirty="0"/>
              <a:t>bug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C00000"/>
                </a:solidFill>
              </a:rPr>
              <a:t>L</a:t>
            </a:r>
            <a:r>
              <a:rPr lang="zh-CN" altLang="en-US" dirty="0">
                <a:solidFill>
                  <a:srgbClr val="C00000"/>
                </a:solidFill>
              </a:rPr>
              <a:t>形去重</a:t>
            </a:r>
            <a:endParaRPr lang="zh-CN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B6596FE-99E6-1F98-01C9-AA81746AE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将横向换为纵向</a:t>
            </a:r>
          </a:p>
        </p:txBody>
      </p:sp>
    </p:spTree>
    <p:extLst>
      <p:ext uri="{BB962C8B-B14F-4D97-AF65-F5344CB8AC3E}">
        <p14:creationId xmlns:p14="http://schemas.microsoft.com/office/powerpoint/2010/main" val="304042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D7B5DA7-C5C5-12E4-9CAE-AB577C980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242" y="1543743"/>
            <a:ext cx="8290623" cy="29811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err="1"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</a:rPr>
              <a:t> _</a:t>
            </a:r>
            <a:r>
              <a:rPr lang="en-US" altLang="zh-CN" sz="2400" dirty="0" err="1">
                <a:latin typeface="Consolas" panose="020B0609020204030204" pitchFamily="49" charset="0"/>
              </a:rPr>
              <a:t>add_unique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arr</a:t>
            </a:r>
            <a:r>
              <a:rPr lang="en-US" altLang="zh-CN" sz="2400" dirty="0">
                <a:latin typeface="Consolas" panose="020B0609020204030204" pitchFamily="49" charset="0"/>
              </a:rPr>
              <a:t>: Array, gem: Gem) -&gt; void: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if gem == null: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return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if </a:t>
            </a:r>
            <a:r>
              <a:rPr lang="en-US" altLang="zh-CN" sz="2400" dirty="0" err="1">
                <a:latin typeface="Consolas" panose="020B0609020204030204" pitchFamily="49" charset="0"/>
              </a:rPr>
              <a:t>arr.has</a:t>
            </a:r>
            <a:r>
              <a:rPr lang="en-US" altLang="zh-CN" sz="2400" dirty="0">
                <a:latin typeface="Consolas" panose="020B0609020204030204" pitchFamily="49" charset="0"/>
              </a:rPr>
              <a:t>(gem):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return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arr.append</a:t>
            </a:r>
            <a:r>
              <a:rPr lang="en-US" altLang="zh-CN" sz="2400" dirty="0">
                <a:latin typeface="Consolas" panose="020B0609020204030204" pitchFamily="49" charset="0"/>
              </a:rPr>
              <a:t>(gem)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D80F37-3056-7501-9FE6-82CA2796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一颗宝石不能算两次（L 形陷阱）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B4C873-40DA-DD35-91CC-E0D140EC2780}"/>
              </a:ext>
            </a:extLst>
          </p:cNvPr>
          <p:cNvSpPr/>
          <p:nvPr/>
        </p:nvSpPr>
        <p:spPr>
          <a:xfrm>
            <a:off x="432619" y="1543742"/>
            <a:ext cx="8426245" cy="298118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DA27F4-5EFC-35A9-1368-C1B1D885FBEE}"/>
              </a:ext>
            </a:extLst>
          </p:cNvPr>
          <p:cNvSpPr txBox="1"/>
          <p:nvPr/>
        </p:nvSpPr>
        <p:spPr>
          <a:xfrm>
            <a:off x="4247535" y="2526890"/>
            <a:ext cx="442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请将原有的 </a:t>
            </a:r>
            <a:r>
              <a:rPr lang="en-US" altLang="zh-CN" dirty="0">
                <a:solidFill>
                  <a:srgbClr val="C00000"/>
                </a:solidFill>
              </a:rPr>
              <a:t>_</a:t>
            </a:r>
            <a:r>
              <a:rPr lang="en-US" altLang="zh-CN" dirty="0" err="1">
                <a:solidFill>
                  <a:srgbClr val="C00000"/>
                </a:solidFill>
              </a:rPr>
              <a:t>add_unique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替换为框中代码：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D33A17-5780-33A9-EA5E-F9FF1B58879F}"/>
              </a:ext>
            </a:extLst>
          </p:cNvPr>
          <p:cNvSpPr txBox="1"/>
          <p:nvPr/>
        </p:nvSpPr>
        <p:spPr>
          <a:xfrm>
            <a:off x="432619" y="4723240"/>
            <a:ext cx="110503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solidFill>
                  <a:srgbClr val="C00000"/>
                </a:solidFill>
              </a:rPr>
              <a:t>L 形陷阱</a:t>
            </a:r>
            <a:r>
              <a:rPr lang="zh-CN" altLang="zh-CN" sz="2400" b="1" dirty="0"/>
              <a:t>（本课最容易漏的 bug）</a:t>
            </a:r>
            <a:r>
              <a:rPr lang="zh-CN" altLang="zh-CN" sz="2400" dirty="0"/>
              <a:t>：横扫发现 L 的横臂、纵扫发现 L 的竖臂——</a:t>
            </a:r>
            <a:r>
              <a:rPr lang="zh-CN" altLang="zh-CN" sz="2400" b="1" dirty="0"/>
              <a:t>中间那颗被找到两次</a:t>
            </a:r>
            <a:r>
              <a:rPr lang="zh-CN" altLang="zh-CN" sz="2400" dirty="0"/>
              <a:t>，不处理会消除两次、计分翻倍</a:t>
            </a:r>
          </a:p>
          <a:p>
            <a:r>
              <a:rPr lang="zh-CN" altLang="zh-CN" sz="2400" dirty="0"/>
              <a:t>_add_unique = “</a:t>
            </a:r>
            <a:r>
              <a:rPr lang="zh-CN" altLang="zh-CN" sz="2400" dirty="0">
                <a:solidFill>
                  <a:srgbClr val="C00000"/>
                </a:solidFill>
              </a:rPr>
              <a:t>收过就跳过</a:t>
            </a:r>
            <a:r>
              <a:rPr lang="zh-CN" altLang="zh-CN" sz="2400" dirty="0"/>
              <a:t>”（arr.has(gem) 检查）——保证每颗宝石在结果</a:t>
            </a:r>
            <a:r>
              <a:rPr lang="zh-CN" altLang="en-US" sz="2400" b="1" dirty="0"/>
              <a:t>里</a:t>
            </a:r>
            <a:r>
              <a:rPr lang="zh-CN" altLang="zh-CN" sz="2400" b="1" dirty="0"/>
              <a:t>只出现一次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86788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2E24CCD-CE18-E201-BFA6-F22C7CE7F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739" y="1556206"/>
            <a:ext cx="8320118" cy="31396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find_matches</a:t>
            </a:r>
            <a:r>
              <a:rPr lang="en-US" altLang="zh-CN" sz="2000" dirty="0">
                <a:latin typeface="Consolas" panose="020B0609020204030204" pitchFamily="49" charset="0"/>
              </a:rPr>
              <a:t>() -&gt; Array: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var matched: Array = []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var groups := </a:t>
            </a:r>
            <a:r>
              <a:rPr lang="en-US" altLang="zh-CN" sz="2000" dirty="0" err="1">
                <a:latin typeface="Consolas" panose="020B0609020204030204" pitchFamily="49" charset="0"/>
              </a:rPr>
              <a:t>find_match_groups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for group in groups: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for gem in group: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_</a:t>
            </a:r>
            <a:r>
              <a:rPr lang="en-US" altLang="zh-CN" sz="2000" dirty="0" err="1">
                <a:latin typeface="Consolas" panose="020B0609020204030204" pitchFamily="49" charset="0"/>
              </a:rPr>
              <a:t>add_unique</a:t>
            </a:r>
            <a:r>
              <a:rPr lang="en-US" altLang="zh-CN" sz="2000" dirty="0">
                <a:latin typeface="Consolas" panose="020B0609020204030204" pitchFamily="49" charset="0"/>
              </a:rPr>
              <a:t>(matched, gem as Gem)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return matched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D95040B-44C5-1FD3-A37C-88F2E7CD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修改原有的 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find_matches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786BD3-CF06-D748-4EAD-379B6D84ACD2}"/>
              </a:ext>
            </a:extLst>
          </p:cNvPr>
          <p:cNvSpPr/>
          <p:nvPr/>
        </p:nvSpPr>
        <p:spPr>
          <a:xfrm>
            <a:off x="597739" y="1535707"/>
            <a:ext cx="8426245" cy="298118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12D408-597C-E901-E881-F7580A8C3801}"/>
              </a:ext>
            </a:extLst>
          </p:cNvPr>
          <p:cNvSpPr txBox="1"/>
          <p:nvPr/>
        </p:nvSpPr>
        <p:spPr>
          <a:xfrm>
            <a:off x="98323" y="4537387"/>
            <a:ext cx="117495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find_match_groups 返回的是"一组一组"</a:t>
            </a:r>
            <a:r>
              <a:rPr lang="zh-CN" altLang="zh-CN" sz="2000" b="1" dirty="0"/>
              <a:t>（每个组是一个数组）——但消除/计分需要的是</a:t>
            </a:r>
            <a:r>
              <a:rPr lang="zh-CN" altLang="zh-CN" sz="2000" dirty="0"/>
              <a:t>"一颗一颗"的名单</a:t>
            </a:r>
          </a:p>
          <a:p>
            <a:r>
              <a:rPr lang="zh-CN" altLang="zh-CN" sz="2000" dirty="0"/>
              <a:t>find_matches = 摊平：遍历每个组，把宝石一颗颗收进一个大数组</a:t>
            </a:r>
          </a:p>
          <a:p>
            <a:r>
              <a:rPr lang="zh-CN" altLang="zh-CN" sz="2000" b="1" dirty="0"/>
              <a:t>为什么收的时候要过 _add_unique？</a:t>
            </a:r>
            <a:r>
              <a:rPr lang="zh-CN" altLang="zh-CN" sz="2000" dirty="0"/>
              <a:t>——同一颗宝石可能同时在横组和竖组里，直接收会重复</a:t>
            </a:r>
            <a:r>
              <a:rPr lang="zh-CN" altLang="zh-CN" sz="2000" dirty="0">
                <a:solidFill>
                  <a:srgbClr val="C00000"/>
                </a:solidFill>
              </a:rPr>
              <a:t>L 形陷阱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zh-CN" altLang="zh-CN" sz="2000" b="1" dirty="0">
                <a:solidFill>
                  <a:schemeClr val="accent6"/>
                </a:solidFill>
              </a:rPr>
              <a:t>简化思想</a:t>
            </a:r>
            <a:r>
              <a:rPr lang="zh-CN" altLang="zh-CN" sz="2000" dirty="0"/>
              <a:t>：</a:t>
            </a:r>
            <a:r>
              <a:rPr lang="zh-CN" altLang="zh-CN" sz="2000" dirty="0">
                <a:solidFill>
                  <a:srgbClr val="C00000"/>
                </a:solidFill>
              </a:rPr>
              <a:t>删掉旧版、粘上新版</a:t>
            </a:r>
            <a:r>
              <a:rPr lang="zh-CN" altLang="en-US" sz="2000" dirty="0"/>
              <a:t>。</a:t>
            </a:r>
            <a:r>
              <a:rPr lang="zh-CN" altLang="zh-CN" sz="2000" dirty="0"/>
              <a:t>find_matches() 的</a:t>
            </a:r>
            <a:r>
              <a:rPr lang="zh-CN" altLang="zh-CN" sz="2000" b="1" dirty="0"/>
              <a:t>接口没变</a:t>
            </a:r>
            <a:r>
              <a:rPr lang="zh-CN" altLang="zh-CN" sz="2000" dirty="0"/>
              <a:t>（函数名 + 返回 `Array`）——L1 里调用它的 ensure_no_initial_matches </a:t>
            </a:r>
            <a:r>
              <a:rPr lang="zh-CN" altLang="zh-CN" sz="2000" b="1" dirty="0"/>
              <a:t>一行都不用改</a:t>
            </a:r>
            <a:r>
              <a:rPr lang="zh-CN" altLang="zh-CN" sz="2000" dirty="0"/>
              <a:t>，自动用上新版。这就是「接口稳定，实现可换」：调用方只认接口，内部随便重构都不怕。改完 F5 棋盘能正常生成 = 替换成功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3300D1-A9D7-B6AF-50A9-373783FF9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6422" y="2109412"/>
            <a:ext cx="1348857" cy="225571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6923BDA-E1EF-ACE3-11C1-EF1178ADC8E8}"/>
              </a:ext>
            </a:extLst>
          </p:cNvPr>
          <p:cNvSpPr txBox="1"/>
          <p:nvPr/>
        </p:nvSpPr>
        <p:spPr>
          <a:xfrm>
            <a:off x="9429133" y="854764"/>
            <a:ext cx="2143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Tips</a:t>
            </a:r>
            <a:r>
              <a:rPr lang="zh-CN" altLang="en-US" dirty="0">
                <a:solidFill>
                  <a:schemeClr val="accent6"/>
                </a:solidFill>
              </a:rPr>
              <a:t>：你可以在脚本编辑界面左端以筛选方法，迅速定位你写的函数</a:t>
            </a:r>
          </a:p>
        </p:txBody>
      </p:sp>
    </p:spTree>
    <p:extLst>
      <p:ext uri="{BB962C8B-B14F-4D97-AF65-F5344CB8AC3E}">
        <p14:creationId xmlns:p14="http://schemas.microsoft.com/office/powerpoint/2010/main" val="17388692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6CD9783-28C6-3123-6221-D1F992EB6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1504335"/>
            <a:ext cx="10245213" cy="467262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_</a:t>
            </a:r>
            <a:r>
              <a:rPr lang="en-US" altLang="zh-CN" sz="2000" dirty="0" err="1">
                <a:latin typeface="Consolas" panose="020B0609020204030204" pitchFamily="49" charset="0"/>
              </a:rPr>
              <a:t>swap_grid_data</a:t>
            </a:r>
            <a:r>
              <a:rPr lang="en-US" altLang="zh-CN" sz="2000" dirty="0">
                <a:latin typeface="Consolas" panose="020B0609020204030204" pitchFamily="49" charset="0"/>
              </a:rPr>
              <a:t>(a: Gem, b: Gem) -&gt; void: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var </a:t>
            </a:r>
            <a:r>
              <a:rPr lang="en-US" altLang="zh-CN" sz="2000" dirty="0" err="1">
                <a:latin typeface="Consolas" panose="020B0609020204030204" pitchFamily="49" charset="0"/>
              </a:rPr>
              <a:t>pos_a</a:t>
            </a:r>
            <a:r>
              <a:rPr lang="en-US" altLang="zh-CN" sz="2000" dirty="0">
                <a:latin typeface="Consolas" panose="020B0609020204030204" pitchFamily="49" charset="0"/>
              </a:rPr>
              <a:t> := </a:t>
            </a:r>
            <a:r>
              <a:rPr lang="en-US" altLang="zh-CN" sz="2000" dirty="0" err="1">
                <a:latin typeface="Consolas" panose="020B0609020204030204" pitchFamily="49" charset="0"/>
              </a:rPr>
              <a:t>a.grid_pos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var </a:t>
            </a:r>
            <a:r>
              <a:rPr lang="en-US" altLang="zh-CN" sz="2000" dirty="0" err="1">
                <a:latin typeface="Consolas" panose="020B0609020204030204" pitchFamily="49" charset="0"/>
              </a:rPr>
              <a:t>pos_b</a:t>
            </a:r>
            <a:r>
              <a:rPr lang="en-US" altLang="zh-CN" sz="2000" dirty="0">
                <a:latin typeface="Consolas" panose="020B0609020204030204" pitchFamily="49" charset="0"/>
              </a:rPr>
              <a:t> := </a:t>
            </a:r>
            <a:r>
              <a:rPr lang="en-US" altLang="zh-CN" sz="2000" dirty="0" err="1">
                <a:latin typeface="Consolas" panose="020B0609020204030204" pitchFamily="49" charset="0"/>
              </a:rPr>
              <a:t>b.grid_pos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grid[</a:t>
            </a:r>
            <a:r>
              <a:rPr lang="en-US" altLang="zh-CN" sz="2000" dirty="0" err="1">
                <a:latin typeface="Consolas" panose="020B0609020204030204" pitchFamily="49" charset="0"/>
              </a:rPr>
              <a:t>pos_a.x</a:t>
            </a:r>
            <a:r>
              <a:rPr lang="en-US" altLang="zh-CN" sz="2000" dirty="0">
                <a:latin typeface="Consolas" panose="020B0609020204030204" pitchFamily="49" charset="0"/>
              </a:rPr>
              <a:t>][</a:t>
            </a:r>
            <a:r>
              <a:rPr lang="en-US" altLang="zh-CN" sz="2000" dirty="0" err="1">
                <a:latin typeface="Consolas" panose="020B0609020204030204" pitchFamily="49" charset="0"/>
              </a:rPr>
              <a:t>pos_a.y</a:t>
            </a:r>
            <a:r>
              <a:rPr lang="en-US" altLang="zh-CN" sz="2000" dirty="0">
                <a:latin typeface="Consolas" panose="020B0609020204030204" pitchFamily="49" charset="0"/>
              </a:rPr>
              <a:t>] = b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grid[</a:t>
            </a:r>
            <a:r>
              <a:rPr lang="en-US" altLang="zh-CN" sz="2000" dirty="0" err="1">
                <a:latin typeface="Consolas" panose="020B0609020204030204" pitchFamily="49" charset="0"/>
              </a:rPr>
              <a:t>pos_b.x</a:t>
            </a:r>
            <a:r>
              <a:rPr lang="en-US" altLang="zh-CN" sz="2000" dirty="0">
                <a:latin typeface="Consolas" panose="020B0609020204030204" pitchFamily="49" charset="0"/>
              </a:rPr>
              <a:t>][</a:t>
            </a:r>
            <a:r>
              <a:rPr lang="en-US" altLang="zh-CN" sz="2000" dirty="0" err="1">
                <a:latin typeface="Consolas" panose="020B0609020204030204" pitchFamily="49" charset="0"/>
              </a:rPr>
              <a:t>pos_b.y</a:t>
            </a:r>
            <a:r>
              <a:rPr lang="en-US" altLang="zh-CN" sz="2000" dirty="0">
                <a:latin typeface="Consolas" panose="020B0609020204030204" pitchFamily="49" charset="0"/>
              </a:rPr>
              <a:t>] = a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a.grid_pos</a:t>
            </a:r>
            <a:r>
              <a:rPr lang="en-US" altLang="zh-CN" sz="2000" dirty="0"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latin typeface="Consolas" panose="020B0609020204030204" pitchFamily="49" charset="0"/>
              </a:rPr>
              <a:t>pos_b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b.grid_pos</a:t>
            </a:r>
            <a:r>
              <a:rPr lang="en-US" altLang="zh-CN" sz="2000" dirty="0"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latin typeface="Consolas" panose="020B0609020204030204" pitchFamily="49" charset="0"/>
              </a:rPr>
              <a:t>pos_a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_</a:t>
            </a:r>
            <a:r>
              <a:rPr lang="en-US" altLang="zh-CN" sz="2000" dirty="0" err="1">
                <a:latin typeface="Consolas" panose="020B0609020204030204" pitchFamily="49" charset="0"/>
              </a:rPr>
              <a:t>animate_swap_pair</a:t>
            </a:r>
            <a:r>
              <a:rPr lang="en-US" altLang="zh-CN" sz="2000" dirty="0">
                <a:latin typeface="Consolas" panose="020B0609020204030204" pitchFamily="49" charset="0"/>
              </a:rPr>
              <a:t>(a: Gem, b: Gem) -&gt; void: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var tween := </a:t>
            </a:r>
            <a:r>
              <a:rPr lang="en-US" altLang="zh-CN" sz="2000" dirty="0" err="1">
                <a:latin typeface="Consolas" panose="020B0609020204030204" pitchFamily="49" charset="0"/>
              </a:rPr>
              <a:t>create_tween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tween.set_parallel</a:t>
            </a:r>
            <a:r>
              <a:rPr lang="en-US" altLang="zh-CN" sz="2000" dirty="0">
                <a:latin typeface="Consolas" panose="020B0609020204030204" pitchFamily="49" charset="0"/>
              </a:rPr>
              <a:t>(true)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tween.tween_property</a:t>
            </a:r>
            <a:r>
              <a:rPr lang="en-US" altLang="zh-CN" sz="2000" dirty="0">
                <a:latin typeface="Consolas" panose="020B0609020204030204" pitchFamily="49" charset="0"/>
              </a:rPr>
              <a:t>(a, "position", </a:t>
            </a:r>
            <a:r>
              <a:rPr lang="en-US" altLang="zh-CN" sz="2000" dirty="0" err="1">
                <a:latin typeface="Consolas" panose="020B0609020204030204" pitchFamily="49" charset="0"/>
              </a:rPr>
              <a:t>grid_to_world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a.grid_pos</a:t>
            </a:r>
            <a:r>
              <a:rPr lang="en-US" altLang="zh-CN" sz="2000" dirty="0">
                <a:latin typeface="Consolas" panose="020B0609020204030204" pitchFamily="49" charset="0"/>
              </a:rPr>
              <a:t>), 0.15)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tween.tween_property</a:t>
            </a:r>
            <a:r>
              <a:rPr lang="en-US" altLang="zh-CN" sz="2000" dirty="0">
                <a:latin typeface="Consolas" panose="020B0609020204030204" pitchFamily="49" charset="0"/>
              </a:rPr>
              <a:t>(b, "position", </a:t>
            </a:r>
            <a:r>
              <a:rPr lang="en-US" altLang="zh-CN" sz="2000" dirty="0" err="1">
                <a:latin typeface="Consolas" panose="020B0609020204030204" pitchFamily="49" charset="0"/>
              </a:rPr>
              <a:t>grid_to_world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b.grid_pos</a:t>
            </a:r>
            <a:r>
              <a:rPr lang="en-US" altLang="zh-CN" sz="2000" dirty="0">
                <a:latin typeface="Consolas" panose="020B0609020204030204" pitchFamily="49" charset="0"/>
              </a:rPr>
              <a:t>), 0.15)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await </a:t>
            </a:r>
            <a:r>
              <a:rPr lang="en-US" altLang="zh-CN" sz="2000" dirty="0" err="1">
                <a:latin typeface="Consolas" panose="020B0609020204030204" pitchFamily="49" charset="0"/>
              </a:rPr>
              <a:t>tween.finished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E60BC2B-4C6E-7F33-AA2C-A85E5303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数据与表现分离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473A18-3A64-D8E8-0457-6FAC30492638}"/>
              </a:ext>
            </a:extLst>
          </p:cNvPr>
          <p:cNvSpPr/>
          <p:nvPr/>
        </p:nvSpPr>
        <p:spPr>
          <a:xfrm>
            <a:off x="262372" y="1504336"/>
            <a:ext cx="10245212" cy="449890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2F3F29-795F-63FD-E22E-E93521D62D32}"/>
              </a:ext>
            </a:extLst>
          </p:cNvPr>
          <p:cNvSpPr txBox="1"/>
          <p:nvPr/>
        </p:nvSpPr>
        <p:spPr>
          <a:xfrm>
            <a:off x="262372" y="6003236"/>
            <a:ext cx="11220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>
                <a:solidFill>
                  <a:schemeClr val="accent6"/>
                </a:solidFill>
              </a:rPr>
              <a:t>数据与表现分离（新思维）</a:t>
            </a:r>
            <a:r>
              <a:rPr lang="zh-CN" altLang="zh-CN" sz="2000" dirty="0"/>
              <a:t>：_swap_grid_data 先换“</a:t>
            </a:r>
            <a:r>
              <a:rPr lang="zh-CN" altLang="en-US" sz="2000" dirty="0"/>
              <a:t>实际</a:t>
            </a:r>
            <a:r>
              <a:rPr lang="zh-CN" altLang="zh-CN" sz="2000" dirty="0"/>
              <a:t>"（grid 数组 + 每颗宝石记录的 grid_pos），_animate_swap_pair 后播"画面"（屏幕移动）——弹回时也是先换数据再播动画</a:t>
            </a:r>
          </a:p>
        </p:txBody>
      </p:sp>
    </p:spTree>
    <p:extLst>
      <p:ext uri="{BB962C8B-B14F-4D97-AF65-F5344CB8AC3E}">
        <p14:creationId xmlns:p14="http://schemas.microsoft.com/office/powerpoint/2010/main" val="655347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9FCFC0-422D-8381-2B1A-12A44CB74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584" y="1560154"/>
            <a:ext cx="5921048" cy="520444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 err="1">
                <a:latin typeface="Consolas" panose="020B0609020204030204" pitchFamily="49" charset="0"/>
              </a:rPr>
              <a:t>func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try_swap</a:t>
            </a:r>
            <a:r>
              <a:rPr lang="en-US" altLang="zh-CN" sz="1900" dirty="0">
                <a:latin typeface="Consolas" panose="020B0609020204030204" pitchFamily="49" charset="0"/>
              </a:rPr>
              <a:t>(a: Gem, b: Gem) -&gt; bool: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if a == null or b == null: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	return false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if not </a:t>
            </a:r>
            <a:r>
              <a:rPr lang="en-US" altLang="zh-CN" sz="1900" dirty="0" err="1">
                <a:latin typeface="Consolas" panose="020B0609020204030204" pitchFamily="49" charset="0"/>
              </a:rPr>
              <a:t>is_adjacent</a:t>
            </a:r>
            <a:r>
              <a:rPr lang="en-US" altLang="zh-CN" sz="1900" dirty="0">
                <a:latin typeface="Consolas" panose="020B0609020204030204" pitchFamily="49" charset="0"/>
              </a:rPr>
              <a:t>(a, b):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	return false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_</a:t>
            </a:r>
            <a:r>
              <a:rPr lang="en-US" altLang="zh-CN" sz="1900" dirty="0" err="1">
                <a:latin typeface="Consolas" panose="020B0609020204030204" pitchFamily="49" charset="0"/>
              </a:rPr>
              <a:t>swap_grid_data</a:t>
            </a:r>
            <a:r>
              <a:rPr lang="en-US" altLang="zh-CN" sz="1900" dirty="0">
                <a:latin typeface="Consolas" panose="020B0609020204030204" pitchFamily="49" charset="0"/>
              </a:rPr>
              <a:t>(a, b)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await _</a:t>
            </a:r>
            <a:r>
              <a:rPr lang="en-US" altLang="zh-CN" sz="1900" dirty="0" err="1">
                <a:latin typeface="Consolas" panose="020B0609020204030204" pitchFamily="49" charset="0"/>
              </a:rPr>
              <a:t>animate_swap_pair</a:t>
            </a:r>
            <a:r>
              <a:rPr lang="en-US" altLang="zh-CN" sz="1900" dirty="0">
                <a:latin typeface="Consolas" panose="020B0609020204030204" pitchFamily="49" charset="0"/>
              </a:rPr>
              <a:t>(a, b)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var matches := </a:t>
            </a:r>
            <a:r>
              <a:rPr lang="en-US" altLang="zh-CN" sz="1900" dirty="0" err="1">
                <a:latin typeface="Consolas" panose="020B0609020204030204" pitchFamily="49" charset="0"/>
              </a:rPr>
              <a:t>find_matches</a:t>
            </a:r>
            <a:r>
              <a:rPr lang="en-US" altLang="zh-CN" sz="19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if </a:t>
            </a:r>
            <a:r>
              <a:rPr lang="en-US" altLang="zh-CN" sz="1900" dirty="0" err="1">
                <a:latin typeface="Consolas" panose="020B0609020204030204" pitchFamily="49" charset="0"/>
              </a:rPr>
              <a:t>matches.is_empty</a:t>
            </a:r>
            <a:r>
              <a:rPr lang="en-US" altLang="zh-CN" sz="1900" dirty="0">
                <a:latin typeface="Consolas" panose="020B0609020204030204" pitchFamily="49" charset="0"/>
              </a:rPr>
              <a:t>():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	_</a:t>
            </a:r>
            <a:r>
              <a:rPr lang="en-US" altLang="zh-CN" sz="1900" dirty="0" err="1">
                <a:latin typeface="Consolas" panose="020B0609020204030204" pitchFamily="49" charset="0"/>
              </a:rPr>
              <a:t>swap_grid_data</a:t>
            </a:r>
            <a:r>
              <a:rPr lang="en-US" altLang="zh-CN" sz="1900" dirty="0">
                <a:latin typeface="Consolas" panose="020B0609020204030204" pitchFamily="49" charset="0"/>
              </a:rPr>
              <a:t>(a, b)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	await _</a:t>
            </a:r>
            <a:r>
              <a:rPr lang="en-US" altLang="zh-CN" sz="1900" dirty="0" err="1">
                <a:latin typeface="Consolas" panose="020B0609020204030204" pitchFamily="49" charset="0"/>
              </a:rPr>
              <a:t>animate_swap_pair</a:t>
            </a:r>
            <a:r>
              <a:rPr lang="en-US" altLang="zh-CN" sz="1900" dirty="0">
                <a:latin typeface="Consolas" panose="020B0609020204030204" pitchFamily="49" charset="0"/>
              </a:rPr>
              <a:t>(a, b)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	return false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return true</a:t>
            </a:r>
            <a:endParaRPr lang="zh-CN" altLang="en-US" sz="19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19F1A22-3246-2AC5-8FCF-A8A9E5AC7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最后组装：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board.gd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黑盒正式揭晓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73C8B8-6BBE-571E-5A52-DD6E7A925DB6}"/>
              </a:ext>
            </a:extLst>
          </p:cNvPr>
          <p:cNvSpPr/>
          <p:nvPr/>
        </p:nvSpPr>
        <p:spPr>
          <a:xfrm>
            <a:off x="489584" y="1504336"/>
            <a:ext cx="5921048" cy="526025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F23AEE-4C14-0F3B-73B3-EDF3560135F5}"/>
              </a:ext>
            </a:extLst>
          </p:cNvPr>
          <p:cNvSpPr txBox="1"/>
          <p:nvPr/>
        </p:nvSpPr>
        <p:spPr>
          <a:xfrm>
            <a:off x="6528619" y="1560154"/>
            <a:ext cx="507344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【伪代码】</a:t>
            </a:r>
            <a:endParaRPr lang="en-US" altLang="zh-CN" sz="2000" dirty="0"/>
          </a:p>
          <a:p>
            <a:r>
              <a:rPr lang="zh-CN" altLang="zh-CN" sz="2000" dirty="0"/>
              <a:t>尝试交换两颗宝石：</a:t>
            </a:r>
          </a:p>
          <a:p>
            <a:r>
              <a:rPr lang="zh-CN" altLang="zh-CN" sz="2000" dirty="0"/>
              <a:t>  ① 空 / 不相邻 → 直接拒绝（false）</a:t>
            </a:r>
          </a:p>
          <a:p>
            <a:r>
              <a:rPr lang="zh-CN" altLang="zh-CN" sz="2000" dirty="0"/>
              <a:t>  ② 交换数据 + 播放动画（J6 的内部件）</a:t>
            </a:r>
          </a:p>
          <a:p>
            <a:r>
              <a:rPr lang="zh-CN" altLang="zh-CN" sz="2000" dirty="0"/>
              <a:t>  ③ 用判定链检查（J2~J5）：有没有匹配？</a:t>
            </a:r>
          </a:p>
          <a:p>
            <a:r>
              <a:rPr lang="zh-CN" altLang="zh-CN" sz="2000" dirty="0"/>
              <a:t>     有 → 交换成立（true）</a:t>
            </a:r>
          </a:p>
          <a:p>
            <a:r>
              <a:rPr lang="zh-CN" altLang="zh-CN" sz="2000" dirty="0"/>
              <a:t>     没有 → 数据换回去 + 动画弹回（false）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zh-CN" sz="2000" b="1" dirty="0">
                <a:solidFill>
                  <a:schemeClr val="accent6"/>
                </a:solidFill>
              </a:rPr>
              <a:t>回滚套路</a:t>
            </a:r>
            <a:r>
              <a:rPr lang="zh-CN" altLang="zh-CN" sz="2000" b="1" dirty="0"/>
              <a:t>（游戏开发最常用思想）</a:t>
            </a:r>
            <a:r>
              <a:rPr lang="zh-CN" altLang="zh-CN" sz="2000" dirty="0"/>
              <a:t>：先做 → 检查 → 不行就回滚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zh-CN" sz="2000" dirty="0"/>
              <a:t>匹配只有交换后才可能产生，所以必须</a:t>
            </a:r>
            <a:r>
              <a:rPr lang="zh-CN" altLang="zh-CN" sz="2000" b="1" dirty="0"/>
              <a:t>先动手再验证</a:t>
            </a:r>
            <a:endParaRPr lang="zh-CN" altLang="zh-CN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18EFB5-5358-98FB-95DE-E423FE4DDE03}"/>
              </a:ext>
            </a:extLst>
          </p:cNvPr>
          <p:cNvSpPr txBox="1"/>
          <p:nvPr/>
        </p:nvSpPr>
        <p:spPr>
          <a:xfrm>
            <a:off x="818534" y="2554178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①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5B95D5AB-29FB-38CE-C159-3B2893CE1448}"/>
              </a:ext>
            </a:extLst>
          </p:cNvPr>
          <p:cNvSpPr/>
          <p:nvPr/>
        </p:nvSpPr>
        <p:spPr>
          <a:xfrm>
            <a:off x="1150375" y="1986116"/>
            <a:ext cx="275302" cy="1516750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C7F80EEB-9F3F-D482-04EC-1387F22FE70C}"/>
              </a:ext>
            </a:extLst>
          </p:cNvPr>
          <p:cNvSpPr/>
          <p:nvPr/>
        </p:nvSpPr>
        <p:spPr>
          <a:xfrm>
            <a:off x="1150373" y="3662517"/>
            <a:ext cx="275303" cy="46469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0B57C4-A713-C27C-9710-4830275BBE67}"/>
              </a:ext>
            </a:extLst>
          </p:cNvPr>
          <p:cNvSpPr txBox="1"/>
          <p:nvPr/>
        </p:nvSpPr>
        <p:spPr>
          <a:xfrm>
            <a:off x="818534" y="3699201"/>
            <a:ext cx="42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②</a:t>
            </a: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069059C3-16E4-5E65-7055-2A0FBBE0729A}"/>
              </a:ext>
            </a:extLst>
          </p:cNvPr>
          <p:cNvSpPr/>
          <p:nvPr/>
        </p:nvSpPr>
        <p:spPr>
          <a:xfrm>
            <a:off x="1165123" y="4286865"/>
            <a:ext cx="275303" cy="2063382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6C0B99-8672-6DA2-33C2-AE66E0613AB1}"/>
              </a:ext>
            </a:extLst>
          </p:cNvPr>
          <p:cNvSpPr txBox="1"/>
          <p:nvPr/>
        </p:nvSpPr>
        <p:spPr>
          <a:xfrm>
            <a:off x="833284" y="5113180"/>
            <a:ext cx="42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1579903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9B13D41-38BB-36D4-0B7A-31DFD97C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resolve_board</a:t>
            </a:r>
            <a:r>
              <a:rPr lang="en-US" altLang="zh-CN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	pass  # </a:t>
            </a:r>
            <a:r>
              <a:rPr lang="zh-CN" altLang="en-US" dirty="0">
                <a:latin typeface="Consolas" panose="020B0609020204030204" pitchFamily="49" charset="0"/>
              </a:rPr>
              <a:t>第 </a:t>
            </a:r>
            <a:r>
              <a:rPr lang="en-US" altLang="zh-CN" dirty="0">
                <a:latin typeface="Consolas" panose="020B0609020204030204" pitchFamily="49" charset="0"/>
              </a:rPr>
              <a:t>3 </a:t>
            </a:r>
            <a:r>
              <a:rPr lang="zh-CN" altLang="en-US" dirty="0">
                <a:latin typeface="Consolas" panose="020B0609020204030204" pitchFamily="49" charset="0"/>
              </a:rPr>
              <a:t>课实现：消除 → 下落 → 连锁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8B94FD7-084F-2DC5-83F3-39576AEA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下节课接口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7EB228-7477-B20D-F803-42E17C1D761D}"/>
              </a:ext>
            </a:extLst>
          </p:cNvPr>
          <p:cNvSpPr/>
          <p:nvPr/>
        </p:nvSpPr>
        <p:spPr>
          <a:xfrm>
            <a:off x="548577" y="1632156"/>
            <a:ext cx="8615087" cy="1435509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73F9F0-02D8-DD06-A3D9-760A5A47A3E7}"/>
              </a:ext>
            </a:extLst>
          </p:cNvPr>
          <p:cNvSpPr txBox="1"/>
          <p:nvPr/>
        </p:nvSpPr>
        <p:spPr>
          <a:xfrm>
            <a:off x="403123" y="3429000"/>
            <a:ext cx="11218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pass = 空函数体</a:t>
            </a:r>
            <a:r>
              <a:rPr lang="zh-CN" altLang="zh-CN" sz="2400" dirty="0"/>
              <a:t>（什么都不做）——不写会语法报错（函数体不能空）</a:t>
            </a:r>
          </a:p>
          <a:p>
            <a:r>
              <a:rPr lang="zh-CN" altLang="zh-CN" sz="2400" dirty="0"/>
              <a:t>为什么必须占位？——_do_swap 成功路径会 await 它，函数不存在 = 运行时报错 </a:t>
            </a:r>
            <a:r>
              <a:rPr lang="zh-CN" altLang="zh-CN" sz="2400" dirty="0">
                <a:solidFill>
                  <a:srgbClr val="FF0000"/>
                </a:solidFill>
              </a:rPr>
              <a:t>Nonexistent function</a:t>
            </a:r>
          </a:p>
          <a:p>
            <a:endParaRPr lang="en-US" altLang="zh-CN" sz="2400" dirty="0"/>
          </a:p>
          <a:p>
            <a:r>
              <a:rPr lang="zh-CN" altLang="zh-CN" sz="2400" dirty="0"/>
              <a:t>所以今天 F5：交换成功 = 两颗换位置（不消除）；交换失败 = 弹回——</a:t>
            </a:r>
            <a:r>
              <a:rPr lang="zh-CN" altLang="zh-CN" sz="2400" b="1" dirty="0"/>
              <a:t>都正常，不报错</a:t>
            </a:r>
            <a:endParaRPr lang="en-US" altLang="zh-CN" sz="2400" b="1" dirty="0"/>
          </a:p>
          <a:p>
            <a:r>
              <a:rPr lang="zh-CN" altLang="zh-CN" sz="2400" b="1" dirty="0"/>
              <a:t>消除 → 下落 → 连锁</a:t>
            </a:r>
            <a:r>
              <a:rPr lang="zh-CN" altLang="zh-CN" sz="2400" dirty="0"/>
              <a:t>自动转，全在第 3 课填这个函数</a:t>
            </a:r>
          </a:p>
        </p:txBody>
      </p:sp>
    </p:spTree>
    <p:extLst>
      <p:ext uri="{BB962C8B-B14F-4D97-AF65-F5344CB8AC3E}">
        <p14:creationId xmlns:p14="http://schemas.microsoft.com/office/powerpoint/2010/main" val="989879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AA0DD74-EE80-0173-D809-D7BB5F0F5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6" t="19505" r="21816" b="8414"/>
          <a:stretch>
            <a:fillRect/>
          </a:stretch>
        </p:blipFill>
        <p:spPr>
          <a:xfrm>
            <a:off x="7544288" y="2278278"/>
            <a:ext cx="3938721" cy="3773131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BAD10EDF-74CB-51BD-A8DD-9423CE3A7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达成成就：看我超级大陆（什）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2A156A-3ED4-66C1-8018-E2D26BD457AE}"/>
              </a:ext>
            </a:extLst>
          </p:cNvPr>
          <p:cNvSpPr txBox="1"/>
          <p:nvPr/>
        </p:nvSpPr>
        <p:spPr>
          <a:xfrm>
            <a:off x="806245" y="2782529"/>
            <a:ext cx="6233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恭喜，今日课程内容全部完毕，现在你可以任意交换宝石</a:t>
            </a:r>
            <a:r>
              <a:rPr lang="en-US" altLang="zh-CN" sz="2800" dirty="0"/>
              <a:t>~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27428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9EC1383-BA2A-874D-450E-25952E70A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3200" b="1" dirty="0"/>
              <a:t>交互层</a:t>
            </a:r>
            <a:r>
              <a:rPr lang="zh-CN" altLang="zh-CN" sz="3200" dirty="0"/>
              <a:t>：`_unhandled_input` → `_on_pointer_down` → 选中/交换（让棋盘响应你）</a:t>
            </a:r>
            <a:endParaRPr lang="en-US" altLang="zh-CN" sz="3200" dirty="0"/>
          </a:p>
          <a:p>
            <a:pPr marL="0" indent="0">
              <a:buNone/>
            </a:pPr>
            <a:endParaRPr lang="zh-CN" altLang="zh-CN" sz="3200" dirty="0"/>
          </a:p>
          <a:p>
            <a:pPr marL="0" indent="0">
              <a:buNone/>
            </a:pPr>
            <a:r>
              <a:rPr lang="zh-CN" altLang="zh-CN" sz="3200" b="1" dirty="0"/>
              <a:t>判定层</a:t>
            </a:r>
            <a:r>
              <a:rPr lang="zh-CN" altLang="zh-CN" sz="3200" dirty="0"/>
              <a:t>：`try_swap` → `find_matches` → `find_match_groups`（让棋盘会判断）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DDDC852-AFAE-00B2-B93A-E4AB374B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今日总结</a:t>
            </a:r>
          </a:p>
        </p:txBody>
      </p:sp>
    </p:spTree>
    <p:extLst>
      <p:ext uri="{BB962C8B-B14F-4D97-AF65-F5344CB8AC3E}">
        <p14:creationId xmlns:p14="http://schemas.microsoft.com/office/powerpoint/2010/main" val="247131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E4869B2-3B14-E882-D30A-A77DBD3E1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2966536"/>
            <a:ext cx="10740884" cy="121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7200" dirty="0"/>
              <a:t>谢谢大家！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58D45E-4BC8-8FCF-1548-A265D5B6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015393"/>
      </p:ext>
    </p:extLst>
  </p:cSld>
  <p:clrMapOvr>
    <a:masterClrMapping/>
  </p:clrMapOvr>
</p:sld>
</file>

<file path=ppt/theme/theme1.xml><?xml version="1.0" encoding="utf-8"?>
<a:theme xmlns:a="http://schemas.openxmlformats.org/drawingml/2006/main" name="InfoCo PPT模板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演示文稿1" id="{F96998C9-D3D4-074E-89A7-692BD15AF1A0}" vid="{5F379A9C-F887-0E43-8519-9C6CB54CE4F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InfoCo PPT模板</Template>
  <TotalTime>814</TotalTime>
  <Words>7168</Words>
  <Application>Microsoft Office PowerPoint</Application>
  <PresentationFormat>宽屏</PresentationFormat>
  <Paragraphs>372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Microsoft YaHei UI</vt:lpstr>
      <vt:lpstr>等线</vt:lpstr>
      <vt:lpstr>微软雅黑</vt:lpstr>
      <vt:lpstr>Arial</vt:lpstr>
      <vt:lpstr>Consolas</vt:lpstr>
      <vt:lpstr>Times New Roman</vt:lpstr>
      <vt:lpstr>InfoCo PPT模板</vt:lpstr>
      <vt:lpstr>Infoco*IGC 联合社课 游戏开发先导课</vt:lpstr>
      <vt:lpstr>欢迎回来，让我们先行回顾L1的知识：宝石的构成</vt:lpstr>
      <vt:lpstr>欢迎回来，让我们先行回顾L1的知识：生成棋盘</vt:lpstr>
      <vt:lpstr>L2 概要： 交互 和 判定</vt:lpstr>
      <vt:lpstr>交互层速览：结构伪代码</vt:lpstr>
      <vt:lpstr>反向操作：屏幕坐标 → 格子坐标</vt:lpstr>
      <vt:lpstr>顺着格子找宝石</vt:lpstr>
      <vt:lpstr>判断两个宝石是否相连：曼哈顿距离</vt:lpstr>
      <vt:lpstr>回到 gem.gd 为半透明遮罩实现添加逻辑</vt:lpstr>
      <vt:lpstr>准备动作：main.gd</vt:lpstr>
      <vt:lpstr>本节课 main.gd 代码速览:</vt:lpstr>
      <vt:lpstr>本节课 main.gd 功能速览：</vt:lpstr>
      <vt:lpstr>状态机总览：游戏在任何时刻总会处于以下状态其中之一</vt:lpstr>
      <vt:lpstr>声明变量，继续准备原料</vt:lpstr>
      <vt:lpstr>添加音效节点</vt:lpstr>
      <vt:lpstr>选中与取消选中，控制遮罩生成</vt:lpstr>
      <vt:lpstr>锁状态 → 问 Board → 等结算 → 解锁</vt:lpstr>
      <vt:lpstr>交互情况表（前面提到的规则表的详细版）</vt:lpstr>
      <vt:lpstr>拿坐标 → 点空白 → 空闲选中（上半部分）</vt:lpstr>
      <vt:lpstr>选中之后的三种可能（下半部分）</vt:lpstr>
      <vt:lpstr>处理点击事件的入口</vt:lpstr>
      <vt:lpstr>给 click操作 进行内部配置（否则你的代码识别不了输入）</vt:lpstr>
      <vt:lpstr>回到main.gd，添加debug内容</vt:lpstr>
      <vt:lpstr>达成成就：隔墙有眼</vt:lpstr>
      <vt:lpstr>终于轮到判定层了 ~ 判定链全景：</vt:lpstr>
      <vt:lpstr>三消如何判定？（核心）</vt:lpstr>
      <vt:lpstr>回到 board.gd 开始为游戏添加灵魂~（横向）</vt:lpstr>
      <vt:lpstr>将横向换为纵向</vt:lpstr>
      <vt:lpstr>一颗宝石不能算两次（L 形陷阱）</vt:lpstr>
      <vt:lpstr>修改原有的 find_matches ：</vt:lpstr>
      <vt:lpstr>数据与表现分离</vt:lpstr>
      <vt:lpstr>最后组装：board.gd 黑盒正式揭晓</vt:lpstr>
      <vt:lpstr>下节课接口</vt:lpstr>
      <vt:lpstr>达成成就：看我超级大陆（什）</vt:lpstr>
      <vt:lpstr>今日总结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mingqi he</dc:creator>
  <cp:lastModifiedBy>mingqi he</cp:lastModifiedBy>
  <cp:revision>31</cp:revision>
  <dcterms:created xsi:type="dcterms:W3CDTF">2026-08-24T12:03:04Z</dcterms:created>
  <dcterms:modified xsi:type="dcterms:W3CDTF">2026-09-23T09:28:59Z</dcterms:modified>
</cp:coreProperties>
</file>