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3" r:id="rId8"/>
    <p:sldId id="264" r:id="rId9"/>
    <p:sldId id="265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0FEEBB-0C30-3673-EE2B-2532924FA9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8992" y="1594262"/>
            <a:ext cx="6158948" cy="1934129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3200" b="1" i="0">
                <a:solidFill>
                  <a:srgbClr val="4B88A2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C9DE1C3-684D-6B32-DBE6-5D27018EE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992" y="3607976"/>
            <a:ext cx="5632173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22579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3D5930-9F91-0D55-56FB-B38E56D45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1074088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  <a:endParaRPr kumimoji="1" lang="zh-CN" altLang="en-US" dirty="0"/>
          </a:p>
        </p:txBody>
      </p:sp>
      <p:pic>
        <p:nvPicPr>
          <p:cNvPr id="7" name="图片 6" descr="徽标&#10;&#10;描述已自动生成">
            <a:extLst>
              <a:ext uri="{FF2B5EF4-FFF2-40B4-BE49-F238E27FC236}">
                <a16:creationId xmlns:a16="http://schemas.microsoft.com/office/drawing/2014/main" id="{4711E3EF-1573-5A79-25C3-0961F05A5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  <p:sp>
        <p:nvSpPr>
          <p:cNvPr id="8" name="标题占位符 1">
            <a:extLst>
              <a:ext uri="{FF2B5EF4-FFF2-40B4-BE49-F238E27FC236}">
                <a16:creationId xmlns:a16="http://schemas.microsoft.com/office/drawing/2014/main" id="{4A0A1BEE-AB7A-B021-58AD-3DADC214E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3" name="日期占位符 4">
            <a:extLst>
              <a:ext uri="{FF2B5EF4-FFF2-40B4-BE49-F238E27FC236}">
                <a16:creationId xmlns:a16="http://schemas.microsoft.com/office/drawing/2014/main" id="{C2A25001-E83A-5DCC-38C2-B3C73FF9C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4" name="页脚占位符 5">
            <a:extLst>
              <a:ext uri="{FF2B5EF4-FFF2-40B4-BE49-F238E27FC236}">
                <a16:creationId xmlns:a16="http://schemas.microsoft.com/office/drawing/2014/main" id="{2DE9E4BF-C630-701B-9052-23FA8A21A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5" name="灯片编号占位符 6">
            <a:extLst>
              <a:ext uri="{FF2B5EF4-FFF2-40B4-BE49-F238E27FC236}">
                <a16:creationId xmlns:a16="http://schemas.microsoft.com/office/drawing/2014/main" id="{7523D007-EC50-4DD2-5583-37512B9C2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447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rgbClr val="4B88A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297B6-5546-775A-7C1B-152FCB0E9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779312"/>
            <a:ext cx="10740884" cy="198761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2BA25B2-340D-E4B0-0C67-6819A0C24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3883786"/>
            <a:ext cx="10740884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64857-3A35-DB45-ABB2-4BF0B84CF9C0}"/>
              </a:ext>
            </a:extLst>
          </p:cNvPr>
          <p:cNvSpPr/>
          <p:nvPr/>
        </p:nvSpPr>
        <p:spPr>
          <a:xfrm>
            <a:off x="831850" y="3778433"/>
            <a:ext cx="1051560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bg1"/>
              </a:solidFill>
            </a:endParaRPr>
          </a:p>
        </p:txBody>
      </p:sp>
      <p:sp>
        <p:nvSpPr>
          <p:cNvPr id="8" name="日期占位符 4">
            <a:extLst>
              <a:ext uri="{FF2B5EF4-FFF2-40B4-BE49-F238E27FC236}">
                <a16:creationId xmlns:a16="http://schemas.microsoft.com/office/drawing/2014/main" id="{0031AF0D-A46B-1015-979D-A70A428D35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C74BDB59-1EB2-7B9D-B8CF-9C8FC764E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灯片编号占位符 6">
            <a:extLst>
              <a:ext uri="{FF2B5EF4-FFF2-40B4-BE49-F238E27FC236}">
                <a16:creationId xmlns:a16="http://schemas.microsoft.com/office/drawing/2014/main" id="{586F03AE-FFBF-9E7F-B6CB-427A8AE2C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718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8457D6-4AC7-1117-6149-E29FEE9EB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5558" y="1825625"/>
            <a:ext cx="5294242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F5E3C3-B8ED-7462-A47D-9C2E7A3405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31081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8" name="标题占位符 1">
            <a:extLst>
              <a:ext uri="{FF2B5EF4-FFF2-40B4-BE49-F238E27FC236}">
                <a16:creationId xmlns:a16="http://schemas.microsoft.com/office/drawing/2014/main" id="{FB2790EB-88B4-5911-53A7-74B6281C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日期占位符 4">
            <a:extLst>
              <a:ext uri="{FF2B5EF4-FFF2-40B4-BE49-F238E27FC236}">
                <a16:creationId xmlns:a16="http://schemas.microsoft.com/office/drawing/2014/main" id="{333873C1-9FDC-69E5-650D-EBE18AE0268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0" name="页脚占位符 5">
            <a:extLst>
              <a:ext uri="{FF2B5EF4-FFF2-40B4-BE49-F238E27FC236}">
                <a16:creationId xmlns:a16="http://schemas.microsoft.com/office/drawing/2014/main" id="{FE91223E-32EA-1FD2-330A-E3D5076AA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灯片编号占位符 6">
            <a:extLst>
              <a:ext uri="{FF2B5EF4-FFF2-40B4-BE49-F238E27FC236}">
                <a16:creationId xmlns:a16="http://schemas.microsoft.com/office/drawing/2014/main" id="{85357AA5-8C64-2BD8-F3BB-79670B1E6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16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74756DA-E78D-976D-3346-9B0219DFD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5558" y="1681163"/>
            <a:ext cx="527201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771981-8073-4FE5-2903-BC0F2D71A5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8" y="2505075"/>
            <a:ext cx="527201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D740ED5-1F31-6745-1328-B46D92156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29424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4B88A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C989F7B-4E7D-EBD1-F575-67D551DD1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29424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6DA92095-472D-9314-74C8-892B354C8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1" name="日期占位符 4">
            <a:extLst>
              <a:ext uri="{FF2B5EF4-FFF2-40B4-BE49-F238E27FC236}">
                <a16:creationId xmlns:a16="http://schemas.microsoft.com/office/drawing/2014/main" id="{DCDF135B-C85D-83F5-A01D-5252D64A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12" name="页脚占位符 5">
            <a:extLst>
              <a:ext uri="{FF2B5EF4-FFF2-40B4-BE49-F238E27FC236}">
                <a16:creationId xmlns:a16="http://schemas.microsoft.com/office/drawing/2014/main" id="{2D8EA4D4-25B4-E176-AF53-E3BCE2988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6">
            <a:extLst>
              <a:ext uri="{FF2B5EF4-FFF2-40B4-BE49-F238E27FC236}">
                <a16:creationId xmlns:a16="http://schemas.microsoft.com/office/drawing/2014/main" id="{151CDAE1-D70B-3EFA-B415-1295FD91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681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占位符 1">
            <a:extLst>
              <a:ext uri="{FF2B5EF4-FFF2-40B4-BE49-F238E27FC236}">
                <a16:creationId xmlns:a16="http://schemas.microsoft.com/office/drawing/2014/main" id="{96F97A67-4FF0-49A8-E3E3-2042E0045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C4E39087-C553-9639-58B3-8A40C66AA3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78D3B147-F4F7-8DB3-994F-004E8D7FF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F0A95C65-54D6-59FB-44CD-D578DC23E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1073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3EB7D7-BD08-3133-AE9E-C6F17567F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25E8F5-FBDD-693C-632F-303863AC3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0A5A26-B68A-BC16-0D7E-F6C349545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8458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B43F93-EE74-9FE0-A331-F5B526DDF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1E0ADD-4F30-9EEF-112C-2559ACF6C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37323"/>
            <a:ext cx="6283254" cy="542372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14E77E5-71F7-B92E-3BAE-963EE1B4F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452381-A0B0-3CF8-835A-9E0501F95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866C01-201C-3922-E2B8-FB8E2E2C6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BDFF722-BEEE-5058-F67E-440784C90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2561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29D51AE-23CD-9EBA-D51D-E413291224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27383"/>
            <a:ext cx="6283254" cy="543366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单击图标添加图片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06CE524-6A73-D1E5-37F8-5DA916A854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7F468C-88E0-8C6F-8A6D-6DCC46EF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1B56C82-99B4-0520-D36C-AFA866C85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C158DE60-9C59-5A42-D4E2-9CFACEC9E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8" y="1461052"/>
            <a:ext cx="4046468" cy="107177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9" name="文本占位符 3">
            <a:extLst>
              <a:ext uri="{FF2B5EF4-FFF2-40B4-BE49-F238E27FC236}">
                <a16:creationId xmlns:a16="http://schemas.microsoft.com/office/drawing/2014/main" id="{27090E57-3D33-F16E-4AF2-426295B73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5558" y="2552700"/>
            <a:ext cx="4046467" cy="3316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33612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664AD0-DF68-E1F9-F08D-81FA532B4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8" y="1825625"/>
            <a:ext cx="10740884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5FA19414-E6B1-974D-B773-4A92DDB140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E536284-4379-0BC2-7595-1BAA64B8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9C76CD63-90B6-269B-060C-C07AA9D0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标题占位符 1">
            <a:extLst>
              <a:ext uri="{FF2B5EF4-FFF2-40B4-BE49-F238E27FC236}">
                <a16:creationId xmlns:a16="http://schemas.microsoft.com/office/drawing/2014/main" id="{26EA7407-B618-46E8-FDD3-2B95120A8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9" y="854764"/>
            <a:ext cx="9529784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03715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D7367E7-B967-A2DB-157E-300FA091D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7304" y="365124"/>
            <a:ext cx="1229138" cy="5811838"/>
          </a:xfrm>
          <a:prstGeom prst="rect">
            <a:avLst/>
          </a:prstGeom>
        </p:spPr>
        <p:txBody>
          <a:bodyPr vert="eaVert" anchor="b"/>
          <a:lstStyle>
            <a:lvl1pPr algn="l">
              <a:defRPr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4734F21-F187-DF61-3F9D-F838214F1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25557" y="1461051"/>
            <a:ext cx="9412355" cy="4715911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95378585-9D11-B84E-F348-EDE61C6D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5558" y="6356348"/>
            <a:ext cx="2743200" cy="365125"/>
          </a:xfrm>
          <a:prstGeom prst="rect">
            <a:avLst/>
          </a:prstGeom>
        </p:spPr>
        <p:txBody>
          <a:bodyPr/>
          <a:lstStyle/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8" name="页脚占位符 5">
            <a:extLst>
              <a:ext uri="{FF2B5EF4-FFF2-40B4-BE49-F238E27FC236}">
                <a16:creationId xmlns:a16="http://schemas.microsoft.com/office/drawing/2014/main" id="{625ACA3C-3B00-CE1E-8E0D-BBA260977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6">
            <a:extLst>
              <a:ext uri="{FF2B5EF4-FFF2-40B4-BE49-F238E27FC236}">
                <a16:creationId xmlns:a16="http://schemas.microsoft.com/office/drawing/2014/main" id="{C7CEEF96-C213-953E-A94F-B06D05D4B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3242" y="6356349"/>
            <a:ext cx="2743200" cy="365125"/>
          </a:xfrm>
          <a:prstGeom prst="rect">
            <a:avLst/>
          </a:prstGeom>
        </p:spPr>
        <p:txBody>
          <a:bodyPr/>
          <a:lstStyle/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25428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8BE4013-808A-C812-AA9A-499D303D8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658" y="854764"/>
            <a:ext cx="9546351" cy="5140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6CFAA95-B6DC-44A9-6330-DF671B9BE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8991" y="1825625"/>
            <a:ext cx="1077401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9AD166-C292-7A67-4109-8A865BD68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7275" y="636159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D53744AB-8950-4EA8-A071-0D38B1D26B5F}" type="datetimeFigureOut">
              <a:rPr lang="zh-CN" altLang="en-US" smtClean="0"/>
              <a:t>2026/9/10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95E2581-49CE-8F32-BE7E-BBAEB25E4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FD5F84-390A-5928-DA5F-482357AB07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9809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72FEC5-2856-4674-BB2C-985D43F56EE0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4" name="图片 13" descr="徽标&#10;&#10;描述已自动生成">
            <a:extLst>
              <a:ext uri="{FF2B5EF4-FFF2-40B4-BE49-F238E27FC236}">
                <a16:creationId xmlns:a16="http://schemas.microsoft.com/office/drawing/2014/main" id="{6C208722-897C-C7D4-5817-92DA390C4D7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8991" y="0"/>
            <a:ext cx="1098458" cy="1368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78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zh-CN" altLang="en-US" sz="3200" b="1" i="0" kern="1200" dirty="0" smtClean="0">
          <a:solidFill>
            <a:srgbClr val="4B88A2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4AE89A3-4C88-6910-B2E8-AC398F7642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Infoco*IGC </a:t>
            </a: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联合社课</a:t>
            </a:r>
            <a:br>
              <a:rPr lang="en-US" altLang="zh-CN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</a:br>
            <a:r>
              <a:rPr lang="zh-CN" altLang="en-US" sz="44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游戏开发先导课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505A1B-55A8-9E4A-60A5-D1824644D9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2800" dirty="0"/>
              <a:t>L3 —— </a:t>
            </a:r>
            <a:r>
              <a:rPr lang="zh-CN" altLang="en-US" sz="2800" dirty="0"/>
              <a:t>游戏循环</a:t>
            </a:r>
            <a:endParaRPr lang="en-US" altLang="zh-CN" sz="2800" dirty="0"/>
          </a:p>
          <a:p>
            <a:pPr algn="r"/>
            <a:r>
              <a:rPr lang="en-US" altLang="zh-CN" dirty="0"/>
              <a:t>By</a:t>
            </a:r>
            <a:r>
              <a:rPr lang="zh-CN" altLang="en-US" dirty="0"/>
              <a:t>：</a:t>
            </a:r>
            <a:r>
              <a:rPr lang="en-US" altLang="zh-CN" dirty="0"/>
              <a:t>pppig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1513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B7900A3-87DB-230C-A022-44039E9C2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6061" y="1497360"/>
            <a:ext cx="6982932" cy="4660412"/>
          </a:xfrm>
        </p:spPr>
        <p:txBody>
          <a:bodyPr/>
          <a:lstStyle/>
          <a:p>
            <a:pPr marL="0" indent="0">
              <a:buNone/>
            </a:pPr>
            <a:r>
              <a:rPr lang="zh-CN" altLang="zh-CN" b="1" dirty="0"/>
              <a:t>交互层</a:t>
            </a:r>
            <a:r>
              <a:rPr lang="zh-CN" altLang="zh-CN" dirty="0"/>
              <a:t>：_unhandled_input → _on_pointer_down → 选中/交换（让棋盘响应你）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b="1" dirty="0"/>
              <a:t>判定层</a:t>
            </a:r>
            <a:r>
              <a:rPr lang="zh-CN" altLang="zh-CN" dirty="0"/>
              <a:t>：try_swap → find_matches → find_match_groups（让棋盘会判断）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 algn="ctr">
              <a:buNone/>
            </a:pPr>
            <a:r>
              <a:rPr lang="zh-CN" altLang="en-US" sz="2400" dirty="0"/>
              <a:t>上节课做到了让棋盘里的宝石正常交互，但现在还不能消除，下落和计分，今天的内容负责让我们的项目变成一个趋近于最小可玩的</a:t>
            </a:r>
            <a:r>
              <a:rPr lang="en-US" altLang="zh-CN" sz="2400" dirty="0"/>
              <a:t>demo</a:t>
            </a: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840B041-9179-826F-5907-C21EEFA33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L2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回顾</a:t>
            </a:r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88B304EB-0366-3C2A-0492-9A99C580D1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6" t="19505" r="21816" b="8414"/>
          <a:stretch>
            <a:fillRect/>
          </a:stretch>
        </p:blipFill>
        <p:spPr>
          <a:xfrm>
            <a:off x="7809758" y="1941001"/>
            <a:ext cx="3938721" cy="3773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499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E242226-CA75-9F97-12D6-66FF71AD9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651898"/>
            <a:ext cx="10740884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交换成功：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     ① 检查：还有没有三消？（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  <a:ea typeface="Consolas"/>
              </a:rPr>
              <a:t>find_matches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     ② 有 → 消除 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  <a:ea typeface="Consolas"/>
              </a:rPr>
              <a:t>+ 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计分（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  <a:ea typeface="Consolas"/>
              </a:rPr>
              <a:t>clear_matches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：分数 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  <a:ea typeface="Consolas"/>
              </a:rPr>
              <a:t>× 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连锁次数）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     ③ 下落 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  <a:ea typeface="Consolas"/>
              </a:rPr>
              <a:t>+ 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顶部补新（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  <a:ea typeface="Consolas"/>
              </a:rPr>
              <a:t>fall_and_refill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）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     ④ 回到 ① 再检查 ← 这就是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  <a:ea typeface="Consolas"/>
              </a:rPr>
              <a:t>"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连锁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  <a:ea typeface="Consolas"/>
              </a:rPr>
              <a:t>"</a:t>
            </a: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！</a:t>
            </a: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  <a:ea typeface="Consolas"/>
              </a:rPr>
              <a:t>     ⑤ 没有三消了 → 结束（解锁输入）</a:t>
            </a:r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上节课留下的 </a:t>
            </a:r>
            <a:r>
              <a:rPr lang="en-US" altLang="zh-CN" sz="2400" b="1" dirty="0" err="1">
                <a:latin typeface="Consolas" panose="020B0609020204030204" pitchFamily="49" charset="0"/>
              </a:rPr>
              <a:t>resolve_board</a:t>
            </a:r>
            <a:r>
              <a:rPr lang="en-US" altLang="zh-CN" sz="2400" b="1" dirty="0">
                <a:latin typeface="Consolas" panose="020B0609020204030204" pitchFamily="49" charset="0"/>
              </a:rPr>
              <a:t>() </a:t>
            </a:r>
            <a:r>
              <a:rPr lang="zh-CN" altLang="en-US" sz="2400" dirty="0">
                <a:latin typeface="Consolas" panose="020B0609020204030204" pitchFamily="49" charset="0"/>
              </a:rPr>
              <a:t>将添加上述内容</a:t>
            </a:r>
            <a:endParaRPr lang="en-US" altLang="zh-CN" sz="2400" dirty="0"/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三消的精髓就在这里：“连锁”</a:t>
            </a:r>
            <a:endParaRPr lang="en-US" altLang="zh-CN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zh-CN" altLang="en-US" dirty="0">
                <a:solidFill>
                  <a:srgbClr val="C00000"/>
                </a:solidFill>
              </a:rPr>
              <a:t>今天我们的首要目标就是让“连锁”怎样爽起来</a:t>
            </a:r>
            <a:r>
              <a:rPr lang="en-US" altLang="zh-CN" dirty="0">
                <a:solidFill>
                  <a:srgbClr val="C00000"/>
                </a:solidFill>
              </a:rPr>
              <a:t>~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069036E-2EA6-D54D-FC91-99AD7ED0F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游戏怎么转起来：</a:t>
            </a:r>
          </a:p>
        </p:txBody>
      </p:sp>
    </p:spTree>
    <p:extLst>
      <p:ext uri="{BB962C8B-B14F-4D97-AF65-F5344CB8AC3E}">
        <p14:creationId xmlns:p14="http://schemas.microsoft.com/office/powerpoint/2010/main" val="2688220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8BF9F90-86A8-AA6E-6683-8D0A3E59C2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845288"/>
            <a:ext cx="10740884" cy="48209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solidFill>
                  <a:srgbClr val="1F1F1F"/>
                </a:solidFill>
                <a:latin typeface="Consolas"/>
                <a:ea typeface="Consolas"/>
              </a:rPr>
              <a:t>	</a:t>
            </a:r>
            <a:r>
              <a:rPr lang="zh-CN" altLang="en-US" sz="2400" dirty="0">
                <a:solidFill>
                  <a:srgbClr val="1F1F1F"/>
                </a:solidFill>
                <a:latin typeface="Consolas"/>
                <a:ea typeface="Consolas"/>
              </a:rPr>
              <a:t>目标① 连锁循环</a:t>
            </a:r>
            <a:endParaRPr lang="en-US" altLang="zh-CN" sz="2400" dirty="0">
              <a:solidFill>
                <a:srgbClr val="1F1F1F"/>
              </a:solidFill>
              <a:latin typeface="Consolas"/>
              <a:ea typeface="Consolas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1F1F1F"/>
                </a:solidFill>
                <a:latin typeface="Consolas"/>
                <a:ea typeface="Consolas"/>
              </a:rPr>
              <a:t>	</a:t>
            </a:r>
            <a:r>
              <a:rPr lang="zh-CN" altLang="en-US" sz="2400" dirty="0">
                <a:solidFill>
                  <a:srgbClr val="1F1F1F"/>
                </a:solidFill>
                <a:latin typeface="Consolas"/>
                <a:ea typeface="Consolas"/>
              </a:rPr>
              <a:t>目标② 动画串行</a:t>
            </a:r>
            <a:endParaRPr lang="en-US" altLang="zh-CN" sz="2400" dirty="0">
              <a:solidFill>
                <a:srgbClr val="1F1F1F"/>
              </a:solidFill>
              <a:latin typeface="Consolas"/>
              <a:ea typeface="Consolas"/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rgbClr val="1F1F1F"/>
                </a:solidFill>
                <a:latin typeface="Consolas"/>
                <a:ea typeface="Consolas"/>
              </a:rPr>
              <a:t>	</a:t>
            </a:r>
            <a:r>
              <a:rPr lang="zh-CN" altLang="en-US" sz="2400" dirty="0">
                <a:solidFill>
                  <a:srgbClr val="1F1F1F"/>
                </a:solidFill>
                <a:latin typeface="Consolas"/>
                <a:ea typeface="Consolas"/>
              </a:rPr>
              <a:t>目标③ 分数计算：</a:t>
            </a:r>
            <a:r>
              <a:rPr lang="en-US" altLang="zh-CN" sz="2400" dirty="0">
                <a:solidFill>
                  <a:srgbClr val="1F1F1F"/>
                </a:solidFill>
                <a:latin typeface="Consolas"/>
                <a:ea typeface="Consolas"/>
              </a:rPr>
              <a:t>_</a:t>
            </a:r>
            <a:r>
              <a:rPr lang="en-US" altLang="zh-CN" sz="2400" dirty="0" err="1">
                <a:solidFill>
                  <a:srgbClr val="1F1F1F"/>
                </a:solidFill>
                <a:latin typeface="Consolas"/>
                <a:ea typeface="Consolas"/>
              </a:rPr>
              <a:t>calc_score</a:t>
            </a:r>
            <a:r>
              <a:rPr lang="zh-CN" altLang="en-US" sz="2400" dirty="0">
                <a:solidFill>
                  <a:srgbClr val="1F1F1F"/>
                </a:solidFill>
                <a:latin typeface="Consolas"/>
                <a:ea typeface="Consolas"/>
              </a:rPr>
              <a:t>（计分规则自己写）</a:t>
            </a:r>
            <a:endParaRPr lang="en-US" altLang="zh-CN" sz="2400" dirty="0">
              <a:solidFill>
                <a:srgbClr val="1F1F1F"/>
              </a:solidFill>
              <a:latin typeface="Consolas"/>
              <a:ea typeface="Consolas"/>
            </a:endParaRPr>
          </a:p>
          <a:p>
            <a:pPr marL="0" indent="0">
              <a:buNone/>
            </a:pPr>
            <a:endParaRPr lang="zh-CN" altLang="en-US" sz="2400" dirty="0">
              <a:solidFill>
                <a:srgbClr val="1F1F1F"/>
              </a:solidFill>
              <a:latin typeface="Consolas"/>
              <a:ea typeface="Consolas"/>
            </a:endParaRPr>
          </a:p>
          <a:p>
            <a:pPr marL="0" indent="0">
              <a:buNone/>
            </a:pPr>
            <a:r>
              <a:rPr lang="zh-CN" altLang="zh-CN" sz="2400" dirty="0"/>
              <a:t>全景（本课代码去哪）：</a:t>
            </a:r>
          </a:p>
          <a:p>
            <a:pPr marL="457200" lvl="1" indent="0">
              <a:buNone/>
            </a:pPr>
            <a:r>
              <a:rPr lang="zh-CN" altLang="zh-CN" dirty="0"/>
              <a:t>  gem.gd    动画 animate_clear  ← 表演</a:t>
            </a:r>
          </a:p>
          <a:p>
            <a:pPr marL="457200" lvl="1" indent="0">
              <a:buNone/>
            </a:pPr>
            <a:r>
              <a:rPr lang="zh-CN" altLang="zh-CN" dirty="0"/>
              <a:t>  board.gd  resolve_board   ← 循环引擎</a:t>
            </a:r>
          </a:p>
          <a:p>
            <a:pPr marL="457200" lvl="1" indent="0">
              <a:buNone/>
            </a:pPr>
            <a:r>
              <a:rPr lang="zh-CN" altLang="zh-CN" dirty="0"/>
              <a:t>  board.gd  clear_matches   ← 消除 + 计分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  board.gd  fall_and_refill ← 下落 + 补新</a:t>
            </a:r>
          </a:p>
          <a:p>
            <a:pPr marL="0" indent="0">
              <a:buNone/>
            </a:pPr>
            <a:endParaRPr lang="zh-CN" altLang="en-US" sz="2400" dirty="0">
              <a:solidFill>
                <a:srgbClr val="1F1F1F"/>
              </a:solidFill>
              <a:latin typeface="Consolas"/>
              <a:ea typeface="Consola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AA7CF9-FF30-B4A6-9995-C91916D5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L3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内容速览和目标：</a:t>
            </a:r>
          </a:p>
        </p:txBody>
      </p:sp>
    </p:spTree>
    <p:extLst>
      <p:ext uri="{BB962C8B-B14F-4D97-AF65-F5344CB8AC3E}">
        <p14:creationId xmlns:p14="http://schemas.microsoft.com/office/powerpoint/2010/main" val="20549555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BD23F5E4-C98B-DE35-1C9E-9A268A948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960988"/>
            <a:ext cx="10740884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zh-CN" sz="2400" dirty="0"/>
              <a:t>补间动画（Tweens）主要用于那些需要在一定数值范围内对数字属性进行插值的动画。</a:t>
            </a:r>
            <a:r>
              <a:rPr lang="zh-CN" altLang="zh-CN" sz="2400" i="1" dirty="0"/>
              <a:t>Tween</a:t>
            </a:r>
            <a:r>
              <a:rPr lang="zh-CN" altLang="zh-CN" sz="2400" dirty="0"/>
              <a:t>（补间）这个名字来源于 </a:t>
            </a:r>
            <a:r>
              <a:rPr lang="zh-CN" altLang="zh-CN" sz="2400" i="1" dirty="0"/>
              <a:t>inbetweening</a:t>
            </a:r>
            <a:r>
              <a:rPr lang="zh-CN" altLang="zh-CN" sz="2400" dirty="0"/>
              <a:t>（中间画），这是一种动画技术：你只需要指定</a:t>
            </a:r>
            <a:r>
              <a:rPr lang="zh-CN" altLang="zh-CN" sz="2400" dirty="0">
                <a:solidFill>
                  <a:srgbClr val="C00000"/>
                </a:solidFill>
              </a:rPr>
              <a:t>关键帧</a:t>
            </a:r>
            <a:r>
              <a:rPr lang="zh-CN" altLang="zh-CN" sz="2400" dirty="0"/>
              <a:t>，电脑就会自动计算并补全它们之间的那些过渡帧。使用 </a:t>
            </a:r>
            <a:r>
              <a:rPr lang="zh-CN" altLang="zh-CN" sz="2400" b="1" dirty="0"/>
              <a:t>Tween</a:t>
            </a:r>
            <a:r>
              <a:rPr lang="zh-CN" altLang="zh-CN" sz="2400" dirty="0"/>
              <a:t> 来制作动画的过程，就被称为“补间动画（tweening）”</a:t>
            </a:r>
            <a:endParaRPr lang="en-US" altLang="zh-CN" sz="2400" dirty="0"/>
          </a:p>
          <a:p>
            <a:pPr marL="0" indent="0" algn="r">
              <a:buNone/>
            </a:pPr>
            <a:r>
              <a:rPr lang="zh-CN" altLang="en-US" sz="2400" dirty="0"/>
              <a:t>（摘自官方</a:t>
            </a:r>
            <a:r>
              <a:rPr lang="en-US" altLang="zh-CN" sz="2400" dirty="0"/>
              <a:t>wiki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0" indent="0" algn="r">
              <a:buNone/>
            </a:pPr>
            <a:endParaRPr lang="en-US" altLang="zh-CN" sz="24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简单讲，</a:t>
            </a:r>
            <a:r>
              <a:rPr lang="en-US" altLang="zh-CN" sz="2400" dirty="0">
                <a:solidFill>
                  <a:srgbClr val="C00000"/>
                </a:solidFill>
              </a:rPr>
              <a:t>Tween</a:t>
            </a:r>
            <a:r>
              <a:rPr lang="zh-CN" altLang="en-US" sz="2400" dirty="0">
                <a:solidFill>
                  <a:srgbClr val="C00000"/>
                </a:solidFill>
              </a:rPr>
              <a:t>可以合成简单的关键帧动画</a:t>
            </a:r>
            <a:r>
              <a:rPr lang="zh-CN" altLang="en-US" sz="2400" dirty="0"/>
              <a:t>，写好代码后，电脑会自动计算并播放动画，播放时间相对更灵活，</a:t>
            </a:r>
            <a:r>
              <a:rPr lang="zh-CN" altLang="zh-CN" sz="2400" dirty="0"/>
              <a:t>一句 tween_property 让"位置/缩放/透明度"随时间平滑变化</a:t>
            </a: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C4D513E-F8DF-0D21-779D-6D5E52AB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认识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Tween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309B39D-ADF0-30CF-A584-C1C1727A25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05" t="10428" r="5724" b="4850"/>
          <a:stretch>
            <a:fillRect/>
          </a:stretch>
        </p:blipFill>
        <p:spPr>
          <a:xfrm>
            <a:off x="9982078" y="262623"/>
            <a:ext cx="1500930" cy="149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913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F7F6024-96BB-5DA6-03D1-54E949CCF2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12490"/>
            <a:ext cx="10740884" cy="4876800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用于播放动画的节点。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动画播放器用于动画的通用播放。它包含 </a:t>
            </a:r>
            <a:r>
              <a:rPr lang="en-US" altLang="zh-CN" sz="2400" dirty="0" err="1"/>
              <a:t>AnimationLibrary</a:t>
            </a:r>
            <a:r>
              <a:rPr lang="en-US" altLang="zh-CN" sz="2400" dirty="0"/>
              <a:t> </a:t>
            </a:r>
            <a:r>
              <a:rPr lang="zh-CN" altLang="en-US" sz="2400" dirty="0"/>
              <a:t>资源的字典和动画过渡之间的自定义混合时间。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2400" dirty="0"/>
              <a:t>某些方法和属性使用单个键直接引用动画。这些键的格式为动画库的键，后跟正斜杠，然后是动画库内动画的键，例如 </a:t>
            </a:r>
            <a:r>
              <a:rPr lang="en-US" altLang="zh-CN" sz="2400" dirty="0"/>
              <a:t>"movement/run"</a:t>
            </a:r>
            <a:r>
              <a:rPr lang="zh-CN" altLang="en-US" sz="2400" dirty="0"/>
              <a:t>。如果动画库的键为空字符串（称为默认库），则省略正斜杠，与动画库使用相同的键。</a:t>
            </a:r>
          </a:p>
          <a:p>
            <a:pPr marL="0" indent="0" algn="r">
              <a:buNone/>
            </a:pPr>
            <a:r>
              <a:rPr lang="zh-CN" altLang="en-US" dirty="0"/>
              <a:t>（摘自官方</a:t>
            </a:r>
            <a:r>
              <a:rPr lang="en-US" altLang="zh-CN" dirty="0"/>
              <a:t>wiki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 algn="r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000" dirty="0"/>
              <a:t>当</a:t>
            </a:r>
            <a:r>
              <a:rPr lang="zh-CN" altLang="en-US" sz="2000" dirty="0">
                <a:solidFill>
                  <a:srgbClr val="C00000"/>
                </a:solidFill>
              </a:rPr>
              <a:t>动画的最终数值无法提前预知</a:t>
            </a:r>
            <a:r>
              <a:rPr lang="zh-CN" altLang="en-US" sz="2000" dirty="0"/>
              <a:t>时，</a:t>
            </a:r>
            <a:r>
              <a:rPr lang="en-US" altLang="zh-CN" sz="2000" dirty="0"/>
              <a:t>Tween </a:t>
            </a:r>
            <a:r>
              <a:rPr lang="zh-CN" altLang="en-US" sz="2000" dirty="0"/>
              <a:t>比 </a:t>
            </a:r>
            <a:r>
              <a:rPr lang="en-US" altLang="zh-CN" sz="2000" dirty="0" err="1"/>
              <a:t>AnimationPlayer</a:t>
            </a:r>
            <a:r>
              <a:rPr lang="en-US" altLang="zh-CN" sz="2000" dirty="0"/>
              <a:t> </a:t>
            </a:r>
            <a:r>
              <a:rPr lang="zh-CN" altLang="en-US" sz="2000" dirty="0"/>
              <a:t>更加适用，</a:t>
            </a:r>
            <a:r>
              <a:rPr lang="en-US" altLang="zh-CN" sz="2000" dirty="0" err="1"/>
              <a:t>AnimationPlayer</a:t>
            </a:r>
            <a:r>
              <a:rPr lang="en-US" altLang="zh-CN" sz="2000" dirty="0"/>
              <a:t> </a:t>
            </a:r>
            <a:r>
              <a:rPr lang="zh-CN" altLang="en-US" sz="2000" dirty="0"/>
              <a:t>比 </a:t>
            </a:r>
            <a:r>
              <a:rPr lang="en-US" altLang="zh-CN" sz="2000" dirty="0"/>
              <a:t>Tween </a:t>
            </a:r>
            <a:r>
              <a:rPr lang="zh-CN" altLang="en-US" sz="2000" dirty="0"/>
              <a:t>更</a:t>
            </a:r>
            <a:r>
              <a:rPr lang="zh-CN" altLang="en-US" sz="2000" dirty="0">
                <a:solidFill>
                  <a:srgbClr val="C00000"/>
                </a:solidFill>
              </a:rPr>
              <a:t>适合用于复杂动画</a:t>
            </a:r>
            <a:r>
              <a:rPr lang="zh-CN" altLang="en-US" sz="2000" dirty="0"/>
              <a:t>，例如不规则计时的动画。如果用</a:t>
            </a:r>
            <a:r>
              <a:rPr lang="zh-CN" altLang="en-US" sz="2000" dirty="0">
                <a:solidFill>
                  <a:srgbClr val="C00000"/>
                </a:solidFill>
              </a:rPr>
              <a:t>动画轨道编辑器</a:t>
            </a:r>
            <a:r>
              <a:rPr lang="zh-CN" altLang="en-US" sz="2000" dirty="0"/>
              <a:t>比用代码实现更方便，也可以优先于 </a:t>
            </a:r>
            <a:r>
              <a:rPr lang="en-US" altLang="zh-CN" sz="2000" dirty="0"/>
              <a:t>Tween </a:t>
            </a:r>
            <a:r>
              <a:rPr lang="zh-CN" altLang="en-US" sz="2000" dirty="0"/>
              <a:t>使用。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DAC048-3C18-CB53-E427-6514DAFFB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为什么不用</a:t>
            </a:r>
            <a:r>
              <a:rPr lang="en-US" altLang="zh-CN" dirty="0" err="1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AnimationPlayer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47F107-B516-AFCA-71AD-4CCD53C2A6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9" t="3199" r="7280" b="6089"/>
          <a:stretch>
            <a:fillRect/>
          </a:stretch>
        </p:blipFill>
        <p:spPr>
          <a:xfrm>
            <a:off x="9982077" y="262623"/>
            <a:ext cx="1492073" cy="1497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25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95A88B5-16A9-7F16-EAD8-1F7E4138E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4384" y="1558531"/>
            <a:ext cx="9469721" cy="242191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func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 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animate_clear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() &gt; void: 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	var tween := 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create_tween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	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tween.set_parallel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(true)                    </a:t>
            </a:r>
            <a:endParaRPr lang="zh-CN" altLang="en-US" sz="2000" dirty="0">
              <a:solidFill>
                <a:srgbClr val="1F1F1F"/>
              </a:solidFill>
              <a:latin typeface="Consolas"/>
            </a:endParaRPr>
          </a:p>
          <a:p>
            <a:pPr marL="0" indent="0">
              <a:buNone/>
            </a:pPr>
            <a:r>
              <a:rPr lang="zh-CN" altLang="en-US" sz="2000" dirty="0">
                <a:solidFill>
                  <a:srgbClr val="1F1F1F"/>
                </a:solidFill>
                <a:latin typeface="Consolas"/>
              </a:rPr>
              <a:t>	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tween.tween_property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(self, "scale", Vector2(0.2, 0.2), 0.2)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	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tween.tween_property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(self, "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modulate:a</a:t>
            </a: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", 0.0, 0.2)</a:t>
            </a:r>
          </a:p>
          <a:p>
            <a:pPr marL="0" indent="0">
              <a:buNone/>
            </a:pPr>
            <a:r>
              <a:rPr lang="en-US" altLang="zh-CN" sz="2000" dirty="0">
                <a:solidFill>
                  <a:srgbClr val="1F1F1F"/>
                </a:solidFill>
                <a:latin typeface="Consolas"/>
              </a:rPr>
              <a:t>	await </a:t>
            </a:r>
            <a:r>
              <a:rPr lang="en-US" altLang="zh-CN" sz="2000" dirty="0" err="1">
                <a:solidFill>
                  <a:srgbClr val="1F1F1F"/>
                </a:solidFill>
                <a:latin typeface="Consolas"/>
              </a:rPr>
              <a:t>tween.finished</a:t>
            </a:r>
            <a:endParaRPr lang="zh-CN" altLang="en-US" sz="2000" dirty="0">
              <a:solidFill>
                <a:srgbClr val="1F1F1F"/>
              </a:solidFill>
              <a:latin typeface="Consolas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E0B5486-74A5-AC1C-24E6-B265BADB35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动画：消除（缩小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淡出，同时进行）</a:t>
            </a:r>
            <a:r>
              <a:rPr lang="zh-CN" altLang="zh-CN" sz="270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归属：gem.gd</a:t>
            </a:r>
            <a:endParaRPr lang="zh-CN" altLang="en-US" sz="2700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5C06253-8A8C-D854-DACD-8489B2776102}"/>
              </a:ext>
            </a:extLst>
          </p:cNvPr>
          <p:cNvSpPr/>
          <p:nvPr/>
        </p:nvSpPr>
        <p:spPr>
          <a:xfrm>
            <a:off x="648928" y="1506040"/>
            <a:ext cx="10255045" cy="274149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A039F5D-39ED-4D17-11BA-37F1B671FA60}"/>
              </a:ext>
            </a:extLst>
          </p:cNvPr>
          <p:cNvSpPr txBox="1"/>
          <p:nvPr/>
        </p:nvSpPr>
        <p:spPr>
          <a:xfrm>
            <a:off x="5776451" y="2061600"/>
            <a:ext cx="53507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>
                <a:solidFill>
                  <a:schemeClr val="accent6"/>
                </a:solidFill>
              </a:rPr>
              <a:t>modulate:a </a:t>
            </a:r>
            <a:r>
              <a:rPr lang="zh-CN" altLang="zh-CN" sz="2000" dirty="0">
                <a:solidFill>
                  <a:schemeClr val="accent6"/>
                </a:solidFill>
              </a:rPr>
              <a:t>= 透明度通道，0.0 = 完全透明</a:t>
            </a:r>
            <a:r>
              <a:rPr lang="zh-CN" altLang="en-US" sz="2000" dirty="0">
                <a:solidFill>
                  <a:schemeClr val="accent6"/>
                </a:solidFill>
              </a:rPr>
              <a:t>，</a:t>
            </a:r>
            <a:r>
              <a:rPr lang="zh-CN" altLang="zh-CN" sz="2000" dirty="0">
                <a:solidFill>
                  <a:schemeClr val="accent6"/>
                </a:solidFill>
              </a:rPr>
              <a:t>配合缩小就是"缩小消失"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2C2D668-D929-73C8-4D30-628473419625}"/>
              </a:ext>
            </a:extLst>
          </p:cNvPr>
          <p:cNvSpPr txBox="1"/>
          <p:nvPr/>
        </p:nvSpPr>
        <p:spPr>
          <a:xfrm>
            <a:off x="648929" y="4599332"/>
            <a:ext cx="1025504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dirty="0"/>
              <a:t>动画函数</a:t>
            </a:r>
            <a:r>
              <a:rPr lang="zh-CN" altLang="en-US" sz="2400" dirty="0"/>
              <a:t>的</a:t>
            </a:r>
            <a:r>
              <a:rPr lang="zh-CN" altLang="zh-CN" sz="2400" dirty="0"/>
              <a:t>套路</a:t>
            </a:r>
            <a:r>
              <a:rPr lang="zh-CN" altLang="en-US" sz="2400" dirty="0"/>
              <a:t>很简单</a:t>
            </a:r>
            <a:r>
              <a:rPr lang="zh-CN" altLang="zh-CN" sz="2400" dirty="0"/>
              <a:t>：</a:t>
            </a:r>
            <a:endParaRPr lang="en-US" altLang="zh-CN" sz="2400" dirty="0"/>
          </a:p>
          <a:p>
            <a:r>
              <a:rPr lang="en-US" altLang="zh-CN" sz="2400" b="1" dirty="0"/>
              <a:t>	</a:t>
            </a:r>
            <a:r>
              <a:rPr lang="zh-CN" altLang="zh-CN" sz="2400" b="1" dirty="0"/>
              <a:t>create_tween 开一个调度器 → tween_property 让它改一个属性 → await 等它播完</a:t>
            </a:r>
            <a:endParaRPr lang="en-US" altLang="zh-CN" sz="2400" b="1" dirty="0"/>
          </a:p>
          <a:p>
            <a:r>
              <a:rPr lang="zh-CN" altLang="zh-CN" sz="2400" b="1" dirty="0"/>
              <a:t>一个动画内部可以并行</a:t>
            </a:r>
            <a:r>
              <a:rPr lang="zh-CN" altLang="zh-CN" sz="2400" dirty="0"/>
              <a:t>：set_parallel(true) 后，缩小和淡出</a:t>
            </a:r>
            <a:r>
              <a:rPr lang="zh-CN" altLang="zh-CN" sz="2400" b="1" dirty="0"/>
              <a:t>同时</a:t>
            </a:r>
            <a:r>
              <a:rPr lang="zh-CN" altLang="zh-CN" sz="2400" dirty="0"/>
              <a:t>进行（0.2 秒后既小又透明</a:t>
            </a:r>
            <a:r>
              <a:rPr lang="zh-CN" altLang="zh-CN" dirty="0"/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DA33008-C797-94DE-ECB0-9BADA84DBCD1}"/>
              </a:ext>
            </a:extLst>
          </p:cNvPr>
          <p:cNvSpPr txBox="1"/>
          <p:nvPr/>
        </p:nvSpPr>
        <p:spPr>
          <a:xfrm>
            <a:off x="760556" y="3847425"/>
            <a:ext cx="102550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>
                <a:solidFill>
                  <a:schemeClr val="accent6"/>
                </a:solidFill>
              </a:rPr>
              <a:t>await tween.finished = 刹车</a:t>
            </a:r>
            <a:r>
              <a:rPr lang="zh-CN" altLang="zh-CN" sz="2000" dirty="0">
                <a:solidFill>
                  <a:schemeClr val="accent6"/>
                </a:solidFill>
              </a:rPr>
              <a:t>：告诉游戏“这段动画播完之前，别往下走”</a:t>
            </a:r>
            <a:r>
              <a:rPr lang="zh-CN" altLang="en-US" sz="2000" dirty="0">
                <a:solidFill>
                  <a:schemeClr val="accent6"/>
                </a:solidFill>
              </a:rPr>
              <a:t>（不然会穿帮）</a:t>
            </a:r>
            <a:endParaRPr lang="zh-CN" altLang="zh-CN" sz="20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33293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5630754-1CFF-053F-8C05-083550DCC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057" y="1466087"/>
            <a:ext cx="6621343" cy="4710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一个动画内部</a:t>
            </a:r>
            <a:r>
              <a:rPr lang="zh-CN" altLang="zh-CN" sz="2400" dirty="0"/>
              <a:t>可以并行（set_parallel(true)）：</a:t>
            </a:r>
          </a:p>
          <a:p>
            <a:pPr marL="0" indent="0">
              <a:buNone/>
            </a:pPr>
            <a:r>
              <a:rPr lang="zh-CN" altLang="zh-CN" sz="2400" dirty="0"/>
              <a:t>   缩小 + 淡出 同时进行 → 0.2 秒后既小又透明</a:t>
            </a:r>
          </a:p>
          <a:p>
            <a:pPr marL="0" indent="0">
              <a:buNone/>
            </a:pPr>
            <a:r>
              <a:rPr lang="zh-CN" altLang="zh-CN" sz="2400" dirty="0"/>
              <a:t>   （两件事不冲突，可以同时发生）</a:t>
            </a:r>
            <a:br>
              <a:rPr lang="zh-CN" altLang="zh-CN" sz="2400" dirty="0"/>
            </a:br>
            <a:endParaRPr lang="zh-CN" altLang="zh-CN" sz="2400" dirty="0"/>
          </a:p>
          <a:p>
            <a:pPr marL="0" indent="0">
              <a:buNone/>
            </a:pPr>
            <a:r>
              <a:rPr lang="zh-CN" altLang="zh-CN" sz="2400" b="1" dirty="0"/>
              <a:t>动画之间</a:t>
            </a:r>
            <a:r>
              <a:rPr lang="zh-CN" altLang="zh-CN" sz="2400" dirty="0"/>
              <a:t>必须串行（await tween.finished）：</a:t>
            </a:r>
          </a:p>
          <a:p>
            <a:pPr marL="0" indent="0">
              <a:buNone/>
            </a:pPr>
            <a:r>
              <a:rPr lang="zh-CN" altLang="zh-CN" sz="2400" dirty="0"/>
              <a:t>   消除播完 → 才能播下落</a:t>
            </a:r>
          </a:p>
          <a:p>
            <a:pPr marL="0" indent="0">
              <a:buNone/>
            </a:pPr>
            <a:r>
              <a:rPr lang="zh-CN" altLang="zh-CN" sz="2400" dirty="0"/>
              <a:t>   （同一颗宝石的位置不能被两个动画同时改</a:t>
            </a:r>
            <a:r>
              <a:rPr lang="zh-CN" altLang="en-US" sz="2400" dirty="0"/>
              <a:t>，会影响玩家游玩体验，也可能会导致一些奇怪的</a:t>
            </a:r>
            <a:r>
              <a:rPr lang="en-US" altLang="zh-CN" sz="2400" dirty="0"/>
              <a:t>bug</a:t>
            </a:r>
            <a:r>
              <a:rPr lang="zh-CN" altLang="zh-CN" sz="2400" dirty="0"/>
              <a:t>）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6516E6F-2CF0-7B43-A752-EB749F922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并行 ≠ 串行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6BDA379-135F-8951-B3BA-F8110FE47A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65" t="13621" r="10065" b="14408"/>
          <a:stretch>
            <a:fillRect/>
          </a:stretch>
        </p:blipFill>
        <p:spPr>
          <a:xfrm>
            <a:off x="7089058" y="1241169"/>
            <a:ext cx="4965291" cy="493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35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8C93018-E24D-FD39-31DD-8CC9EB2A78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zh-CN" altLang="zh-CN" dirty="0"/>
              <a:t>        ┌─────────────────────────────────┐</a:t>
            </a:r>
          </a:p>
          <a:p>
            <a:pPr marL="0" indent="0">
              <a:buNone/>
            </a:pPr>
            <a:r>
              <a:rPr lang="zh-CN" altLang="zh-CN" dirty="0"/>
              <a:t>        │                                 </a:t>
            </a:r>
            <a:r>
              <a:rPr lang="en-US" altLang="zh-CN" dirty="0"/>
              <a:t>                                                           </a:t>
            </a:r>
            <a:r>
              <a:rPr lang="zh-CN" altLang="zh-CN" dirty="0"/>
              <a:t>▼</a:t>
            </a:r>
          </a:p>
          <a:p>
            <a:pPr marL="0" indent="0">
              <a:buNone/>
            </a:pPr>
            <a:r>
              <a:rPr lang="zh-CN" altLang="zh-CN" dirty="0"/>
              <a:t>   ① 交换成功     </a:t>
            </a:r>
            <a:r>
              <a:rPr lang="en-US" altLang="zh-CN" dirty="0"/>
              <a:t>         </a:t>
            </a:r>
            <a:r>
              <a:rPr lang="zh-CN" altLang="zh-CN" dirty="0"/>
              <a:t>   </a:t>
            </a:r>
            <a:r>
              <a:rPr lang="en-US" altLang="zh-CN" dirty="0"/>
              <a:t>      </a:t>
            </a:r>
            <a:r>
              <a:rPr lang="zh-CN" altLang="zh-CN" dirty="0"/>
              <a:t>② 三消消除     </a:t>
            </a:r>
            <a:r>
              <a:rPr lang="en-US" altLang="zh-CN" dirty="0"/>
              <a:t>                  </a:t>
            </a:r>
            <a:r>
              <a:rPr lang="zh-CN" altLang="zh-CN" dirty="0"/>
              <a:t>   ③ 上面空了！</a:t>
            </a:r>
          </a:p>
          <a:p>
            <a:pPr marL="0" indent="0">
              <a:buNone/>
            </a:pPr>
            <a:r>
              <a:rPr lang="zh-CN" altLang="zh-CN" dirty="0"/>
              <a:t>        ▲                                </a:t>
            </a:r>
            <a:r>
              <a:rPr lang="en-US" altLang="zh-CN" dirty="0"/>
              <a:t>                                                           </a:t>
            </a:r>
            <a:r>
              <a:rPr lang="zh-CN" altLang="zh-CN" dirty="0"/>
              <a:t> │</a:t>
            </a:r>
          </a:p>
          <a:p>
            <a:pPr marL="0" indent="0">
              <a:buNone/>
            </a:pPr>
            <a:r>
              <a:rPr lang="zh-CN" altLang="zh-CN" dirty="0"/>
              <a:t>        │                           </a:t>
            </a:r>
            <a:r>
              <a:rPr lang="en-US" altLang="zh-CN" dirty="0"/>
              <a:t>                                                   </a:t>
            </a:r>
            <a:r>
              <a:rPr lang="zh-CN" altLang="zh-CN" dirty="0"/>
              <a:t> 宝石要掉下来填坑</a:t>
            </a:r>
          </a:p>
          <a:p>
            <a:pPr marL="0" indent="0">
              <a:buNone/>
            </a:pPr>
            <a:r>
              <a:rPr lang="zh-CN" altLang="zh-CN" dirty="0"/>
              <a:t>        │                                </a:t>
            </a:r>
            <a:r>
              <a:rPr lang="en-US" altLang="zh-CN" dirty="0"/>
              <a:t>                                                             </a:t>
            </a:r>
            <a:r>
              <a:rPr lang="zh-CN" altLang="zh-CN" dirty="0"/>
              <a:t>│</a:t>
            </a:r>
          </a:p>
          <a:p>
            <a:pPr marL="0" indent="0">
              <a:buNone/>
            </a:pPr>
            <a:r>
              <a:rPr lang="zh-CN" altLang="zh-CN" dirty="0"/>
              <a:t>        │                                </a:t>
            </a:r>
            <a:r>
              <a:rPr lang="en-US" altLang="zh-CN" dirty="0"/>
              <a:t>                                                            </a:t>
            </a:r>
            <a:r>
              <a:rPr lang="zh-CN" altLang="zh-CN" dirty="0"/>
              <a:t>▼</a:t>
            </a:r>
          </a:p>
          <a:p>
            <a:pPr marL="0" indent="0">
              <a:buNone/>
            </a:pPr>
            <a:r>
              <a:rPr lang="zh-CN" altLang="zh-CN" dirty="0"/>
              <a:t>   ⑥ 可能连锁 ─────── ⑤ 顶部补新 ◀──────── ④ 下落压实</a:t>
            </a:r>
          </a:p>
          <a:p>
            <a:pPr marL="0" indent="0">
              <a:buNone/>
            </a:pPr>
            <a:r>
              <a:rPr lang="zh-CN" altLang="zh-CN" dirty="0"/>
              <a:t>        │</a:t>
            </a:r>
          </a:p>
          <a:p>
            <a:pPr marL="0" indent="0">
              <a:buNone/>
            </a:pPr>
            <a:r>
              <a:rPr lang="zh-CN" altLang="zh-CN" dirty="0"/>
              <a:t>        └──── 分数 ×2 ×3 飙升，</a:t>
            </a:r>
            <a:r>
              <a:rPr lang="zh-CN" altLang="en-US" dirty="0"/>
              <a:t>暂时阻止交互</a:t>
            </a:r>
            <a:endParaRPr lang="zh-CN" altLang="zh-CN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C6B5C103-C88B-9038-E042-40279CAB1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消除下落连锁速览：</a:t>
            </a:r>
          </a:p>
        </p:txBody>
      </p:sp>
    </p:spTree>
    <p:extLst>
      <p:ext uri="{BB962C8B-B14F-4D97-AF65-F5344CB8AC3E}">
        <p14:creationId xmlns:p14="http://schemas.microsoft.com/office/powerpoint/2010/main" val="3806489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D18FCB0-5F38-C554-8F32-0DB1B4F654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243" y="1651898"/>
            <a:ext cx="9045676" cy="1445263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3200" dirty="0">
                <a:solidFill>
                  <a:srgbClr val="1F1F1F"/>
                </a:solidFill>
                <a:latin typeface="Consolas"/>
              </a:rPr>
              <a:t>const FALL_PER_CELL := 0.08   </a:t>
            </a:r>
            <a:endParaRPr lang="en-US" altLang="zh-CN" sz="3200" dirty="0">
              <a:solidFill>
                <a:srgbClr val="1F1F1F"/>
              </a:solidFill>
              <a:latin typeface="Consolas"/>
            </a:endParaRPr>
          </a:p>
          <a:p>
            <a:pPr marL="0" indent="0">
              <a:buNone/>
            </a:pPr>
            <a:r>
              <a:rPr lang="zh-CN" altLang="zh-CN" sz="3200" dirty="0">
                <a:solidFill>
                  <a:srgbClr val="1F1F1F"/>
                </a:solidFill>
                <a:latin typeface="Consolas"/>
              </a:rPr>
              <a:t># 每下落一格的时长（秒）：落 3 格 = 0.24s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F44B584-3845-A6AF-0264-8B355752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动手之前请回到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board.gd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并补充常量：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46DC1BC-D216-7E1D-E0B1-6EC71A8A66E0}"/>
              </a:ext>
            </a:extLst>
          </p:cNvPr>
          <p:cNvSpPr/>
          <p:nvPr/>
        </p:nvSpPr>
        <p:spPr>
          <a:xfrm>
            <a:off x="481782" y="1506040"/>
            <a:ext cx="9045676" cy="159112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2CFD7EF-A57A-8095-B28D-8D14C19F10DB}"/>
              </a:ext>
            </a:extLst>
          </p:cNvPr>
          <p:cNvSpPr txBox="1"/>
          <p:nvPr/>
        </p:nvSpPr>
        <p:spPr>
          <a:xfrm>
            <a:off x="568243" y="3760840"/>
            <a:ext cx="943896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因为</a:t>
            </a:r>
            <a:r>
              <a:rPr lang="en-US" altLang="zh-CN" sz="2800" dirty="0"/>
              <a:t>L3</a:t>
            </a:r>
            <a:r>
              <a:rPr lang="zh-CN" altLang="en-US" sz="2800" dirty="0"/>
              <a:t>才用到下落时间这个常量，秉持着</a:t>
            </a:r>
            <a:r>
              <a:rPr lang="zh-CN" altLang="en-US" sz="2800" dirty="0">
                <a:solidFill>
                  <a:srgbClr val="C00000"/>
                </a:solidFill>
              </a:rPr>
              <a:t>用到再声明</a:t>
            </a:r>
            <a:r>
              <a:rPr lang="zh-CN" altLang="en-US" sz="2800" dirty="0"/>
              <a:t>的原则，我们在这里新加一份常量</a:t>
            </a:r>
            <a:r>
              <a:rPr lang="en-US" altLang="zh-CN" sz="2800" dirty="0"/>
              <a:t>~</a:t>
            </a:r>
            <a:br>
              <a:rPr lang="en-US" altLang="zh-CN" sz="2800" dirty="0"/>
            </a:br>
            <a:br>
              <a:rPr lang="en-US" altLang="zh-CN" sz="2800" dirty="0"/>
            </a:br>
            <a:r>
              <a:rPr lang="zh-CN" altLang="en-US" sz="2400" dirty="0"/>
              <a:t>（后续写课件的时候发现没常量于是就赶紧锁定根因了说是）</a:t>
            </a:r>
          </a:p>
        </p:txBody>
      </p:sp>
    </p:spTree>
    <p:extLst>
      <p:ext uri="{BB962C8B-B14F-4D97-AF65-F5344CB8AC3E}">
        <p14:creationId xmlns:p14="http://schemas.microsoft.com/office/powerpoint/2010/main" val="908565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91455F95-B67E-7D94-5438-CEE686AD3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88" y="1368846"/>
            <a:ext cx="11459496" cy="5110611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fall_and_refill（下落 + 补新）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├─ 1. 开个</a:t>
            </a:r>
            <a:r>
              <a:rPr lang="zh-CN" altLang="en-US" sz="2000" dirty="0"/>
              <a:t>临时数组 </a:t>
            </a:r>
            <a:r>
              <a:rPr lang="zh-CN" altLang="zh-CN" sz="2000" dirty="0"/>
              <a:t>movers：记录每颗要动的宝石 → 落到哪 → 花多久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├─ 2. 逐列处理（8 列都做一遍）：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┌─ ① 压实：自下而上扫这一列 ─────────────────┐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落点指针 write_row 从最底行开始</a:t>
            </a:r>
            <a:r>
              <a:rPr lang="en-US" altLang="zh-CN" sz="2000" dirty="0"/>
              <a:t>                                         </a:t>
            </a:r>
            <a:endParaRPr lang="zh-CN" altLang="zh-CN" sz="2000" dirty="0"/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扫到宝石：下面有洞？→ 搬下去 + 记一笔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          没洞？→ 不动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落点指针往上移一格（继续扫）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└────────────────────────────────────┘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┌─ ② 补新：顶部还有空位</a:t>
            </a:r>
            <a:r>
              <a:rPr lang="zh-CN" altLang="en-US" sz="2000" dirty="0"/>
              <a:t>？</a:t>
            </a:r>
            <a:r>
              <a:rPr lang="zh-CN" altLang="zh-CN" sz="2000" dirty="0"/>
              <a:t>───────────────────┐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从屏幕外（行 -1、-2…）生成新宝石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│  放进空位 + 记一笔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     └────────────────────────────────────┘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│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└─ 3. 一次性播放：一个并行 Tween 同时播所有下落动画</a:t>
            </a:r>
          </a:p>
          <a:p>
            <a:pPr marL="0" indent="0">
              <a:spcBef>
                <a:spcPts val="0"/>
              </a:spcBef>
              <a:buNone/>
            </a:pPr>
            <a:r>
              <a:rPr lang="zh-CN" altLang="zh-CN" sz="2000" dirty="0"/>
              <a:t>      （await 一次，全部播完再返回）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A5ED6DD-D6CC-134A-1C6B-43A824C55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逐步拼接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fall_and_refill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：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AB61BC7-02DD-0CF6-EF83-933F35D4358B}"/>
              </a:ext>
            </a:extLst>
          </p:cNvPr>
          <p:cNvSpPr txBox="1"/>
          <p:nvPr/>
        </p:nvSpPr>
        <p:spPr>
          <a:xfrm>
            <a:off x="8926622" y="2635045"/>
            <a:ext cx="2556387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C00000"/>
                </a:solidFill>
              </a:rPr>
              <a:t>因篇幅限制，接下来的</a:t>
            </a:r>
            <a:r>
              <a:rPr lang="zh-CN" altLang="zh-CN" sz="2400" b="1" dirty="0">
                <a:solidFill>
                  <a:srgbClr val="C0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fall_and_refill</a:t>
            </a:r>
            <a:r>
              <a:rPr lang="zh-CN" altLang="en-US" sz="2400" dirty="0">
                <a:solidFill>
                  <a:srgbClr val="C00000"/>
                </a:solidFill>
              </a:rPr>
              <a:t>是一个函数被切成了几个部分，在写代码的时候请注意缩进</a:t>
            </a:r>
            <a:r>
              <a:rPr lang="en-US" altLang="zh-CN" sz="2400" dirty="0">
                <a:solidFill>
                  <a:srgbClr val="C00000"/>
                </a:solidFill>
              </a:rPr>
              <a:t>~</a:t>
            </a:r>
            <a:endParaRPr lang="zh-CN" altLang="en-US" sz="2400" dirty="0">
              <a:solidFill>
                <a:srgbClr val="C00000"/>
              </a:solidFill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4395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0D7BC0A-0733-24DB-ED68-E9C570247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5"/>
            <a:ext cx="702226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fall_and_refill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movers: Array = []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 col in range(GRID_SIZE):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var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: int = GRID</a:t>
            </a:r>
            <a:r>
              <a:rPr lang="en-US" altLang="zh-CN" sz="2000">
                <a:latin typeface="Consolas" panose="020B0609020204030204" pitchFamily="49" charset="0"/>
              </a:rPr>
              <a:t>_SIZE - 1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A3A87A6-D246-67DC-8E08-E544E36D6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先开一个“记账本”（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movers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）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049822F-BBB7-5973-0168-94283FE911C1}"/>
              </a:ext>
            </a:extLst>
          </p:cNvPr>
          <p:cNvSpPr/>
          <p:nvPr/>
        </p:nvSpPr>
        <p:spPr>
          <a:xfrm>
            <a:off x="725557" y="1722350"/>
            <a:ext cx="7022262" cy="170665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A3AA9C2-E4E5-A343-FEE6-D64019B7FA66}"/>
              </a:ext>
            </a:extLst>
          </p:cNvPr>
          <p:cNvSpPr txBox="1"/>
          <p:nvPr/>
        </p:nvSpPr>
        <p:spPr>
          <a:xfrm>
            <a:off x="725557" y="3849365"/>
            <a:ext cx="107574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记账本 movers</a:t>
            </a:r>
            <a:r>
              <a:rPr lang="zh-CN" altLang="zh-CN" sz="2400" dirty="0"/>
              <a:t>：每颗要动的宝石记一行——</a:t>
            </a:r>
            <a:r>
              <a:rPr lang="zh-CN" altLang="zh-CN" sz="2400" b="1" dirty="0"/>
              <a:t>谁（gem）、去哪（target）、花多久（duration）</a:t>
            </a:r>
            <a:r>
              <a:rPr lang="zh-CN" altLang="zh-CN" sz="2400" dirty="0"/>
              <a:t>——先记账、后播放</a:t>
            </a:r>
            <a:r>
              <a:rPr lang="zh-CN" altLang="en-US" sz="2400" dirty="0"/>
              <a:t>（后面集中写入</a:t>
            </a:r>
            <a:r>
              <a:rPr lang="en-US" altLang="zh-CN" sz="2400" dirty="0"/>
              <a:t>movers</a:t>
            </a:r>
            <a:r>
              <a:rPr lang="zh-CN" altLang="en-US" sz="2400" dirty="0"/>
              <a:t>数据）</a:t>
            </a:r>
            <a:endParaRPr lang="en-US" altLang="zh-CN" sz="2400" dirty="0"/>
          </a:p>
          <a:p>
            <a:r>
              <a:rPr lang="en-US" altLang="zh-CN" dirty="0"/>
              <a:t>Eg</a:t>
            </a:r>
            <a:r>
              <a:rPr lang="zh-CN" altLang="en-US" dirty="0"/>
              <a:t>：</a:t>
            </a:r>
            <a:r>
              <a:rPr lang="zh-CN" altLang="zh-CN" dirty="0"/>
              <a:t>movers = [</a:t>
            </a:r>
          </a:p>
          <a:p>
            <a:r>
              <a:rPr lang="zh-CN" altLang="zh-CN" dirty="0"/>
              <a:t>  { "gem": 宝石A, "target": grid_to_world(Vector2i(col, 5)), "duration": 0.16 },  ← 落 2 格到第 5 行</a:t>
            </a:r>
          </a:p>
          <a:p>
            <a:r>
              <a:rPr lang="zh-CN" altLang="zh-CN" dirty="0"/>
              <a:t>  { "gem": 宝石B, "target": grid_to_world(Vector2i(col, 3)), "duration": 0.24 },  ← 落 3 格到第 3 行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]</a:t>
            </a:r>
            <a:endParaRPr lang="zh-CN" altLang="zh-CN" sz="2400" dirty="0"/>
          </a:p>
          <a:p>
            <a:r>
              <a:rPr lang="zh-CN" altLang="zh-CN" sz="2400" dirty="0"/>
              <a:t>2. </a:t>
            </a:r>
            <a:r>
              <a:rPr lang="zh-CN" altLang="zh-CN" sz="2400" b="1" dirty="0"/>
              <a:t>落点指针 write_row</a:t>
            </a:r>
            <a:r>
              <a:rPr lang="zh-CN" altLang="zh-CN" sz="2400" dirty="0"/>
              <a:t>：从最底行开始往上走，决定"宝石该落到哪格"（下一页看它怎么动）</a:t>
            </a:r>
          </a:p>
        </p:txBody>
      </p:sp>
    </p:spTree>
    <p:extLst>
      <p:ext uri="{BB962C8B-B14F-4D97-AF65-F5344CB8AC3E}">
        <p14:creationId xmlns:p14="http://schemas.microsoft.com/office/powerpoint/2010/main" val="4175829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9C963D0-2193-88CA-4AF8-47F0FC6FB3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690642"/>
            <a:ext cx="8329951" cy="26185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for row in range(GRID</a:t>
            </a:r>
            <a:r>
              <a:rPr lang="en-US" altLang="zh-CN" sz="2000">
                <a:latin typeface="Consolas" panose="020B0609020204030204" pitchFamily="49" charset="0"/>
              </a:rPr>
              <a:t>_SIZE - 1</a:t>
            </a:r>
            <a:r>
              <a:rPr lang="en-US" altLang="zh-CN" sz="2000" dirty="0">
                <a:latin typeface="Consolas" panose="020B0609020204030204" pitchFamily="49" charset="0"/>
              </a:rPr>
              <a:t>, -1, -1):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var gem: Gem = grid[col][row] as Gem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if gem == null: continue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if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 != row: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		</a:t>
            </a:r>
            <a:r>
              <a:rPr lang="en-US" altLang="zh-CN" sz="2000" dirty="0">
                <a:latin typeface="Consolas" panose="020B0609020204030204" pitchFamily="49" charset="0"/>
              </a:rPr>
              <a:t>grid[col][row] = null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grid[col][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] = gem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6B72F6F-3DA9-8397-74AD-7DB7A9E25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下落并压实棋盘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5CE2FC-6A08-9212-4FE3-85045E7103F1}"/>
              </a:ext>
            </a:extLst>
          </p:cNvPr>
          <p:cNvSpPr/>
          <p:nvPr/>
        </p:nvSpPr>
        <p:spPr>
          <a:xfrm>
            <a:off x="725559" y="1555660"/>
            <a:ext cx="8329950" cy="261855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3EFD47-C6FC-9466-76A6-737BB25F56D9}"/>
              </a:ext>
            </a:extLst>
          </p:cNvPr>
          <p:cNvSpPr txBox="1"/>
          <p:nvPr/>
        </p:nvSpPr>
        <p:spPr>
          <a:xfrm>
            <a:off x="725560" y="4361028"/>
            <a:ext cx="88412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Eg</a:t>
            </a:r>
            <a:r>
              <a:rPr lang="zh-CN" altLang="en-US" dirty="0"/>
              <a:t>：        </a:t>
            </a:r>
            <a:r>
              <a:rPr lang="zh-CN" altLang="zh-CN" dirty="0"/>
              <a:t>扫描前：                       </a:t>
            </a:r>
            <a:r>
              <a:rPr lang="en-US" altLang="zh-CN" dirty="0"/>
              <a:t>                   </a:t>
            </a:r>
            <a:r>
              <a:rPr lang="zh-CN" altLang="zh-CN" dirty="0"/>
              <a:t> 压实后：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0: [空]                    </a:t>
            </a:r>
            <a:r>
              <a:rPr lang="en-US" altLang="zh-CN" dirty="0"/>
              <a:t>           </a:t>
            </a:r>
            <a:r>
              <a:rPr lang="zh-CN" altLang="zh-CN" dirty="0"/>
              <a:t>    </a:t>
            </a:r>
            <a:r>
              <a:rPr lang="en-US" altLang="zh-CN" dirty="0"/>
              <a:t>         </a:t>
            </a:r>
            <a:r>
              <a:rPr lang="zh-CN" altLang="zh-CN" dirty="0"/>
              <a:t>行 0: [空]  ← 顶部空出，待补新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1: [绿]                        </a:t>
            </a:r>
            <a:r>
              <a:rPr lang="en-US" altLang="zh-CN" dirty="0"/>
              <a:t>                    </a:t>
            </a:r>
            <a:r>
              <a:rPr lang="zh-CN" altLang="zh-CN" dirty="0"/>
              <a:t>行 1: [空]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2: [红]                        </a:t>
            </a:r>
            <a:r>
              <a:rPr lang="en-US" altLang="zh-CN" dirty="0"/>
              <a:t>                    </a:t>
            </a:r>
            <a:r>
              <a:rPr lang="zh-CN" altLang="zh-CN" dirty="0"/>
              <a:t>行 2: [空]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3: [空]                     </a:t>
            </a:r>
            <a:r>
              <a:rPr lang="en-US" altLang="zh-CN" dirty="0"/>
              <a:t>    </a:t>
            </a:r>
            <a:r>
              <a:rPr lang="zh-CN" altLang="zh-CN" dirty="0"/>
              <a:t>  </a:t>
            </a:r>
            <a:r>
              <a:rPr lang="en-US" altLang="zh-CN" dirty="0"/>
              <a:t>                </a:t>
            </a:r>
            <a:r>
              <a:rPr lang="zh-CN" altLang="zh-CN" dirty="0"/>
              <a:t> 行 3: [绿]  ← 绿搬到 write_row=3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4: [蓝]  ← 扫描方向（从底往上） 行 4: [红]</a:t>
            </a:r>
            <a:r>
              <a:rPr lang="en-US" altLang="zh-CN" dirty="0"/>
              <a:t> </a:t>
            </a:r>
            <a:r>
              <a:rPr lang="zh-CN" altLang="zh-CN" dirty="0"/>
              <a:t> ← 红搬到 write_row=4</a:t>
            </a:r>
          </a:p>
          <a:p>
            <a:r>
              <a:rPr lang="en-US" altLang="zh-CN" dirty="0"/>
              <a:t>	</a:t>
            </a:r>
            <a:r>
              <a:rPr lang="zh-CN" altLang="zh-CN" dirty="0"/>
              <a:t>行 5: [空]  ← write_row=5 起点    </a:t>
            </a:r>
            <a:r>
              <a:rPr lang="en-US" altLang="zh-CN" dirty="0"/>
              <a:t>      </a:t>
            </a:r>
            <a:r>
              <a:rPr lang="zh-CN" altLang="zh-CN" dirty="0"/>
              <a:t>行 5: [蓝]  ← 蓝搬到 write_row=5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23B221-20B0-0C3F-D51C-5382463D5E52}"/>
              </a:ext>
            </a:extLst>
          </p:cNvPr>
          <p:cNvSpPr txBox="1"/>
          <p:nvPr/>
        </p:nvSpPr>
        <p:spPr>
          <a:xfrm>
            <a:off x="9566788" y="1912290"/>
            <a:ext cx="21925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自下而上</a:t>
            </a:r>
            <a:r>
              <a:rPr lang="zh-CN" altLang="zh-CN" sz="2400" dirty="0"/>
              <a:t>：write_row 落点指针从底往上走，扫到的宝石有洞就搬下去——</a:t>
            </a:r>
            <a:r>
              <a:rPr lang="zh-CN" altLang="zh-CN" sz="2400" b="1" dirty="0"/>
              <a:t>每个空洞只被填一次</a:t>
            </a:r>
            <a:r>
              <a:rPr lang="zh-CN" altLang="zh-CN" sz="2000" dirty="0"/>
              <a:t>（从上往下扫会卡半路）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20410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A0BB930-4ED1-AB08-8122-430A650E0D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527" y="1737135"/>
            <a:ext cx="11112482" cy="259889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var cells: int = </a:t>
            </a:r>
            <a:r>
              <a:rPr lang="en-US" altLang="zh-CN" sz="2000" dirty="0" err="1">
                <a:latin typeface="Consolas" panose="020B0609020204030204" pitchFamily="49" charset="0"/>
              </a:rPr>
              <a:t>write</a:t>
            </a:r>
            <a:r>
              <a:rPr lang="en-US" altLang="zh-CN" sz="2000" err="1">
                <a:latin typeface="Consolas" panose="020B0609020204030204" pitchFamily="49" charset="0"/>
              </a:rPr>
              <a:t>_</a:t>
            </a:r>
            <a:r>
              <a:rPr lang="en-US" altLang="zh-CN" sz="2000">
                <a:latin typeface="Consolas" panose="020B0609020204030204" pitchFamily="49" charset="0"/>
              </a:rPr>
              <a:t>row - gem</a:t>
            </a:r>
            <a:r>
              <a:rPr lang="en-US" altLang="zh-CN" sz="2000" dirty="0" err="1">
                <a:latin typeface="Consolas" panose="020B0609020204030204" pitchFamily="49" charset="0"/>
              </a:rPr>
              <a:t>.grid_pos.y</a:t>
            </a: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</a:t>
            </a:r>
            <a:r>
              <a:rPr lang="en-US" altLang="zh-CN" sz="2000" dirty="0" err="1">
                <a:latin typeface="Consolas" panose="020B0609020204030204" pitchFamily="49" charset="0"/>
              </a:rPr>
              <a:t>gem.grid_pos</a:t>
            </a:r>
            <a:r>
              <a:rPr lang="en-US" altLang="zh-CN" sz="2000" dirty="0">
                <a:latin typeface="Consolas" panose="020B0609020204030204" pitchFamily="49" charset="0"/>
              </a:rPr>
              <a:t> = Vector2i(col,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var duration := </a:t>
            </a:r>
            <a:r>
              <a:rPr lang="en-US" altLang="zh-CN" sz="2000" dirty="0" err="1">
                <a:latin typeface="Consolas" panose="020B0609020204030204" pitchFamily="49" charset="0"/>
              </a:rPr>
              <a:t>maxf</a:t>
            </a:r>
            <a:r>
              <a:rPr lang="en-US" altLang="zh-CN" sz="2000" dirty="0">
                <a:latin typeface="Consolas" panose="020B0609020204030204" pitchFamily="49" charset="0"/>
              </a:rPr>
              <a:t>(FALL_PER_CELL, float(cells) * FALL_PER_CELL)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	</a:t>
            </a:r>
            <a:r>
              <a:rPr lang="en-US" altLang="zh-CN" sz="2000" dirty="0" err="1">
                <a:latin typeface="Consolas" panose="020B0609020204030204" pitchFamily="49" charset="0"/>
              </a:rPr>
              <a:t>movers.append</a:t>
            </a:r>
            <a:r>
              <a:rPr lang="en-US" altLang="zh-CN" sz="2000" dirty="0">
                <a:latin typeface="Consolas" panose="020B0609020204030204" pitchFamily="49" charset="0"/>
              </a:rPr>
              <a:t>({"gem": gem, "target": </a:t>
            </a:r>
            <a:r>
              <a:rPr lang="en-US" altLang="zh-CN" sz="2000" dirty="0" err="1">
                <a:latin typeface="Consolas" panose="020B0609020204030204" pitchFamily="49" charset="0"/>
              </a:rPr>
              <a:t>grid_to_world</a:t>
            </a:r>
            <a:r>
              <a:rPr lang="en-US" altLang="zh-CN" sz="2000" dirty="0">
                <a:latin typeface="Consolas" panose="020B0609020204030204" pitchFamily="49" charset="0"/>
              </a:rPr>
              <a:t>(Vector2i(col,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)), "duration": duration})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 -= 1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ECEF5CD-2F14-0D72-9AC9-D741CCD5B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算时长 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+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记账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B278589-7780-E836-D7B3-26A831CDC126}"/>
              </a:ext>
            </a:extLst>
          </p:cNvPr>
          <p:cNvSpPr/>
          <p:nvPr/>
        </p:nvSpPr>
        <p:spPr>
          <a:xfrm>
            <a:off x="255639" y="1737134"/>
            <a:ext cx="11112482" cy="2598892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84E3946-71D3-55D9-6DB1-B1FDE36789BD}"/>
              </a:ext>
            </a:extLst>
          </p:cNvPr>
          <p:cNvSpPr txBox="1"/>
          <p:nvPr/>
        </p:nvSpPr>
        <p:spPr>
          <a:xfrm>
            <a:off x="638799" y="1809136"/>
            <a:ext cx="259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因为一行放不下所有代码所以就只好这样排版了私密马赛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16B6606-6929-F912-926D-A7F3114AD6A0}"/>
              </a:ext>
            </a:extLst>
          </p:cNvPr>
          <p:cNvSpPr txBox="1"/>
          <p:nvPr/>
        </p:nvSpPr>
        <p:spPr>
          <a:xfrm>
            <a:off x="370527" y="4699819"/>
            <a:ext cx="1099759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第三段：</a:t>
            </a:r>
            <a:r>
              <a:rPr lang="zh-CN" altLang="zh-CN" sz="2000" b="1" dirty="0"/>
              <a:t>算时长 + 记账</a:t>
            </a:r>
            <a:r>
              <a:rPr lang="zh-CN" altLang="zh-CN" sz="2000" dirty="0"/>
              <a:t>。cells = write_row - gem.grid_pos.y 是</a:t>
            </a:r>
            <a:r>
              <a:rPr lang="zh-CN" altLang="en-US" sz="2000" dirty="0"/>
              <a:t>：</a:t>
            </a:r>
            <a:r>
              <a:rPr lang="zh-CN" altLang="zh-CN" sz="2000" dirty="0"/>
              <a:t>先算落几格、再更新 grid_pos</a:t>
            </a:r>
            <a:endParaRPr lang="en-US" altLang="zh-CN" sz="2000" dirty="0"/>
          </a:p>
          <a:p>
            <a:r>
              <a:rPr lang="zh-CN" altLang="zh-CN" sz="2000" dirty="0"/>
              <a:t>movers.append(...) 记账：谁（gem）、去哪（target）、多久（duration）——记完账，最后统一播放</a:t>
            </a:r>
          </a:p>
          <a:p>
            <a:r>
              <a:rPr lang="zh-CN" altLang="zh-CN" sz="2000" dirty="0"/>
              <a:t>write_row -= 1：落点指针往上移一格，继续扫</a:t>
            </a:r>
            <a:r>
              <a:rPr lang="zh-CN" altLang="en-US" sz="2000" dirty="0"/>
              <a:t>（毕竟不能直接覆盖）</a:t>
            </a:r>
            <a:endParaRPr lang="zh-CN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6297698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0ECECBA-6845-C188-8AC5-1D4FB86CC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2831" y="1884619"/>
            <a:ext cx="10959066" cy="209744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var </a:t>
            </a:r>
            <a:r>
              <a:rPr lang="en-US" altLang="zh-CN" sz="2000" dirty="0" err="1">
                <a:latin typeface="Consolas" panose="020B0609020204030204" pitchFamily="49" charset="0"/>
              </a:rPr>
              <a:t>spawn_index</a:t>
            </a:r>
            <a:r>
              <a:rPr lang="en-US" altLang="zh-CN" sz="2000" dirty="0">
                <a:latin typeface="Consolas" panose="020B0609020204030204" pitchFamily="49" charset="0"/>
              </a:rPr>
              <a:t> := 0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while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 &gt;= 0:               </a:t>
            </a: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>
                <a:latin typeface="Consolas" panose="020B0609020204030204" pitchFamily="49" charset="0"/>
              </a:rPr>
              <a:t>var </a:t>
            </a:r>
            <a:r>
              <a:rPr lang="en-US" altLang="zh-CN" sz="2000" dirty="0" err="1">
                <a:latin typeface="Consolas" panose="020B0609020204030204" pitchFamily="49" charset="0"/>
              </a:rPr>
              <a:t>target_pos</a:t>
            </a:r>
            <a:r>
              <a:rPr lang="en-US" altLang="zh-CN" sz="2000" dirty="0">
                <a:latin typeface="Consolas" panose="020B0609020204030204" pitchFamily="49" charset="0"/>
              </a:rPr>
              <a:t> := Vector2i(col, 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var </a:t>
            </a:r>
            <a:r>
              <a:rPr lang="en-US" altLang="zh-CN" sz="2000" dirty="0" err="1">
                <a:latin typeface="Consolas" panose="020B0609020204030204" pitchFamily="49" charset="0"/>
              </a:rPr>
              <a:t>start_pos</a:t>
            </a:r>
            <a:r>
              <a:rPr lang="en-US" altLang="zh-CN" sz="2000" dirty="0">
                <a:latin typeface="Consolas" panose="020B0609020204030204" pitchFamily="49" charset="0"/>
              </a:rPr>
              <a:t> := Vector2i(col, </a:t>
            </a:r>
            <a:r>
              <a:rPr lang="en-US" altLang="zh-CN" sz="2000">
                <a:latin typeface="Consolas" panose="020B0609020204030204" pitchFamily="49" charset="0"/>
              </a:rPr>
              <a:t>-1 - spawn</a:t>
            </a:r>
            <a:r>
              <a:rPr lang="en-US" altLang="zh-CN" sz="2000" dirty="0">
                <a:latin typeface="Consolas" panose="020B0609020204030204" pitchFamily="49" charset="0"/>
              </a:rPr>
              <a:t>_index)</a:t>
            </a:r>
            <a:endParaRPr lang="zh-CN" altLang="en-US" sz="20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>
                <a:latin typeface="Consolas" panose="020B0609020204030204" pitchFamily="49" charset="0"/>
              </a:rPr>
              <a:t>var gem2: Gem = _</a:t>
            </a:r>
            <a:r>
              <a:rPr lang="en-US" altLang="zh-CN" sz="2000" dirty="0" err="1">
                <a:latin typeface="Consolas" panose="020B0609020204030204" pitchFamily="49" charset="0"/>
              </a:rPr>
              <a:t>spawn_gem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random_gem_type</a:t>
            </a:r>
            <a:r>
              <a:rPr lang="en-US" altLang="zh-CN" sz="2000" dirty="0">
                <a:latin typeface="Consolas" panose="020B0609020204030204" pitchFamily="49" charset="0"/>
              </a:rPr>
              <a:t>(), </a:t>
            </a:r>
            <a:r>
              <a:rPr lang="en-US" altLang="zh-CN" sz="2000" dirty="0" err="1">
                <a:latin typeface="Consolas" panose="020B0609020204030204" pitchFamily="49" charset="0"/>
              </a:rPr>
              <a:t>target_pos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F13ED7DD-3E23-4A46-2034-92D90D8A1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补新循环 + 屏幕外起点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BE6AD9D-96A7-F4C2-56DE-D0EE460A825E}"/>
              </a:ext>
            </a:extLst>
          </p:cNvPr>
          <p:cNvSpPr/>
          <p:nvPr/>
        </p:nvSpPr>
        <p:spPr>
          <a:xfrm>
            <a:off x="442451" y="1737134"/>
            <a:ext cx="11169445" cy="224493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D1FF91A-EDA0-AAC2-D6AF-B116C3C76DFB}"/>
              </a:ext>
            </a:extLst>
          </p:cNvPr>
          <p:cNvSpPr txBox="1"/>
          <p:nvPr/>
        </p:nvSpPr>
        <p:spPr>
          <a:xfrm>
            <a:off x="369646" y="4306078"/>
            <a:ext cx="524652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b="1" dirty="0"/>
              <a:t>屏幕外排队</a:t>
            </a:r>
            <a:r>
              <a:rPr lang="zh-CN" altLang="zh-CN" sz="2000" dirty="0"/>
              <a:t>：起点行 -1、-2……越靠上的空位起点越高——视觉上</a:t>
            </a:r>
            <a:r>
              <a:rPr lang="zh-CN" altLang="en-US" sz="2000" dirty="0"/>
              <a:t>像</a:t>
            </a:r>
            <a:r>
              <a:rPr lang="zh-CN" altLang="zh-CN" sz="2000" dirty="0"/>
              <a:t>是补货机从上往下补，不是凭空出现</a:t>
            </a:r>
          </a:p>
          <a:p>
            <a:r>
              <a:rPr lang="zh-CN" altLang="zh-CN" sz="2000" b="1" dirty="0"/>
              <a:t>_spawn_gem 是 L1 学过的</a:t>
            </a:r>
            <a:r>
              <a:rPr lang="zh-CN" altLang="zh-CN" sz="2000" dirty="0"/>
              <a:t>：照图纸 instantiate + setup——新宝石也是图纸造出来的，只是先放屏幕外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FFE708F-7C68-D5BB-78D7-34BDF4BD7147}"/>
              </a:ext>
            </a:extLst>
          </p:cNvPr>
          <p:cNvSpPr txBox="1"/>
          <p:nvPr/>
        </p:nvSpPr>
        <p:spPr>
          <a:xfrm>
            <a:off x="5724325" y="4350352"/>
            <a:ext cx="681375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Eg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zh-CN" dirty="0"/>
              <a:t>行 -2: [新②] ← 起点 -2（第二个补的，起点更高）</a:t>
            </a:r>
          </a:p>
          <a:p>
            <a:r>
              <a:rPr lang="zh-CN" altLang="zh-CN" dirty="0"/>
              <a:t>行 -1: [新①] ← 起点 -1</a:t>
            </a:r>
          </a:p>
          <a:p>
            <a:r>
              <a:rPr lang="zh-CN" altLang="zh-CN" dirty="0"/>
              <a:t>行 0: [空]  ─补新后─▶  新① 从 -1 落入 0，新② 从 -2 落入 1</a:t>
            </a:r>
          </a:p>
          <a:p>
            <a:r>
              <a:rPr lang="zh-CN" altLang="zh-CN" dirty="0"/>
              <a:t>行 1: [空]</a:t>
            </a:r>
          </a:p>
          <a:p>
            <a:r>
              <a:rPr lang="zh-CN" altLang="zh-CN" dirty="0"/>
              <a:t>行 2: [绿]（已压实）</a:t>
            </a:r>
          </a:p>
        </p:txBody>
      </p:sp>
    </p:spTree>
    <p:extLst>
      <p:ext uri="{BB962C8B-B14F-4D97-AF65-F5344CB8AC3E}">
        <p14:creationId xmlns:p14="http://schemas.microsoft.com/office/powerpoint/2010/main" val="20014104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06E75E9-1410-9B46-448C-4D4B58077D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796128"/>
            <a:ext cx="118872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gem2.position = </a:t>
            </a:r>
            <a:r>
              <a:rPr lang="en-US" altLang="zh-CN" sz="2000" dirty="0" err="1">
                <a:latin typeface="Consolas" panose="020B0609020204030204" pitchFamily="49" charset="0"/>
              </a:rPr>
              <a:t>grid_to_world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start_pos</a:t>
            </a:r>
            <a:r>
              <a:rPr lang="en-US" altLang="zh-CN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grid[col][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] = gem2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movers.append</a:t>
            </a:r>
            <a:r>
              <a:rPr lang="en-US" altLang="zh-CN" sz="2000" dirty="0">
                <a:latin typeface="Consolas" panose="020B0609020204030204" pitchFamily="49" charset="0"/>
              </a:rPr>
              <a:t>({"gem": gem2, "target": </a:t>
            </a:r>
            <a:r>
              <a:rPr lang="en-US" altLang="zh-CN" sz="2000" dirty="0" err="1">
                <a:latin typeface="Consolas" panose="020B0609020204030204" pitchFamily="49" charset="0"/>
              </a:rPr>
              <a:t>grid_to_world</a:t>
            </a:r>
            <a:r>
              <a:rPr lang="en-US" altLang="zh-CN" sz="2000" dirty="0">
                <a:latin typeface="Consolas" panose="020B0609020204030204" pitchFamily="49" charset="0"/>
              </a:rPr>
              <a:t>(</a:t>
            </a:r>
            <a:r>
              <a:rPr lang="en-US" altLang="zh-CN" sz="2000" dirty="0" err="1">
                <a:latin typeface="Consolas" panose="020B0609020204030204" pitchFamily="49" charset="0"/>
              </a:rPr>
              <a:t>target_pos</a:t>
            </a:r>
            <a:r>
              <a:rPr lang="en-US" altLang="zh-CN" sz="2000" dirty="0">
                <a:latin typeface="Consolas" panose="020B0609020204030204" pitchFamily="49" charset="0"/>
              </a:rPr>
              <a:t>), "duration": </a:t>
            </a:r>
            <a:r>
              <a:rPr lang="en-US" altLang="zh-CN" sz="2000" dirty="0" err="1">
                <a:latin typeface="Consolas" panose="020B0609020204030204" pitchFamily="49" charset="0"/>
              </a:rPr>
              <a:t>maxf</a:t>
            </a:r>
            <a:r>
              <a:rPr lang="en-US" altLang="zh-CN" sz="2000" dirty="0">
                <a:latin typeface="Consolas" panose="020B0609020204030204" pitchFamily="49" charset="0"/>
              </a:rPr>
              <a:t>(FALL_PER_CELL, float(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 - </a:t>
            </a:r>
            <a:r>
              <a:rPr lang="en-US" altLang="zh-CN" sz="2000" dirty="0" err="1">
                <a:latin typeface="Consolas" panose="020B0609020204030204" pitchFamily="49" charset="0"/>
              </a:rPr>
              <a:t>start_pos.y</a:t>
            </a:r>
            <a:r>
              <a:rPr lang="en-US" altLang="zh-CN" sz="2000" dirty="0">
                <a:latin typeface="Consolas" panose="020B0609020204030204" pitchFamily="49" charset="0"/>
              </a:rPr>
              <a:t>) * FALL_PER_CELL)})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spawn_index</a:t>
            </a:r>
            <a:r>
              <a:rPr lang="en-US" altLang="zh-CN" sz="2000" dirty="0">
                <a:latin typeface="Consolas" panose="020B0609020204030204" pitchFamily="49" charset="0"/>
              </a:rPr>
              <a:t> += 1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</a:t>
            </a:r>
            <a:r>
              <a:rPr lang="en-US" altLang="zh-CN" sz="2000" dirty="0" err="1">
                <a:latin typeface="Consolas" panose="020B0609020204030204" pitchFamily="49" charset="0"/>
              </a:rPr>
              <a:t>write_row</a:t>
            </a:r>
            <a:r>
              <a:rPr lang="en-US" altLang="zh-CN" sz="2000" dirty="0">
                <a:latin typeface="Consolas" panose="020B0609020204030204" pitchFamily="49" charset="0"/>
              </a:rPr>
              <a:t> -= 1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7282A946-99BA-06AB-6833-CD06FC2CE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补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货再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记账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和</a:t>
            </a:r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随机颜色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186391-0B9B-041A-6C75-2944001D64B7}"/>
              </a:ext>
            </a:extLst>
          </p:cNvPr>
          <p:cNvSpPr/>
          <p:nvPr/>
        </p:nvSpPr>
        <p:spPr>
          <a:xfrm>
            <a:off x="152400" y="1737134"/>
            <a:ext cx="11887199" cy="2372750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10F18AE-B058-B9E1-FB05-1C0B1A90F39D}"/>
              </a:ext>
            </a:extLst>
          </p:cNvPr>
          <p:cNvSpPr txBox="1"/>
          <p:nvPr/>
        </p:nvSpPr>
        <p:spPr>
          <a:xfrm>
            <a:off x="333999" y="1802785"/>
            <a:ext cx="259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因为一行放不下所有代码所以就只好这样排版了私密马赛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1E9604-D80B-94B1-83DE-F4D53AB56671}"/>
              </a:ext>
            </a:extLst>
          </p:cNvPr>
          <p:cNvSpPr txBox="1"/>
          <p:nvPr/>
        </p:nvSpPr>
        <p:spPr>
          <a:xfrm>
            <a:off x="569203" y="4584463"/>
            <a:ext cx="1081548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先放屏幕外再记账</a:t>
            </a:r>
            <a:r>
              <a:rPr lang="zh-CN" altLang="zh-CN" sz="2400" dirty="0"/>
              <a:t>：position 先设到起点（屏幕外）、grid 写入数据表，再记一笔下落账——和压实段</a:t>
            </a:r>
          </a:p>
          <a:p>
            <a:r>
              <a:rPr lang="zh-CN" altLang="zh-CN" sz="2400" b="1" dirty="0"/>
              <a:t>random_gem_type() 颜色随机</a:t>
            </a:r>
            <a:r>
              <a:rPr lang="en-US" altLang="zh-CN" sz="2400" b="1" dirty="0"/>
              <a:t> </a:t>
            </a:r>
            <a:r>
              <a:rPr lang="zh-CN" altLang="zh-CN" sz="2400" dirty="0"/>
              <a:t>→ 补完可能又凑出新三消 → </a:t>
            </a:r>
            <a:r>
              <a:rPr lang="zh-CN" altLang="zh-CN" sz="2400" b="1" dirty="0"/>
              <a:t>连锁的源头</a:t>
            </a:r>
            <a:r>
              <a:rPr lang="zh-CN" altLang="en-US" sz="2400" b="1" dirty="0"/>
              <a:t>之一</a:t>
            </a:r>
            <a:r>
              <a:rPr lang="zh-CN" altLang="zh-CN" sz="2400" dirty="0"/>
              <a:t>（第二部分 resolve_board 总装揭晓）</a:t>
            </a:r>
          </a:p>
        </p:txBody>
      </p:sp>
    </p:spTree>
    <p:extLst>
      <p:ext uri="{BB962C8B-B14F-4D97-AF65-F5344CB8AC3E}">
        <p14:creationId xmlns:p14="http://schemas.microsoft.com/office/powerpoint/2010/main" val="18493583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CC5EFA8-ADF5-B467-74AB-4A8A599724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735" y="1651898"/>
            <a:ext cx="11926529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if </a:t>
            </a:r>
            <a:r>
              <a:rPr lang="en-US" altLang="zh-CN" sz="2000" dirty="0" err="1">
                <a:latin typeface="Consolas" panose="020B0609020204030204" pitchFamily="49" charset="0"/>
              </a:rPr>
              <a:t>movers.is_empty</a:t>
            </a:r>
            <a:r>
              <a:rPr lang="en-US" altLang="zh-CN" sz="200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return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tween: Tween = </a:t>
            </a:r>
            <a:r>
              <a:rPr lang="en-US" altLang="zh-CN" sz="2000" dirty="0" err="1">
                <a:latin typeface="Consolas" panose="020B0609020204030204" pitchFamily="49" charset="0"/>
              </a:rPr>
              <a:t>create_tween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 err="1">
                <a:latin typeface="Consolas" panose="020B0609020204030204" pitchFamily="49" charset="0"/>
              </a:rPr>
              <a:t>tween.set_parallel</a:t>
            </a:r>
            <a:r>
              <a:rPr lang="en-US" altLang="zh-CN" sz="2000" dirty="0">
                <a:latin typeface="Consolas" panose="020B0609020204030204" pitchFamily="49" charset="0"/>
              </a:rPr>
              <a:t>(true)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 item in movers: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 err="1">
                <a:latin typeface="Consolas" panose="020B0609020204030204" pitchFamily="49" charset="0"/>
              </a:rPr>
              <a:t>tween.tween_property</a:t>
            </a:r>
            <a:r>
              <a:rPr lang="en-US" altLang="zh-CN" sz="2000" dirty="0">
                <a:latin typeface="Consolas" panose="020B0609020204030204" pitchFamily="49" charset="0"/>
              </a:rPr>
              <a:t>(item["gem"] as Gem, "position", item["target"] as Vector2, item["duration"] as float)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await </a:t>
            </a:r>
            <a:r>
              <a:rPr lang="en-US" altLang="zh-CN" sz="2000" dirty="0" err="1">
                <a:latin typeface="Consolas" panose="020B0609020204030204" pitchFamily="49" charset="0"/>
              </a:rPr>
              <a:t>tween.finished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0B5FAE4-4403-6B45-2B40-BEFA1F277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统一播放 + 验证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B248B1A-30BA-7907-4882-7E9A8598D98F}"/>
              </a:ext>
            </a:extLst>
          </p:cNvPr>
          <p:cNvSpPr/>
          <p:nvPr/>
        </p:nvSpPr>
        <p:spPr>
          <a:xfrm>
            <a:off x="113070" y="1543665"/>
            <a:ext cx="11926529" cy="320531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1ABAFDD-A4D7-BAB2-46E5-2989888369F9}"/>
              </a:ext>
            </a:extLst>
          </p:cNvPr>
          <p:cNvSpPr txBox="1"/>
          <p:nvPr/>
        </p:nvSpPr>
        <p:spPr>
          <a:xfrm>
            <a:off x="9463547" y="1651898"/>
            <a:ext cx="25957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C00000"/>
                </a:solidFill>
              </a:rPr>
              <a:t>因为一行放不下所有代码所以就只好这样排版了私密马赛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5521EA1-7D56-8E86-48E4-49EB7CF9F272}"/>
              </a:ext>
            </a:extLst>
          </p:cNvPr>
          <p:cNvSpPr txBox="1"/>
          <p:nvPr/>
        </p:nvSpPr>
        <p:spPr>
          <a:xfrm>
            <a:off x="206477" y="5132439"/>
            <a:ext cx="116413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一个并行 Tween 一起播</a:t>
            </a:r>
            <a:r>
              <a:rPr lang="zh-CN" altLang="zh-CN" sz="2400" dirty="0"/>
              <a:t>：所有宝石</a:t>
            </a:r>
            <a:r>
              <a:rPr lang="zh-CN" altLang="zh-CN" sz="2400" b="1" dirty="0"/>
              <a:t>同时开始、同时结束</a:t>
            </a:r>
            <a:r>
              <a:rPr lang="zh-CN" altLang="zh-CN" sz="2400" dirty="0"/>
              <a:t>，观感统一；只 await 一次</a:t>
            </a:r>
          </a:p>
          <a:p>
            <a:r>
              <a:rPr lang="zh-CN" altLang="zh-CN" sz="2400" b="1" dirty="0"/>
              <a:t>movers.is_empty() 防御</a:t>
            </a:r>
            <a:r>
              <a:rPr lang="zh-CN" altLang="zh-CN" sz="2400" dirty="0"/>
              <a:t>：没宝石要动就直接返回，不白开 Tween</a:t>
            </a:r>
          </a:p>
        </p:txBody>
      </p:sp>
    </p:spTree>
    <p:extLst>
      <p:ext uri="{BB962C8B-B14F-4D97-AF65-F5344CB8AC3E}">
        <p14:creationId xmlns:p14="http://schemas.microsoft.com/office/powerpoint/2010/main" val="38020243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AAFAC78-BB67-7C1A-85FA-59403D44E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8" y="1796129"/>
            <a:ext cx="10740884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这节课的</a:t>
            </a:r>
            <a:r>
              <a:rPr lang="en-US" altLang="zh-CN" dirty="0"/>
              <a:t>part1</a:t>
            </a:r>
            <a:r>
              <a:rPr lang="zh-CN" altLang="en-US" dirty="0"/>
              <a:t>：下落和填充 完成！</a:t>
            </a:r>
            <a:br>
              <a:rPr lang="en-US" altLang="zh-CN" dirty="0"/>
            </a:br>
            <a:r>
              <a:rPr lang="zh-CN" altLang="en-US" dirty="0"/>
              <a:t>对应</a:t>
            </a:r>
            <a:r>
              <a:rPr lang="en-US" altLang="zh-CN" b="1" dirty="0" err="1">
                <a:latin typeface="Consolas" panose="020B0609020204030204" pitchFamily="49" charset="0"/>
              </a:rPr>
              <a:t>resolve_board</a:t>
            </a:r>
            <a:r>
              <a:rPr lang="en-US" altLang="zh-CN" b="1" dirty="0">
                <a:latin typeface="Consolas" panose="020B0609020204030204" pitchFamily="49" charset="0"/>
              </a:rPr>
              <a:t>() </a:t>
            </a:r>
            <a:r>
              <a:rPr lang="zh-CN" altLang="en-US" dirty="0">
                <a:latin typeface="Consolas" panose="020B0609020204030204" pitchFamily="49" charset="0"/>
              </a:rPr>
              <a:t>的③ </a:t>
            </a:r>
            <a:r>
              <a:rPr lang="en-US" altLang="zh-CN" dirty="0">
                <a:latin typeface="Consolas" panose="020B0609020204030204" pitchFamily="49" charset="0"/>
              </a:rPr>
              <a:t>~</a:t>
            </a: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</a:rPr>
              <a:t>但</a:t>
            </a:r>
            <a:r>
              <a:rPr lang="en-US" altLang="zh-CN" dirty="0" err="1">
                <a:latin typeface="Consolas" panose="020B0609020204030204" pitchFamily="49" charset="0"/>
              </a:rPr>
              <a:t>resolve_board</a:t>
            </a:r>
            <a:r>
              <a:rPr lang="zh-CN" altLang="en-US" dirty="0">
                <a:latin typeface="Consolas" panose="020B0609020204030204" pitchFamily="49" charset="0"/>
              </a:rPr>
              <a:t>（）还没总装，（现在程序只知道怎么填空但还没有清理空白的方式）所以现在按</a:t>
            </a:r>
            <a:r>
              <a:rPr lang="en-US" altLang="zh-CN" dirty="0">
                <a:latin typeface="Consolas" panose="020B0609020204030204" pitchFamily="49" charset="0"/>
              </a:rPr>
              <a:t>F5</a:t>
            </a:r>
            <a:r>
              <a:rPr lang="zh-CN" altLang="en-US" dirty="0">
                <a:latin typeface="Consolas" panose="020B0609020204030204" pitchFamily="49" charset="0"/>
              </a:rPr>
              <a:t>还不能验证</a:t>
            </a:r>
            <a:r>
              <a:rPr lang="en-US" altLang="zh-CN" dirty="0">
                <a:latin typeface="Consolas" panose="020B0609020204030204" pitchFamily="49" charset="0"/>
              </a:rPr>
              <a:t>~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120DCD1-80F5-6711-D617-69A0E933A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达成成就：她转起来了！</a:t>
            </a:r>
          </a:p>
        </p:txBody>
      </p:sp>
      <p:pic>
        <p:nvPicPr>
          <p:cNvPr id="4" name="图片 3" descr="Normal">
            <a:extLst>
              <a:ext uri="{FF2B5EF4-FFF2-40B4-BE49-F238E27FC236}">
                <a16:creationId xmlns:a16="http://schemas.microsoft.com/office/drawing/2014/main" id="{0E2F7D04-DB52-69C0-3DA9-2C6DDF227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8942" y="710533"/>
            <a:ext cx="2857500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8569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3EF3B8D-3723-A269-DE0D-955DA52E8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559" y="1825624"/>
            <a:ext cx="10740884" cy="48799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函数就像</a:t>
            </a:r>
            <a:r>
              <a:rPr lang="zh-CN" altLang="en-US" b="1" dirty="0"/>
              <a:t>榨汁机</a:t>
            </a:r>
            <a:r>
              <a:rPr lang="zh-CN" altLang="en-US" dirty="0"/>
              <a:t>，你把水果塞进去，最后得到的是果汁</a:t>
            </a:r>
            <a:endParaRPr lang="en-US" altLang="zh-CN" dirty="0"/>
          </a:p>
          <a:p>
            <a:pPr marL="0" indent="0">
              <a:buNone/>
            </a:pPr>
            <a:r>
              <a:rPr lang="zh-CN" altLang="zh-CN" b="1" dirty="0"/>
              <a:t>   </a:t>
            </a:r>
            <a:r>
              <a:rPr lang="en-US" altLang="zh-CN" b="1" dirty="0"/>
              <a:t> </a:t>
            </a:r>
            <a:r>
              <a:rPr lang="zh-CN" altLang="zh-CN" b="1" dirty="0"/>
              <a:t>  ┌───────────────┐</a:t>
            </a:r>
          </a:p>
          <a:p>
            <a:pPr marL="0" indent="0">
              <a:buNone/>
            </a:pPr>
            <a:r>
              <a:rPr lang="zh-CN" altLang="zh-CN" b="1" dirty="0"/>
              <a:t>  </a:t>
            </a:r>
            <a:r>
              <a:rPr lang="en-US" altLang="zh-CN" b="1" dirty="0"/>
              <a:t> </a:t>
            </a:r>
            <a:r>
              <a:rPr lang="zh-CN" altLang="zh-CN" b="1" dirty="0"/>
              <a:t>水果 ──▶  榨汁机    ──▶ 果汁</a:t>
            </a:r>
            <a:endParaRPr lang="en-US" altLang="zh-CN" b="1" dirty="0"/>
          </a:p>
          <a:p>
            <a:pPr marL="0" indent="0">
              <a:buNone/>
            </a:pPr>
            <a:r>
              <a:rPr lang="zh-CN" altLang="zh-CN" b="1" dirty="0"/>
              <a:t>（输入）  </a:t>
            </a:r>
            <a:r>
              <a:rPr lang="en-US" altLang="zh-CN" b="1" dirty="0"/>
              <a:t>   </a:t>
            </a:r>
            <a:r>
              <a:rPr lang="zh-CN" altLang="zh-CN" b="1" dirty="0"/>
              <a:t>（处理）    </a:t>
            </a:r>
            <a:r>
              <a:rPr lang="en-US" altLang="zh-CN" b="1" dirty="0"/>
              <a:t>    </a:t>
            </a:r>
            <a:r>
              <a:rPr lang="zh-CN" altLang="zh-CN" b="1" dirty="0"/>
              <a:t>（输出）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2400" dirty="0"/>
              <a:t>作为用户和其他调用的程序，他们只需要</a:t>
            </a:r>
            <a:r>
              <a:rPr lang="zh-CN" altLang="en-US" sz="2400" b="1" dirty="0"/>
              <a:t>放入水果</a:t>
            </a:r>
            <a:r>
              <a:rPr lang="zh-CN" altLang="en-US" sz="2400" dirty="0"/>
              <a:t>，</a:t>
            </a:r>
            <a:r>
              <a:rPr lang="zh-CN" altLang="en-US" sz="2400" b="1" dirty="0"/>
              <a:t>等待果汁</a:t>
            </a:r>
            <a:r>
              <a:rPr lang="zh-CN" altLang="en-US" sz="2400" dirty="0"/>
              <a:t>即可，我们做的则是榨汁机内部的配件</a:t>
            </a:r>
            <a:r>
              <a:rPr lang="en-US" altLang="zh-CN" sz="2400" dirty="0"/>
              <a:t>~</a:t>
            </a:r>
          </a:p>
          <a:p>
            <a:pPr marL="0" indent="0">
              <a:buNone/>
            </a:pPr>
            <a:r>
              <a:rPr lang="zh-CN" altLang="en-US" sz="2400" dirty="0"/>
              <a:t>为了能榨果汁，我们需要制作：水果的入口（杯盖），马达</a:t>
            </a:r>
            <a:r>
              <a:rPr lang="en-US" altLang="zh-CN" sz="2400" dirty="0"/>
              <a:t>/</a:t>
            </a:r>
            <a:r>
              <a:rPr lang="zh-CN" altLang="en-US" sz="2400" dirty="0"/>
              <a:t>刀片</a:t>
            </a:r>
            <a:r>
              <a:rPr lang="en-US" altLang="zh-CN" sz="2400" dirty="0"/>
              <a:t>/</a:t>
            </a:r>
            <a:r>
              <a:rPr lang="zh-CN" altLang="en-US" sz="2400" dirty="0"/>
              <a:t>供电装置</a:t>
            </a:r>
            <a:r>
              <a:rPr lang="en-US" altLang="zh-CN" sz="2400" dirty="0"/>
              <a:t>/</a:t>
            </a:r>
            <a:r>
              <a:rPr lang="zh-CN" altLang="en-US" sz="2400" dirty="0"/>
              <a:t>结实的内壁，以及果汁的出口（槽口）等部分来组成榨汁机，这对应着函数中的</a:t>
            </a:r>
            <a:r>
              <a:rPr lang="zh-CN" altLang="en-US" sz="2400" dirty="0">
                <a:solidFill>
                  <a:srgbClr val="FF0000"/>
                </a:solidFill>
              </a:rPr>
              <a:t>“输入 → 处理 → 输出”</a:t>
            </a:r>
            <a:r>
              <a:rPr lang="zh-CN" altLang="en-US" sz="2400" dirty="0"/>
              <a:t>三个部分</a:t>
            </a:r>
            <a:r>
              <a:rPr lang="en-US" altLang="zh-CN" sz="2400" dirty="0"/>
              <a:t>~</a:t>
            </a: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E253EA6-1BFE-2CEB-AECF-C931DF649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Part2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正式开始之前，请允许我正式介绍</a:t>
            </a:r>
            <a:r>
              <a:rPr lang="zh-CN" altLang="en-US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</a:t>
            </a:r>
            <a:r>
              <a:rPr lang="en-US" altLang="zh-CN" dirty="0">
                <a:solidFill>
                  <a:srgbClr val="FF0000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solidFill>
                <a:srgbClr val="FF0000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84630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9D2E5C0-78CA-8F61-A633-62B0FC8239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Eg</a:t>
            </a:r>
            <a:r>
              <a:rPr lang="zh-CN" altLang="en-US" sz="2400" dirty="0">
                <a:latin typeface="Consolas" panose="020B0609020204030204" pitchFamily="49" charset="0"/>
              </a:rPr>
              <a:t>：</a:t>
            </a: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zh-CN" altLang="zh-CN" sz="2400" dirty="0">
                <a:latin typeface="Consolas" panose="020B0609020204030204" pitchFamily="49" charset="0"/>
              </a:rPr>
              <a:t>func _calc_score(groups: Array) -&gt; int:</a:t>
            </a: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  </a:t>
            </a: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zh-CN" altLang="zh-CN" sz="2400" dirty="0">
                <a:latin typeface="Consolas" panose="020B0609020204030204" pitchFamily="49" charset="0"/>
              </a:rPr>
              <a:t># 函数体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 </a:t>
            </a:r>
            <a:r>
              <a:rPr lang="en-US" altLang="zh-CN" sz="2400" dirty="0">
                <a:latin typeface="Consolas" panose="020B0609020204030204" pitchFamily="49" charset="0"/>
              </a:rPr>
              <a:t>		</a:t>
            </a:r>
            <a:r>
              <a:rPr lang="zh-CN" altLang="zh-CN" sz="2400" dirty="0">
                <a:latin typeface="Consolas" panose="020B0609020204030204" pitchFamily="49" charset="0"/>
              </a:rPr>
              <a:t> pass        # pass = 空占位（什么都不做）</a:t>
            </a:r>
            <a:endParaRPr lang="en-US" altLang="zh-CN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zh-CN" altLang="zh-CN" sz="2400" dirty="0"/>
          </a:p>
          <a:p>
            <a:pPr marL="0" indent="0">
              <a:buNone/>
            </a:pPr>
            <a:r>
              <a:rPr lang="zh-CN" altLang="zh-CN" sz="2400" dirty="0"/>
              <a:t>1. func = 声明</a:t>
            </a:r>
            <a:r>
              <a:rPr lang="en-US" altLang="zh-CN" sz="2400" dirty="0"/>
              <a:t> </a:t>
            </a:r>
            <a:r>
              <a:rPr lang="zh-CN" altLang="zh-CN" sz="2400" dirty="0"/>
              <a:t>这是个函数</a:t>
            </a:r>
            <a:r>
              <a:rPr lang="en-US" altLang="zh-CN" sz="2400" dirty="0"/>
              <a:t> </a:t>
            </a:r>
            <a:r>
              <a:rPr lang="zh-CN" altLang="zh-CN" sz="2400" dirty="0"/>
              <a:t>（function 缩写）</a:t>
            </a:r>
          </a:p>
          <a:p>
            <a:pPr marL="0" indent="0">
              <a:buNone/>
            </a:pPr>
            <a:r>
              <a:rPr lang="zh-CN" altLang="zh-CN" sz="2400" dirty="0"/>
              <a:t>2. _calc_score = 函数名（下划线开头 = 私有，本文件内部用）</a:t>
            </a:r>
          </a:p>
          <a:p>
            <a:pPr marL="0" indent="0">
              <a:buNone/>
            </a:pPr>
            <a:r>
              <a:rPr lang="zh-CN" altLang="zh-CN" sz="2400" dirty="0"/>
              <a:t>3. (groups: Array) = </a:t>
            </a:r>
            <a:r>
              <a:rPr lang="zh-CN" altLang="zh-CN" sz="2400" b="1" dirty="0"/>
              <a:t>参数</a:t>
            </a:r>
            <a:r>
              <a:rPr lang="zh-CN" altLang="zh-CN" sz="2400" dirty="0"/>
              <a:t>：调用方传进来的输入，类型 Array（数组）</a:t>
            </a:r>
          </a:p>
          <a:p>
            <a:pPr marL="0" indent="0">
              <a:buNone/>
            </a:pPr>
            <a:r>
              <a:rPr lang="zh-CN" altLang="zh-CN" sz="2400" dirty="0"/>
              <a:t>4. -&gt; int = </a:t>
            </a:r>
            <a:r>
              <a:rPr lang="zh-CN" altLang="zh-CN" sz="2400" b="1" dirty="0"/>
              <a:t>返回类型</a:t>
            </a:r>
            <a:r>
              <a:rPr lang="zh-CN" altLang="zh-CN" sz="2400" dirty="0"/>
              <a:t>：这个函数最后给回一个整数（总分）——</a:t>
            </a:r>
            <a:r>
              <a:rPr lang="zh-CN" altLang="zh-CN" sz="2400" b="1" dirty="0"/>
              <a:t>写了 -&gt; int 就必须 return 整数</a:t>
            </a:r>
            <a:r>
              <a:rPr lang="zh-CN" altLang="zh-CN" sz="2400" dirty="0"/>
              <a:t>，否则报错</a:t>
            </a: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E985ED8B-63AA-741C-488B-21243DDCC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函数的样子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33A942-A94B-910E-5610-EEE7C6E69BDD}"/>
              </a:ext>
            </a:extLst>
          </p:cNvPr>
          <p:cNvSpPr/>
          <p:nvPr/>
        </p:nvSpPr>
        <p:spPr>
          <a:xfrm>
            <a:off x="725557" y="1700980"/>
            <a:ext cx="8585591" cy="161249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036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1365A019-DB2F-62B0-FF21-2AA8E5398C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6310" y="1825625"/>
            <a:ext cx="11562735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CN" altLang="zh-CN" dirty="0"/>
              <a:t>需求：</a:t>
            </a:r>
          </a:p>
          <a:p>
            <a:pPr marL="457200" lvl="1" indent="0">
              <a:buNone/>
            </a:pPr>
            <a:r>
              <a:rPr lang="zh-CN" altLang="zh-CN" sz="2800" dirty="0"/>
              <a:t>  输入：groups（匹配组数组）——每组是 ≥3 个同色宝石的列表</a:t>
            </a:r>
          </a:p>
          <a:p>
            <a:pPr marL="457200" lvl="1" indent="0">
              <a:buNone/>
            </a:pPr>
            <a:r>
              <a:rPr lang="zh-CN" altLang="zh-CN" sz="2800" dirty="0"/>
              <a:t>  输出：</a:t>
            </a:r>
            <a:r>
              <a:rPr lang="zh-CN" altLang="en-US" sz="2800" dirty="0"/>
              <a:t>基础</a:t>
            </a:r>
            <a:r>
              <a:rPr lang="zh-CN" altLang="zh-CN" sz="2800" dirty="0"/>
              <a:t>总分（int）</a:t>
            </a:r>
          </a:p>
          <a:p>
            <a:pPr marL="457200" lvl="1" indent="0">
              <a:buNone/>
            </a:pPr>
            <a:r>
              <a:rPr lang="zh-CN" altLang="zh-CN" sz="2800" dirty="0"/>
              <a:t>  规则：每组 3 个 = 30 分，每多 1 个 +10</a:t>
            </a:r>
            <a:r>
              <a:rPr lang="zh-CN" altLang="en-US" sz="2800" dirty="0"/>
              <a:t>，</a:t>
            </a:r>
            <a:r>
              <a:rPr lang="zh-CN" altLang="zh-CN" sz="2800" dirty="0"/>
              <a:t>4 连 = 40 分，5 连 = 50 分…</a:t>
            </a:r>
            <a:endParaRPr lang="en-US" altLang="zh-CN" sz="2800" dirty="0"/>
          </a:p>
          <a:p>
            <a:pPr marL="457200" lvl="1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例子：</a:t>
            </a:r>
          </a:p>
          <a:p>
            <a:pPr marL="0" indent="0">
              <a:buNone/>
            </a:pPr>
            <a:r>
              <a:rPr lang="zh-CN" altLang="zh-CN" dirty="0"/>
              <a:t>  </a:t>
            </a:r>
            <a:r>
              <a:rPr lang="en-US" altLang="zh-CN" dirty="0"/>
              <a:t>	</a:t>
            </a:r>
            <a:r>
              <a:rPr lang="zh-CN" altLang="zh-CN" dirty="0"/>
              <a:t>[红红红, 蓝蓝蓝蓝]  →  30 + 40 = 70 分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zh-CN" dirty="0"/>
              <a:t>模板（签名已写好，函数体留空）：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zh-CN" altLang="zh-CN" dirty="0"/>
              <a:t>func _calc_score(groups: Array) -&gt; int:</a:t>
            </a:r>
            <a:r>
              <a:rPr lang="en-US" altLang="zh-CN" dirty="0"/>
              <a:t>   #</a:t>
            </a:r>
            <a:r>
              <a:rPr lang="zh-CN" altLang="en-US" dirty="0"/>
              <a:t>输入的是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		</a:t>
            </a:r>
            <a:r>
              <a:rPr lang="zh-CN" altLang="zh-CN" dirty="0"/>
              <a:t># TODO：你来填</a:t>
            </a:r>
          </a:p>
          <a:p>
            <a:pPr marL="0" indent="0">
              <a:buNone/>
            </a:pPr>
            <a:r>
              <a:rPr lang="en-US" altLang="zh-CN" dirty="0"/>
              <a:t>		pass #</a:t>
            </a:r>
            <a:r>
              <a:rPr lang="zh-CN" altLang="en-US" dirty="0"/>
              <a:t>让我们先</a:t>
            </a:r>
            <a:r>
              <a:rPr lang="en-US" altLang="zh-CN" dirty="0"/>
              <a:t>pass</a:t>
            </a:r>
            <a:r>
              <a:rPr lang="zh-CN" altLang="en-US" dirty="0"/>
              <a:t>掉这个函数，需求先给你，然后我们看后续怎样调用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B4395DB-ED52-8FA8-7334-D44210688A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现在轮到你了：</a:t>
            </a:r>
            <a:r>
              <a:rPr lang="zh-CN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完成 “</a:t>
            </a:r>
            <a:r>
              <a:rPr lang="zh-CN" altLang="zh-CN" dirty="0">
                <a:latin typeface="Consolas" panose="020B0609020204030204" pitchFamily="49" charset="0"/>
              </a:rPr>
              <a:t>_calc_score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“</a:t>
            </a:r>
          </a:p>
        </p:txBody>
      </p:sp>
    </p:spTree>
    <p:extLst>
      <p:ext uri="{BB962C8B-B14F-4D97-AF65-F5344CB8AC3E}">
        <p14:creationId xmlns:p14="http://schemas.microsoft.com/office/powerpoint/2010/main" val="32342167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26F8845-82E9-C1BA-5771-5B40D4EF27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clear_matches 里有一行：</a:t>
            </a:r>
          </a:p>
          <a:p>
            <a:pPr marL="457200" lvl="1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  </a:t>
            </a:r>
            <a:r>
              <a:rPr lang="zh-CN" altLang="zh-CN" dirty="0">
                <a:solidFill>
                  <a:srgbClr val="FF0000"/>
                </a:solidFill>
                <a:latin typeface="Consolas" panose="020B0609020204030204" pitchFamily="49" charset="0"/>
              </a:rPr>
              <a:t>var base: int = _calc_score(groups) </a:t>
            </a:r>
            <a:r>
              <a:rPr lang="zh-CN" altLang="zh-CN" dirty="0">
                <a:latin typeface="Consolas" panose="020B0609020204030204" pitchFamily="49" charset="0"/>
              </a:rPr>
              <a:t> 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zh-CN" dirty="0">
                <a:latin typeface="Consolas" panose="020B0609020204030204" pitchFamily="49" charset="0"/>
              </a:rPr>
              <a:t> # 算基础分</a:t>
            </a:r>
          </a:p>
          <a:p>
            <a:pPr marL="457200" lvl="1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  var gained: int = base * chain       </a:t>
            </a:r>
            <a:r>
              <a:rPr lang="en-US" altLang="zh-CN" dirty="0">
                <a:latin typeface="Consolas" panose="020B0609020204030204" pitchFamily="49" charset="0"/>
              </a:rPr>
              <a:t>  </a:t>
            </a:r>
            <a:r>
              <a:rPr lang="zh-CN" altLang="zh-CN" dirty="0">
                <a:latin typeface="Consolas" panose="020B0609020204030204" pitchFamily="49" charset="0"/>
              </a:rPr>
              <a:t># × 连锁倍率</a:t>
            </a:r>
          </a:p>
          <a:p>
            <a:pPr marL="457200" lvl="1" indent="0">
              <a:buNone/>
            </a:pPr>
            <a:r>
              <a:rPr lang="zh-CN" altLang="zh-CN" dirty="0">
                <a:latin typeface="Consolas" panose="020B0609020204030204" pitchFamily="49" charset="0"/>
              </a:rPr>
              <a:t>  score += gained                     </a:t>
            </a:r>
            <a:r>
              <a:rPr lang="en-US" altLang="zh-CN" dirty="0">
                <a:latin typeface="Consolas" panose="020B0609020204030204" pitchFamily="49" charset="0"/>
              </a:rPr>
              <a:t>   </a:t>
            </a:r>
            <a:r>
              <a:rPr lang="zh-CN" altLang="zh-CN" dirty="0">
                <a:latin typeface="Consolas" panose="020B0609020204030204" pitchFamily="49" charset="0"/>
              </a:rPr>
              <a:t># 加进总分</a:t>
            </a:r>
          </a:p>
          <a:p>
            <a:pPr marL="0" indent="0">
              <a:buNone/>
            </a:pPr>
            <a:br>
              <a:rPr lang="zh-CN" altLang="zh-CN" dirty="0"/>
            </a:b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→ clear_matches 需要 _calc_score 输出一个</a:t>
            </a:r>
            <a:r>
              <a:rPr lang="zh-CN" altLang="en-US" dirty="0"/>
              <a:t>“基础</a:t>
            </a:r>
            <a:r>
              <a:rPr lang="zh-CN" altLang="zh-CN" dirty="0"/>
              <a:t>总分 int</a:t>
            </a:r>
            <a:r>
              <a:rPr lang="zh-CN" altLang="en-US" dirty="0"/>
              <a:t>”</a:t>
            </a:r>
            <a:r>
              <a:rPr lang="zh-CN" altLang="zh-CN" dirty="0"/>
              <a:t>，</a:t>
            </a:r>
          </a:p>
          <a:p>
            <a:pPr marL="457200" lvl="1" indent="0">
              <a:buNone/>
            </a:pPr>
            <a:r>
              <a:rPr lang="zh-CN" altLang="zh-CN" dirty="0"/>
              <a:t>  它拿这个分 × chain 再加进 score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zh-CN" dirty="0"/>
              <a:t>这就是你要写的函数的"岗位职责“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074E54A8-6740-6F27-DF34-A78E24CC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Consolas" panose="020B0609020204030204" pitchFamily="49" charset="0"/>
              </a:rPr>
              <a:t>_calc_score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调用情况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96506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0D213BDD-D336-9FFF-A9A3-9CE691A52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408255"/>
            <a:ext cx="11680722" cy="31855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 _</a:t>
            </a:r>
            <a:r>
              <a:rPr lang="en-US" altLang="zh-CN" sz="2400" dirty="0" err="1">
                <a:latin typeface="Consolas" panose="020B0609020204030204" pitchFamily="49" charset="0"/>
              </a:rPr>
              <a:t>calc_score</a:t>
            </a:r>
            <a:r>
              <a:rPr lang="en-US" altLang="zh-CN" sz="2400" dirty="0">
                <a:latin typeface="Consolas" panose="020B0609020204030204" pitchFamily="49" charset="0"/>
              </a:rPr>
              <a:t>(groups: Array) -&gt; int: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var total := 0                          # ① </a:t>
            </a:r>
            <a:r>
              <a:rPr lang="zh-CN" altLang="en-US" sz="2400" dirty="0">
                <a:latin typeface="Consolas" panose="020B0609020204030204" pitchFamily="49" charset="0"/>
              </a:rPr>
              <a:t>定义总分，初始 </a:t>
            </a:r>
            <a:r>
              <a:rPr lang="en-US" altLang="zh-CN" sz="2400" dirty="0">
                <a:latin typeface="Consolas" panose="020B0609020204030204" pitchFamily="49" charset="0"/>
              </a:rPr>
              <a:t>0</a:t>
            </a:r>
          </a:p>
          <a:p>
            <a:pPr marL="0" indent="0"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for group in groups:                    # ② </a:t>
            </a:r>
            <a:r>
              <a:rPr lang="zh-CN" altLang="en-US" sz="2400" dirty="0">
                <a:latin typeface="Consolas" panose="020B0609020204030204" pitchFamily="49" charset="0"/>
              </a:rPr>
              <a:t>遍历每一组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>
                <a:latin typeface="Consolas" panose="020B0609020204030204" pitchFamily="49" charset="0"/>
              </a:rPr>
              <a:t>var n: int = </a:t>
            </a:r>
            <a:r>
              <a:rPr lang="en-US" altLang="zh-CN" sz="2400" dirty="0" err="1">
                <a:latin typeface="Consolas" panose="020B0609020204030204" pitchFamily="49" charset="0"/>
              </a:rPr>
              <a:t>group.size</a:t>
            </a:r>
            <a:r>
              <a:rPr lang="en-US" altLang="zh-CN" sz="2400" dirty="0">
                <a:latin typeface="Consolas" panose="020B0609020204030204" pitchFamily="49" charset="0"/>
              </a:rPr>
              <a:t>()          # ③ </a:t>
            </a:r>
            <a:r>
              <a:rPr lang="zh-CN" altLang="en-US" sz="2400" dirty="0">
                <a:latin typeface="Consolas" panose="020B0609020204030204" pitchFamily="49" charset="0"/>
              </a:rPr>
              <a:t>数一数这组几颗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	</a:t>
            </a:r>
            <a:r>
              <a:rPr lang="en-US" altLang="zh-CN" sz="2400" dirty="0">
                <a:latin typeface="Consolas" panose="020B0609020204030204" pitchFamily="49" charset="0"/>
              </a:rPr>
              <a:t>if n &gt;= 3:                         # ④ </a:t>
            </a:r>
            <a:r>
              <a:rPr lang="zh-CN" altLang="en-US" sz="2400" dirty="0">
                <a:latin typeface="Consolas" panose="020B0609020204030204" pitchFamily="49" charset="0"/>
              </a:rPr>
              <a:t>够 </a:t>
            </a:r>
            <a:r>
              <a:rPr lang="en-US" altLang="zh-CN" sz="2400" dirty="0">
                <a:latin typeface="Consolas" panose="020B0609020204030204" pitchFamily="49" charset="0"/>
              </a:rPr>
              <a:t>3 </a:t>
            </a:r>
            <a:r>
              <a:rPr lang="zh-CN" altLang="en-US" sz="2400" dirty="0">
                <a:latin typeface="Consolas" panose="020B0609020204030204" pitchFamily="49" charset="0"/>
              </a:rPr>
              <a:t>个才算分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		</a:t>
            </a:r>
            <a:r>
              <a:rPr lang="en-US" altLang="zh-CN" sz="2400" dirty="0">
                <a:latin typeface="Consolas" panose="020B0609020204030204" pitchFamily="49" charset="0"/>
              </a:rPr>
              <a:t>total += 30 + (n - 3) * 10   # ⑤ </a:t>
            </a:r>
            <a:r>
              <a:rPr lang="zh-CN" altLang="en-US" sz="2400" dirty="0">
                <a:latin typeface="Consolas" panose="020B0609020204030204" pitchFamily="49" charset="0"/>
              </a:rPr>
              <a:t>套公式累加基础分</a:t>
            </a:r>
          </a:p>
          <a:p>
            <a:pPr marL="0" indent="0"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return total                            # ⑥ </a:t>
            </a:r>
            <a:r>
              <a:rPr lang="zh-CN" altLang="en-US" sz="2400" dirty="0">
                <a:latin typeface="Consolas" panose="020B0609020204030204" pitchFamily="49" charset="0"/>
              </a:rPr>
              <a:t>交回基础总分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21C55D8-CFD6-8EF5-2012-A22F3B873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参考答案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9588D2-B6D8-053E-4584-A93060287FC9}"/>
              </a:ext>
            </a:extLst>
          </p:cNvPr>
          <p:cNvSpPr/>
          <p:nvPr/>
        </p:nvSpPr>
        <p:spPr>
          <a:xfrm>
            <a:off x="157315" y="1408255"/>
            <a:ext cx="11680722" cy="3146165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1930DD-0AB5-80BC-F3C8-EE7B318DAB0B}"/>
              </a:ext>
            </a:extLst>
          </p:cNvPr>
          <p:cNvSpPr txBox="1"/>
          <p:nvPr/>
        </p:nvSpPr>
        <p:spPr>
          <a:xfrm>
            <a:off x="157313" y="4556505"/>
            <a:ext cx="116807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>
                <a:solidFill>
                  <a:srgbClr val="FF0000"/>
                </a:solidFill>
              </a:rPr>
              <a:t>group 是循环自动创建的迭代变量，不用声明、不用写类型</a:t>
            </a:r>
            <a:r>
              <a:rPr lang="zh-CN" altLang="zh-CN" sz="2400" dirty="0"/>
              <a:t>，每转一圈它自动变成 groups 里的下一个元素</a:t>
            </a:r>
            <a:r>
              <a:rPr lang="zh-CN" altLang="en-US" sz="2400" dirty="0"/>
              <a:t>，</a:t>
            </a:r>
            <a:r>
              <a:rPr lang="zh-CN" altLang="zh-CN" sz="2400" dirty="0"/>
              <a:t>所以 group.size() 能直接用，是因为 group 已经"就位"了——它是当前这一组宝石，.size() 数它有几个</a:t>
            </a:r>
            <a:endParaRPr lang="en-US" altLang="zh-CN" sz="2400" dirty="0"/>
          </a:p>
          <a:p>
            <a:r>
              <a:rPr lang="en-US" altLang="zh-CN" sz="2400" dirty="0"/>
              <a:t>if</a:t>
            </a:r>
            <a:r>
              <a:rPr lang="zh-CN" altLang="en-US" sz="2400" dirty="0"/>
              <a:t>判断可能会多余，但这是</a:t>
            </a:r>
            <a:r>
              <a:rPr lang="zh-CN" altLang="en-US" sz="2400" b="1" dirty="0">
                <a:solidFill>
                  <a:srgbClr val="FF0000"/>
                </a:solidFill>
              </a:rPr>
              <a:t>保证不会出现负分污染数据库的保护性措施，</a:t>
            </a:r>
            <a:r>
              <a:rPr lang="zh-CN" altLang="en-US" sz="2400" dirty="0"/>
              <a:t>毕竟你不能保证甲方（调用方）会一定为你传入好数据，后续</a:t>
            </a:r>
            <a:r>
              <a:rPr lang="zh-CN" altLang="en-US" sz="2400" b="1" dirty="0"/>
              <a:t>其他人甚至你自己</a:t>
            </a:r>
            <a:r>
              <a:rPr lang="zh-CN" altLang="en-US" sz="2400" dirty="0"/>
              <a:t>写代码调用本函数也不见得守规矩（多人协作代码编写的经验之谈罢了）</a:t>
            </a:r>
            <a:endParaRPr lang="zh-CN" altLang="zh-CN" sz="2400" dirty="0"/>
          </a:p>
        </p:txBody>
      </p:sp>
    </p:spTree>
    <p:extLst>
      <p:ext uri="{BB962C8B-B14F-4D97-AF65-F5344CB8AC3E}">
        <p14:creationId xmlns:p14="http://schemas.microsoft.com/office/powerpoint/2010/main" val="32139215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F354C488-6217-4357-01B3-CC2419D0E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恭喜，这是可能是你人生中第一份完全诞生于你手中的，为游戏功能实现而编写的函数</a:t>
            </a:r>
            <a:r>
              <a:rPr lang="en-US" altLang="zh-CN" dirty="0"/>
              <a:t>~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在后面总装完成后你就可以验收自己的计分功能了</a:t>
            </a:r>
            <a:r>
              <a:rPr lang="en-US" altLang="zh-CN" dirty="0"/>
              <a:t>~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2077314-0EA8-E958-32AA-BE30A193F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达成成就：这不是铁镐么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6446487-564F-7D9F-8AC6-F6D9C5280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492" y="68183"/>
            <a:ext cx="1668309" cy="1668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1944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8DB14B98-E797-5FAF-74CC-C49033D436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8" y="1825625"/>
            <a:ext cx="11602064" cy="14190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signal score_changed(score: int)   # 分数变化 → HUD 刷新（L4</a:t>
            </a:r>
            <a:r>
              <a:rPr lang="zh-CN" altLang="en-US" sz="2400" dirty="0">
                <a:latin typeface="Consolas" panose="020B0609020204030204" pitchFamily="49" charset="0"/>
              </a:rPr>
              <a:t>再细讲</a:t>
            </a:r>
            <a:r>
              <a:rPr lang="zh-CN" altLang="zh-CN" sz="2400" dirty="0">
                <a:latin typeface="Consolas" panose="020B0609020204030204" pitchFamily="49" charset="0"/>
              </a:rPr>
              <a:t>）</a:t>
            </a: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signal match_cleared               # 开始消除 → Main 播消除音效</a:t>
            </a:r>
          </a:p>
          <a:p>
            <a:pPr marL="0" indent="0">
              <a:buNone/>
            </a:pPr>
            <a:r>
              <a:rPr lang="zh-CN" altLang="zh-CN" sz="2400" dirty="0">
                <a:latin typeface="Consolas" panose="020B0609020204030204" pitchFamily="49" charset="0"/>
              </a:rPr>
              <a:t>var score: int = 0                 # 当前分数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BCF7AB4-B8E7-CA08-BF22-4F38C3CA5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动手之前继续在脚本开头声明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~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FE7D2C-180C-4FF1-2EAE-B7B949DDEF17}"/>
              </a:ext>
            </a:extLst>
          </p:cNvPr>
          <p:cNvSpPr/>
          <p:nvPr/>
        </p:nvSpPr>
        <p:spPr>
          <a:xfrm>
            <a:off x="157315" y="1700982"/>
            <a:ext cx="11680722" cy="1543664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57B4C6-BDDC-CE5A-33A5-82368045AFD1}"/>
              </a:ext>
            </a:extLst>
          </p:cNvPr>
          <p:cNvSpPr txBox="1"/>
          <p:nvPr/>
        </p:nvSpPr>
        <p:spPr>
          <a:xfrm>
            <a:off x="550606" y="3805084"/>
            <a:ext cx="1093240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根据“用到就声明”的原则，接下来我们的代码会用到以下变量</a:t>
            </a:r>
            <a:r>
              <a:rPr lang="en-US" altLang="zh-CN" sz="2400" dirty="0"/>
              <a:t>/</a:t>
            </a:r>
            <a:r>
              <a:rPr lang="zh-CN" altLang="en-US" sz="2400" dirty="0"/>
              <a:t>信号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信号：</a:t>
            </a:r>
            <a:r>
              <a:rPr lang="en-US" altLang="zh-CN" sz="2400" dirty="0"/>
              <a:t>Godot</a:t>
            </a:r>
            <a:r>
              <a:rPr lang="zh-CN" altLang="en-US" sz="2400" dirty="0"/>
              <a:t>中内置的变量（</a:t>
            </a:r>
            <a:r>
              <a:rPr lang="en-US" altLang="zh-CN" sz="2400" dirty="0"/>
              <a:t>Var</a:t>
            </a:r>
            <a:r>
              <a:rPr lang="zh-CN" altLang="en-US" sz="2400" dirty="0"/>
              <a:t>），用于监听并响应事件，常用于在编辑器界面中进行连接匹配并节省代码，也让程序易于管理，这里声明</a:t>
            </a:r>
            <a:r>
              <a:rPr lang="en-US" altLang="zh-CN" sz="2400" dirty="0"/>
              <a:t>signal</a:t>
            </a:r>
            <a:r>
              <a:rPr lang="zh-CN" altLang="en-US" sz="2400" dirty="0"/>
              <a:t>在后续信号发出后则会传出以上你所声明的变量（和你括号中声明的参数）</a:t>
            </a:r>
          </a:p>
        </p:txBody>
      </p:sp>
    </p:spTree>
    <p:extLst>
      <p:ext uri="{BB962C8B-B14F-4D97-AF65-F5344CB8AC3E}">
        <p14:creationId xmlns:p14="http://schemas.microsoft.com/office/powerpoint/2010/main" val="13198272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4EF81F3F-E659-3520-B53E-8778251B5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981" y="1524000"/>
            <a:ext cx="11838038" cy="5014451"/>
          </a:xfrm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 err="1">
                <a:latin typeface="Consolas" panose="020B0609020204030204" pitchFamily="49" charset="0"/>
              </a:rPr>
              <a:t>func</a:t>
            </a:r>
            <a:r>
              <a:rPr lang="en-US" altLang="zh-CN" sz="2400" dirty="0">
                <a:latin typeface="Consolas" panose="020B0609020204030204" pitchFamily="49" charset="0"/>
              </a:rPr>
              <a:t> </a:t>
            </a:r>
            <a:r>
              <a:rPr lang="en-US" altLang="zh-CN" sz="2400" dirty="0" err="1">
                <a:latin typeface="Consolas" panose="020B0609020204030204" pitchFamily="49" charset="0"/>
              </a:rPr>
              <a:t>clear_matches</a:t>
            </a:r>
            <a:r>
              <a:rPr lang="en-US" altLang="zh-CN" sz="2400" dirty="0">
                <a:latin typeface="Consolas" panose="020B0609020204030204" pitchFamily="49" charset="0"/>
              </a:rPr>
              <a:t>(matches: Array, chain: int) -&gt; void: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match_cleared.emit</a:t>
            </a:r>
            <a:r>
              <a:rPr lang="en-US" altLang="zh-CN" sz="2400" dirty="0">
                <a:latin typeface="Consolas" panose="020B0609020204030204" pitchFamily="49" charset="0"/>
              </a:rPr>
              <a:t>()                  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发信号 →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Main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播消除音效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var groups: Array = </a:t>
            </a:r>
            <a:r>
              <a:rPr lang="en-US" altLang="zh-CN" sz="2400" dirty="0" err="1">
                <a:latin typeface="Consolas" panose="020B0609020204030204" pitchFamily="49" charset="0"/>
              </a:rPr>
              <a:t>find_match_groups</a:t>
            </a:r>
            <a:r>
              <a:rPr lang="en-US" altLang="zh-CN" sz="2400" dirty="0">
                <a:latin typeface="Consolas" panose="020B0609020204030204" pitchFamily="49" charset="0"/>
              </a:rPr>
              <a:t>()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L2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时的函数，按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组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计分（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3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个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=30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分）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var base: int = _</a:t>
            </a:r>
            <a:r>
              <a:rPr lang="en-US" altLang="zh-CN" sz="2400" dirty="0" err="1">
                <a:latin typeface="Consolas" panose="020B0609020204030204" pitchFamily="49" charset="0"/>
              </a:rPr>
              <a:t>calc_score</a:t>
            </a:r>
            <a:r>
              <a:rPr lang="en-US" altLang="zh-CN" sz="2400" dirty="0">
                <a:latin typeface="Consolas" panose="020B0609020204030204" pitchFamily="49" charset="0"/>
              </a:rPr>
              <a:t>(groups)   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←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实操函数在这被调用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var gained: int = base * chain        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连锁倍率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×2 ×3…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score += gained                       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计分发生在消除之前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 err="1">
                <a:latin typeface="Consolas" panose="020B0609020204030204" pitchFamily="49" charset="0"/>
              </a:rPr>
              <a:t>score_changed.emit</a:t>
            </a:r>
            <a:r>
              <a:rPr lang="en-US" altLang="zh-CN" sz="2400" dirty="0">
                <a:latin typeface="Consolas" panose="020B0609020204030204" pitchFamily="49" charset="0"/>
              </a:rPr>
              <a:t>(score)              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发信号 →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HUD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刷新分数</a:t>
            </a:r>
            <a:endParaRPr lang="en-US" altLang="zh-CN" sz="24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solidFill>
                  <a:schemeClr val="accent6"/>
                </a:solidFill>
                <a:latin typeface="Consolas" panose="020B0609020204030204" pitchFamily="49" charset="0"/>
              </a:rPr>
              <a:t>print(score)                            #</a:t>
            </a:r>
            <a:r>
              <a:rPr lang="zh-CN" altLang="en-US" sz="2400" dirty="0">
                <a:solidFill>
                  <a:schemeClr val="accent6"/>
                </a:solidFill>
                <a:latin typeface="Consolas" panose="020B0609020204030204" pitchFamily="49" charset="0"/>
              </a:rPr>
              <a:t>临时让你检查分数的代码，可选加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①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清数据（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grid 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置 </a:t>
            </a:r>
            <a:r>
              <a:rPr lang="en-US" altLang="zh-CN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null</a:t>
            </a:r>
            <a:r>
              <a:rPr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）先清数据后面再播放动画（数据与表现分离）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zh-CN" altLang="en-US" sz="2400" dirty="0">
                <a:latin typeface="Consolas" panose="020B0609020204030204" pitchFamily="49" charset="0"/>
              </a:rPr>
              <a:t>	</a:t>
            </a:r>
            <a:r>
              <a:rPr lang="en-US" altLang="zh-CN" sz="2400" dirty="0">
                <a:latin typeface="Consolas" panose="020B0609020204030204" pitchFamily="49" charset="0"/>
              </a:rPr>
              <a:t>for gem in matches: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if gem == null: continue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var g: Gem = gem as Gem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altLang="zh-CN" sz="2400" dirty="0">
                <a:latin typeface="Consolas" panose="020B0609020204030204" pitchFamily="49" charset="0"/>
              </a:rPr>
              <a:t>		grid[</a:t>
            </a:r>
            <a:r>
              <a:rPr lang="en-US" altLang="zh-CN" sz="2400" dirty="0" err="1">
                <a:latin typeface="Consolas" panose="020B0609020204030204" pitchFamily="49" charset="0"/>
              </a:rPr>
              <a:t>g.grid_pos.x</a:t>
            </a:r>
            <a:r>
              <a:rPr lang="en-US" altLang="zh-CN" sz="2400" dirty="0">
                <a:latin typeface="Consolas" panose="020B0609020204030204" pitchFamily="49" charset="0"/>
              </a:rPr>
              <a:t>][</a:t>
            </a:r>
            <a:r>
              <a:rPr lang="en-US" altLang="zh-CN" sz="2400" dirty="0" err="1">
                <a:latin typeface="Consolas" panose="020B0609020204030204" pitchFamily="49" charset="0"/>
              </a:rPr>
              <a:t>g.grid_pos.y</a:t>
            </a:r>
            <a:r>
              <a:rPr lang="en-US" altLang="zh-CN" sz="2400" dirty="0">
                <a:latin typeface="Consolas" panose="020B0609020204030204" pitchFamily="49" charset="0"/>
              </a:rPr>
              <a:t>] = null</a:t>
            </a:r>
            <a:endParaRPr lang="zh-CN" altLang="en-US" sz="24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553BC6-6BAC-9AD7-3F14-1F8DDF6C3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拼接 </a:t>
            </a:r>
            <a:r>
              <a:rPr lang="en-US" altLang="zh-CN" dirty="0" err="1">
                <a:latin typeface="Consolas" panose="020B0609020204030204" pitchFamily="49" charset="0"/>
              </a:rPr>
              <a:t>clear_matches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FB3B86-1287-92FA-3C13-4719E65A254F}"/>
              </a:ext>
            </a:extLst>
          </p:cNvPr>
          <p:cNvSpPr/>
          <p:nvPr/>
        </p:nvSpPr>
        <p:spPr>
          <a:xfrm>
            <a:off x="157315" y="1408255"/>
            <a:ext cx="11680722" cy="5238351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0563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23409C3C-286E-3B21-9B58-84186CB71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408255"/>
            <a:ext cx="11847872" cy="528751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②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并行播消除动画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——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只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await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第一颗，因为所有的消除动画时间相同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var first: Gem = null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for gem in matches: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var g2: Gem = gem as Gem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g2 == null: continue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first == null: first = g2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else: g2.animate_clear()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if first != null: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await </a:t>
            </a:r>
            <a:r>
              <a:rPr lang="en-US" altLang="zh-CN" sz="2000" dirty="0" err="1">
                <a:latin typeface="Consolas" panose="020B0609020204030204" pitchFamily="49" charset="0"/>
              </a:rPr>
              <a:t>first.animate_clear</a:t>
            </a:r>
            <a:r>
              <a:rPr lang="en-US" altLang="zh-CN" sz="2000" dirty="0">
                <a:latin typeface="Consolas" panose="020B0609020204030204" pitchFamily="49" charset="0"/>
              </a:rPr>
              <a:t>() 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</a:t>
            </a:r>
            <a:r>
              <a:rPr lang="zh-CN" altLang="zh-C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播放是并行的，等待是串行的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endParaRPr lang="en-US" altLang="zh-CN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# ③ 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动画后删节点，</a:t>
            </a:r>
            <a:r>
              <a:rPr lang="zh-CN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queue_free（安全延迟删除）先看消失动画，再从场景树移除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</a:t>
            </a:r>
            <a:r>
              <a:rPr lang="en-US" altLang="zh-CN" sz="2000" dirty="0">
                <a:latin typeface="Consolas" panose="020B0609020204030204" pitchFamily="49" charset="0"/>
              </a:rPr>
              <a:t>for gem in matches: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gem != null and </a:t>
            </a:r>
            <a:r>
              <a:rPr lang="en-US" altLang="zh-CN" sz="2000" dirty="0" err="1">
                <a:latin typeface="Consolas" panose="020B0609020204030204" pitchFamily="49" charset="0"/>
              </a:rPr>
              <a:t>is_instance_valid</a:t>
            </a:r>
            <a:r>
              <a:rPr lang="en-US" altLang="zh-CN" sz="2000" dirty="0">
                <a:latin typeface="Consolas" panose="020B0609020204030204" pitchFamily="49" charset="0"/>
              </a:rPr>
              <a:t>(gem):</a:t>
            </a:r>
          </a:p>
          <a:p>
            <a:pPr marL="0" indent="0">
              <a:lnSpc>
                <a:spcPct val="11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(gem as Gem).</a:t>
            </a:r>
            <a:r>
              <a:rPr lang="en-US" altLang="zh-CN" sz="2000" dirty="0" err="1">
                <a:latin typeface="Consolas" panose="020B0609020204030204" pitchFamily="49" charset="0"/>
              </a:rPr>
              <a:t>queue_free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  <a:endParaRPr lang="zh-CN" altLang="en-US" sz="2000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5B85057-7D8A-E29F-BE97-9632C1F8E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await + 删节点</a:t>
            </a:r>
            <a:endParaRPr lang="zh-CN" altLang="en-US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9DF8F82-225E-59DB-F87C-81F06DB73373}"/>
              </a:ext>
            </a:extLst>
          </p:cNvPr>
          <p:cNvSpPr/>
          <p:nvPr/>
        </p:nvSpPr>
        <p:spPr>
          <a:xfrm>
            <a:off x="157315" y="1408255"/>
            <a:ext cx="11680722" cy="5287513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831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53BA4DB7-A479-587C-E952-B079B604B9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 err="1">
                <a:latin typeface="Consolas" panose="020B0609020204030204" pitchFamily="49" charset="0"/>
              </a:rPr>
              <a:t>enum</a:t>
            </a:r>
            <a:r>
              <a:rPr lang="en-US" altLang="zh-CN" dirty="0">
                <a:latin typeface="Consolas" panose="020B0609020204030204" pitchFamily="49" charset="0"/>
              </a:rPr>
              <a:t> State { IDLE, SELECTED, SWAPPING, RESOLVING }</a:t>
            </a:r>
          </a:p>
          <a:p>
            <a:pPr marL="0" indent="0">
              <a:buNone/>
            </a:pP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en-US" dirty="0">
                <a:latin typeface="Consolas" panose="020B0609020204030204" pitchFamily="49" charset="0"/>
              </a:rPr>
              <a:t>还记得</a:t>
            </a:r>
            <a:r>
              <a:rPr lang="en-US" altLang="zh-CN" dirty="0">
                <a:latin typeface="Consolas" panose="020B0609020204030204" pitchFamily="49" charset="0"/>
              </a:rPr>
              <a:t>main.gd</a:t>
            </a:r>
            <a:r>
              <a:rPr lang="zh-CN" altLang="en-US" dirty="0">
                <a:latin typeface="Consolas" panose="020B0609020204030204" pitchFamily="49" charset="0"/>
              </a:rPr>
              <a:t>中声明的状态吗，接下来主要为后面两个状态补全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457200" lvl="1" indent="0">
              <a:buNone/>
            </a:pPr>
            <a:r>
              <a:rPr lang="zh-CN" altLang="zh-CN" dirty="0"/>
              <a:t>  SWAPPING  = 交换动画播放中 → 锁输入</a:t>
            </a:r>
          </a:p>
          <a:p>
            <a:pPr marL="457200" lvl="1" indent="0">
              <a:buNone/>
            </a:pPr>
            <a:r>
              <a:rPr lang="zh-CN" altLang="zh-CN" dirty="0"/>
              <a:t>  RESOLVING = 结算循环运行中 → 锁输入</a:t>
            </a:r>
          </a:p>
          <a:p>
            <a:pPr marL="0" indent="0">
              <a:buNone/>
            </a:pPr>
            <a:r>
              <a:rPr lang="en-US" altLang="zh-CN" dirty="0">
                <a:latin typeface="Consolas" panose="020B0609020204030204" pitchFamily="49" charset="0"/>
              </a:rPr>
              <a:t>L2</a:t>
            </a:r>
            <a:r>
              <a:rPr lang="zh-CN" altLang="en-US" dirty="0">
                <a:latin typeface="Consolas" panose="020B0609020204030204" pitchFamily="49" charset="0"/>
              </a:rPr>
              <a:t>中已写</a:t>
            </a:r>
            <a:r>
              <a:rPr lang="en-US" altLang="zh-CN" dirty="0">
                <a:latin typeface="Consolas" panose="020B0609020204030204" pitchFamily="49" charset="0"/>
              </a:rPr>
              <a:t>_</a:t>
            </a:r>
            <a:r>
              <a:rPr lang="en-US" altLang="zh-CN" dirty="0" err="1">
                <a:latin typeface="Consolas" panose="020B0609020204030204" pitchFamily="49" charset="0"/>
              </a:rPr>
              <a:t>unhandled_input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zh-CN" altLang="en-US" dirty="0">
                <a:latin typeface="Consolas" panose="020B0609020204030204" pitchFamily="49" charset="0"/>
              </a:rPr>
              <a:t>当处于以上两个状态时锁定输入</a:t>
            </a:r>
            <a:endParaRPr lang="en-US" altLang="zh-CN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zh-CN" altLang="zh-CN" sz="2000" dirty="0">
                <a:latin typeface="Consolas" panose="020B0609020204030204" pitchFamily="49" charset="0"/>
              </a:rPr>
              <a:t>func _unhandled_input(event: InputEvent) -&gt; void: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</a:t>
            </a:r>
            <a:r>
              <a:rPr lang="zh-CN" altLang="zh-CN" sz="2000" dirty="0">
                <a:latin typeface="Consolas" panose="020B0609020204030204" pitchFamily="49" charset="0"/>
              </a:rPr>
              <a:t>if state == State.SWAPPING or state == State.RESOLVING:</a:t>
            </a:r>
          </a:p>
          <a:p>
            <a:pPr marL="0" indent="0"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</a:t>
            </a:r>
            <a:r>
              <a:rPr lang="zh-CN" altLang="zh-CN" sz="2000" dirty="0">
                <a:latin typeface="Consolas" panose="020B0609020204030204" pitchFamily="49" charset="0"/>
              </a:rPr>
              <a:t>return          # 动画中：直接忽略点击</a:t>
            </a:r>
          </a:p>
          <a:p>
            <a:pPr marL="0" indent="0">
              <a:buNone/>
            </a:pP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9D89C1E-D9DF-164E-500F-6A693C063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状态机的后两个状态：</a:t>
            </a:r>
          </a:p>
        </p:txBody>
      </p:sp>
    </p:spTree>
    <p:extLst>
      <p:ext uri="{BB962C8B-B14F-4D97-AF65-F5344CB8AC3E}">
        <p14:creationId xmlns:p14="http://schemas.microsoft.com/office/powerpoint/2010/main" val="37372607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726537-5BDE-55D9-BBEC-4CE5080C58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zh-CN" altLang="zh-CN" dirty="0"/>
              <a:t>结算开始</a:t>
            </a:r>
          </a:p>
          <a:p>
            <a:pPr marL="0" indent="0">
              <a:buNone/>
            </a:pPr>
            <a:r>
              <a:rPr lang="zh-CN" altLang="zh-CN" dirty="0"/>
              <a:t>│</a:t>
            </a:r>
          </a:p>
          <a:p>
            <a:pPr marL="0" indent="0">
              <a:buNone/>
            </a:pPr>
            <a:r>
              <a:rPr lang="zh-CN" altLang="zh-CN" dirty="0"/>
              <a:t>└─ while true（无限循环）:</a:t>
            </a:r>
          </a:p>
          <a:p>
            <a:pPr marL="0" indent="0">
              <a:buNone/>
            </a:pPr>
            <a:r>
              <a:rPr lang="zh-CN" altLang="zh-CN" dirty="0"/>
              <a:t>     ├─ 检查：还有匹配吗？</a:t>
            </a:r>
          </a:p>
          <a:p>
            <a:pPr marL="0" indent="0">
              <a:buNone/>
            </a:pPr>
            <a:r>
              <a:rPr lang="zh-CN" altLang="zh-CN" dirty="0"/>
              <a:t>     │    ├─ 没有 → break（结算结束）</a:t>
            </a:r>
          </a:p>
          <a:p>
            <a:pPr marL="0" indent="0">
              <a:buNone/>
            </a:pPr>
            <a:r>
              <a:rPr lang="zh-CN" altLang="zh-CN" dirty="0"/>
              <a:t>     │    └─ 有 → 继续：</a:t>
            </a:r>
          </a:p>
          <a:p>
            <a:pPr marL="0" indent="0">
              <a:buNone/>
            </a:pPr>
            <a:r>
              <a:rPr lang="zh-CN" altLang="zh-CN" dirty="0"/>
              <a:t>     │         ├─ 消除 + 计分（第 1 次 ×1，第 2 次 ×2，第 3 次 ×3…）</a:t>
            </a:r>
          </a:p>
          <a:p>
            <a:pPr marL="0" indent="0">
              <a:buNone/>
            </a:pPr>
            <a:r>
              <a:rPr lang="zh-CN" altLang="zh-CN" dirty="0"/>
              <a:t>     │         ├─ 下落 + 顶部补新</a:t>
            </a:r>
          </a:p>
          <a:p>
            <a:pPr marL="0" indent="0">
              <a:buNone/>
            </a:pPr>
            <a:r>
              <a:rPr lang="zh-CN" altLang="zh-CN" dirty="0"/>
              <a:t>     │         └─ 回循环开头再检查 ← 连锁！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2161FDC-A342-EF7C-19D4-D8493F1F9A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resolve_board</a:t>
            </a:r>
            <a:r>
              <a:rPr lang="en-US" altLang="zh-CN" b="0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</a:t>
            </a:r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伪代码</a:t>
            </a:r>
          </a:p>
        </p:txBody>
      </p:sp>
    </p:spTree>
    <p:extLst>
      <p:ext uri="{BB962C8B-B14F-4D97-AF65-F5344CB8AC3E}">
        <p14:creationId xmlns:p14="http://schemas.microsoft.com/office/powerpoint/2010/main" val="29275361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7CF7DF01-3B98-16C3-CC14-53F747200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 err="1">
                <a:latin typeface="Consolas" panose="020B0609020204030204" pitchFamily="49" charset="0"/>
              </a:rPr>
              <a:t>func</a:t>
            </a:r>
            <a:r>
              <a:rPr lang="en-US" altLang="zh-CN" sz="2000" dirty="0">
                <a:latin typeface="Consolas" panose="020B0609020204030204" pitchFamily="49" charset="0"/>
              </a:rPr>
              <a:t> </a:t>
            </a:r>
            <a:r>
              <a:rPr lang="en-US" altLang="zh-CN" sz="2000" dirty="0" err="1">
                <a:latin typeface="Consolas" panose="020B0609020204030204" pitchFamily="49" charset="0"/>
              </a:rPr>
              <a:t>resolve_board</a:t>
            </a:r>
            <a:r>
              <a:rPr lang="en-US" altLang="zh-CN" sz="2000" dirty="0">
                <a:latin typeface="Consolas" panose="020B0609020204030204" pitchFamily="49" charset="0"/>
              </a:rPr>
              <a:t>() -&gt; void: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var chain := 1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while true: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var matches: Array = </a:t>
            </a:r>
            <a:r>
              <a:rPr lang="en-US" altLang="zh-CN" sz="2000" dirty="0" err="1">
                <a:latin typeface="Consolas" panose="020B0609020204030204" pitchFamily="49" charset="0"/>
              </a:rPr>
              <a:t>find_matches</a:t>
            </a:r>
            <a:r>
              <a:rPr lang="en-US" altLang="zh-CN" sz="2000" dirty="0">
                <a:latin typeface="Consolas" panose="020B0609020204030204" pitchFamily="49" charset="0"/>
              </a:rPr>
              <a:t>()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if </a:t>
            </a:r>
            <a:r>
              <a:rPr lang="en-US" altLang="zh-CN" sz="2000" dirty="0" err="1">
                <a:latin typeface="Consolas" panose="020B0609020204030204" pitchFamily="49" charset="0"/>
              </a:rPr>
              <a:t>matches.is_empty</a:t>
            </a:r>
            <a:r>
              <a:rPr lang="en-US" altLang="zh-CN" sz="2000" dirty="0">
                <a:latin typeface="Consolas" panose="020B0609020204030204" pitchFamily="49" charset="0"/>
              </a:rPr>
              <a:t>():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en-US" altLang="zh-CN" sz="2000" dirty="0">
                <a:latin typeface="Consolas" panose="020B0609020204030204" pitchFamily="49" charset="0"/>
              </a:rPr>
              <a:t>			break                        # </a:t>
            </a:r>
            <a:r>
              <a:rPr lang="zh-CN" altLang="en-US" sz="2000" dirty="0">
                <a:latin typeface="Consolas" panose="020B0609020204030204" pitchFamily="49" charset="0"/>
              </a:rPr>
              <a:t>没有匹配了，结算结束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>
                <a:latin typeface="Consolas" panose="020B0609020204030204" pitchFamily="49" charset="0"/>
              </a:rPr>
              <a:t>await </a:t>
            </a:r>
            <a:r>
              <a:rPr lang="en-US" altLang="zh-CN" sz="2000" dirty="0" err="1">
                <a:latin typeface="Consolas" panose="020B0609020204030204" pitchFamily="49" charset="0"/>
              </a:rPr>
              <a:t>clear_matches</a:t>
            </a:r>
            <a:r>
              <a:rPr lang="en-US" altLang="zh-CN" sz="2000" dirty="0">
                <a:latin typeface="Consolas" panose="020B0609020204030204" pitchFamily="49" charset="0"/>
              </a:rPr>
              <a:t>(matches, chain)   # </a:t>
            </a:r>
            <a:r>
              <a:rPr lang="zh-CN" altLang="en-US" sz="2000" dirty="0">
                <a:latin typeface="Consolas" panose="020B0609020204030204" pitchFamily="49" charset="0"/>
              </a:rPr>
              <a:t>消除 </a:t>
            </a:r>
            <a:r>
              <a:rPr lang="en-US" altLang="zh-CN" sz="2000" dirty="0">
                <a:latin typeface="Consolas" panose="020B0609020204030204" pitchFamily="49" charset="0"/>
              </a:rPr>
              <a:t>+ </a:t>
            </a:r>
            <a:r>
              <a:rPr lang="zh-CN" altLang="en-US" sz="2000" dirty="0">
                <a:latin typeface="Consolas" panose="020B0609020204030204" pitchFamily="49" charset="0"/>
              </a:rPr>
              <a:t>计分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>
                <a:latin typeface="Consolas" panose="020B0609020204030204" pitchFamily="49" charset="0"/>
              </a:rPr>
              <a:t>await </a:t>
            </a:r>
            <a:r>
              <a:rPr lang="en-US" altLang="zh-CN" sz="2000" dirty="0" err="1">
                <a:latin typeface="Consolas" panose="020B0609020204030204" pitchFamily="49" charset="0"/>
              </a:rPr>
              <a:t>fall_and_refill</a:t>
            </a:r>
            <a:r>
              <a:rPr lang="en-US" altLang="zh-CN" sz="2000" dirty="0">
                <a:latin typeface="Consolas" panose="020B0609020204030204" pitchFamily="49" charset="0"/>
              </a:rPr>
              <a:t>()               # </a:t>
            </a:r>
            <a:r>
              <a:rPr lang="zh-CN" altLang="en-US" sz="2000" dirty="0">
                <a:latin typeface="Consolas" panose="020B0609020204030204" pitchFamily="49" charset="0"/>
              </a:rPr>
              <a:t>下落 </a:t>
            </a:r>
            <a:r>
              <a:rPr lang="en-US" altLang="zh-CN" sz="2000" dirty="0">
                <a:latin typeface="Consolas" panose="020B0609020204030204" pitchFamily="49" charset="0"/>
              </a:rPr>
              <a:t>+ </a:t>
            </a:r>
            <a:r>
              <a:rPr lang="zh-CN" altLang="en-US" sz="2000" dirty="0">
                <a:latin typeface="Consolas" panose="020B0609020204030204" pitchFamily="49" charset="0"/>
              </a:rPr>
              <a:t>顶部补新</a:t>
            </a:r>
          </a:p>
          <a:p>
            <a:pPr marL="0" indent="0">
              <a:lnSpc>
                <a:spcPct val="100000"/>
              </a:lnSpc>
              <a:spcBef>
                <a:spcPts val="300"/>
              </a:spcBef>
              <a:buNone/>
            </a:pPr>
            <a:r>
              <a:rPr lang="zh-CN" altLang="en-US" sz="2000" dirty="0">
                <a:latin typeface="Consolas" panose="020B0609020204030204" pitchFamily="49" charset="0"/>
              </a:rPr>
              <a:t>		</a:t>
            </a:r>
            <a:r>
              <a:rPr lang="en-US" altLang="zh-CN" sz="2000" dirty="0">
                <a:latin typeface="Consolas" panose="020B0609020204030204" pitchFamily="49" charset="0"/>
              </a:rPr>
              <a:t>chain += 1                            # </a:t>
            </a:r>
            <a:r>
              <a:rPr lang="zh-CN" altLang="en-US" sz="2000" dirty="0">
                <a:latin typeface="Consolas" panose="020B0609020204030204" pitchFamily="49" charset="0"/>
              </a:rPr>
              <a:t>连锁次数 </a:t>
            </a:r>
            <a:r>
              <a:rPr lang="en-US" altLang="zh-CN" sz="2000" dirty="0">
                <a:latin typeface="Consolas" panose="020B0609020204030204" pitchFamily="49" charset="0"/>
              </a:rPr>
              <a:t>+1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9520FD13-0FE1-23F6-AEF4-2EE153289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最后的总装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4EE4912-34A5-3529-C8B6-2D10C0E064EA}"/>
              </a:ext>
            </a:extLst>
          </p:cNvPr>
          <p:cNvSpPr/>
          <p:nvPr/>
        </p:nvSpPr>
        <p:spPr>
          <a:xfrm>
            <a:off x="725557" y="1825625"/>
            <a:ext cx="9834288" cy="3287149"/>
          </a:xfrm>
          <a:prstGeom prst="rect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9577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B7B37ED7-6E7C-55C2-2AB7-1DED17E57D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4372" y="1474839"/>
            <a:ext cx="4525082" cy="4829943"/>
          </a:xfrm>
          <a:prstGeom prst="rect">
            <a:avLst/>
          </a:prstGeom>
        </p:spPr>
      </p:pic>
      <p:sp>
        <p:nvSpPr>
          <p:cNvPr id="3" name="标题 2">
            <a:extLst>
              <a:ext uri="{FF2B5EF4-FFF2-40B4-BE49-F238E27FC236}">
                <a16:creationId xmlns:a16="http://schemas.microsoft.com/office/drawing/2014/main" id="{86A58EB0-3525-FBFB-5423-D46969333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达成成就：来一局？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79A308C-1E51-5BBE-0E72-6576333CC75B}"/>
              </a:ext>
            </a:extLst>
          </p:cNvPr>
          <p:cNvSpPr txBox="1"/>
          <p:nvPr/>
        </p:nvSpPr>
        <p:spPr>
          <a:xfrm>
            <a:off x="698090" y="1720645"/>
            <a:ext cx="659744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恭喜，现在你已经完成了游戏中最重要的部分：</a:t>
            </a:r>
            <a:r>
              <a:rPr lang="zh-CN" altLang="en-US" sz="2800" dirty="0">
                <a:solidFill>
                  <a:srgbClr val="C00000"/>
                </a:solidFill>
              </a:rPr>
              <a:t>游戏循环</a:t>
            </a:r>
            <a:endParaRPr lang="en-US" altLang="zh-CN" sz="2800" dirty="0">
              <a:solidFill>
                <a:srgbClr val="C00000"/>
              </a:solidFill>
            </a:endParaRPr>
          </a:p>
          <a:p>
            <a:endParaRPr lang="en-US" altLang="zh-CN" sz="2800" dirty="0">
              <a:solidFill>
                <a:srgbClr val="C00000"/>
              </a:solidFill>
            </a:endParaRPr>
          </a:p>
          <a:p>
            <a:r>
              <a:rPr lang="zh-CN" altLang="en-US" sz="2800" dirty="0"/>
              <a:t>如果你添加了那段加绿的</a:t>
            </a:r>
            <a:endParaRPr lang="en-US" altLang="zh-CN" sz="2800" dirty="0"/>
          </a:p>
          <a:p>
            <a:r>
              <a:rPr lang="en-US" altLang="zh-CN" sz="2800" dirty="0">
                <a:solidFill>
                  <a:schemeClr val="accent6"/>
                </a:solidFill>
              </a:rPr>
              <a:t>print</a:t>
            </a:r>
            <a:r>
              <a:rPr lang="zh-CN" altLang="en-US" sz="2800" dirty="0"/>
              <a:t>，你则可以在</a:t>
            </a:r>
            <a:r>
              <a:rPr lang="zh-CN" altLang="en-US" sz="2800" b="1" dirty="0"/>
              <a:t>控制台</a:t>
            </a:r>
            <a:endParaRPr lang="en-US" altLang="zh-CN" sz="2800" b="1" dirty="0"/>
          </a:p>
          <a:p>
            <a:r>
              <a:rPr lang="zh-CN" altLang="en-US" sz="2800" dirty="0"/>
              <a:t>中检查到分数变化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19886E-ED91-D6BC-0F0D-532D9BDB2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0381" y="3057832"/>
            <a:ext cx="2723990" cy="324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595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ACA41B4A-AA7D-BB09-FD60-5FFD480D4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① 循环（T2）：while 有匹配 → 消除 → 下落 —— 连锁 = 循环重复</a:t>
            </a:r>
          </a:p>
          <a:p>
            <a:pPr marL="0" indent="0">
              <a:buNone/>
            </a:pPr>
            <a:r>
              <a:rPr lang="zh-CN" altLang="zh-CN" dirty="0"/>
              <a:t>② 串行（T3）：await tween.finished —— 动画之间必须等</a:t>
            </a:r>
          </a:p>
          <a:p>
            <a:pPr marL="0" indent="0">
              <a:buNone/>
            </a:pPr>
            <a:r>
              <a:rPr lang="zh-CN" altLang="zh-CN" dirty="0"/>
              <a:t>③ 函数：输入 → 处理 → 输出 —— 你写完了人生第一个函数！</a:t>
            </a:r>
            <a:br>
              <a:rPr lang="zh-CN" altLang="zh-CN" dirty="0"/>
            </a:b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完整循环再走一遍（F5）：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zh-CN" sz="2400" dirty="0"/>
              <a:t>交换 → 消除（缩小+淡出）→ 下落（恒速）→ 补新 → 可能连锁</a:t>
            </a:r>
          </a:p>
          <a:p>
            <a:pPr marL="0" indent="0">
              <a:buNone/>
            </a:pPr>
            <a:r>
              <a:rPr lang="en-US" altLang="zh-CN" sz="2400" dirty="0"/>
              <a:t>	</a:t>
            </a:r>
            <a:r>
              <a:rPr lang="zh-CN" altLang="zh-CN" sz="2400" dirty="0"/>
              <a:t>分数：基础分 × 连锁倍率，一路飙升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5B3DD23-2FEE-48C6-96D5-BBAFBB481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总结：</a:t>
            </a:r>
          </a:p>
        </p:txBody>
      </p:sp>
    </p:spTree>
    <p:extLst>
      <p:ext uri="{BB962C8B-B14F-4D97-AF65-F5344CB8AC3E}">
        <p14:creationId xmlns:p14="http://schemas.microsoft.com/office/powerpoint/2010/main" val="25932405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6EC8EA3B-15E0-9151-A8DD-15A39EAA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6000" dirty="0"/>
          </a:p>
          <a:p>
            <a:pPr marL="0" indent="0" algn="ctr">
              <a:buNone/>
            </a:pPr>
            <a:r>
              <a:rPr lang="zh-CN" altLang="en-US" sz="6000" dirty="0"/>
              <a:t>谢谢大家！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D42F526-56BB-DF57-8C76-81F03F76C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1699232"/>
      </p:ext>
    </p:extLst>
  </p:cSld>
  <p:clrMapOvr>
    <a:masterClrMapping/>
  </p:clrMapOvr>
</p:sld>
</file>

<file path=ppt/theme/theme1.xml><?xml version="1.0" encoding="utf-8"?>
<a:theme xmlns:a="http://schemas.openxmlformats.org/drawingml/2006/main" name="InfoCo PPT模板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演示文稿1" id="{F96998C9-D3D4-074E-89A7-692BD15AF1A0}" vid="{5F379A9C-F887-0E43-8519-9C6CB54CE4FD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</TotalTime>
  <Words>6522</Words>
  <Application>Microsoft Office PowerPoint</Application>
  <PresentationFormat>宽屏</PresentationFormat>
  <Paragraphs>304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8" baseType="lpstr">
      <vt:lpstr>Microsoft YaHei UI</vt:lpstr>
      <vt:lpstr>Arial</vt:lpstr>
      <vt:lpstr>Consolas</vt:lpstr>
      <vt:lpstr>Times New Roman</vt:lpstr>
      <vt:lpstr>InfoCo PPT模板</vt:lpstr>
      <vt:lpstr>Infoco*IGC 联合社课 游戏开发先导课</vt:lpstr>
      <vt:lpstr>L2 回顾</vt:lpstr>
      <vt:lpstr>游戏怎么转起来：</vt:lpstr>
      <vt:lpstr>L3内容速览和目标：</vt:lpstr>
      <vt:lpstr>认识Tween：</vt:lpstr>
      <vt:lpstr>为什么不用AnimationPlayer？</vt:lpstr>
      <vt:lpstr>动画：消除（缩小 + 淡出，同时进行）归属：gem.gd</vt:lpstr>
      <vt:lpstr>并行 ≠ 串行</vt:lpstr>
      <vt:lpstr>消除下落连锁速览：</vt:lpstr>
      <vt:lpstr>动手之前请回到board.gd并补充常量：</vt:lpstr>
      <vt:lpstr>逐步拼接fall_and_refill：</vt:lpstr>
      <vt:lpstr>先开一个“记账本”（movers）</vt:lpstr>
      <vt:lpstr>下落并压实棋盘</vt:lpstr>
      <vt:lpstr>算时长 + 记账</vt:lpstr>
      <vt:lpstr>补新循环 + 屏幕外起点</vt:lpstr>
      <vt:lpstr>补货再记账和随机颜色</vt:lpstr>
      <vt:lpstr>统一播放 + 验证</vt:lpstr>
      <vt:lpstr>达成成就：她转起来了！</vt:lpstr>
      <vt:lpstr>Part2正式开始之前，请允许我正式介绍函数~</vt:lpstr>
      <vt:lpstr>函数的样子</vt:lpstr>
      <vt:lpstr>现在轮到你了： 完成 “_calc_score “</vt:lpstr>
      <vt:lpstr>_calc_score 调用情况</vt:lpstr>
      <vt:lpstr>参考答案</vt:lpstr>
      <vt:lpstr>达成成就：这不是铁镐么</vt:lpstr>
      <vt:lpstr>动手之前继续在脚本开头声明~</vt:lpstr>
      <vt:lpstr>拼接 clear_matches</vt:lpstr>
      <vt:lpstr>await + 删节点</vt:lpstr>
      <vt:lpstr>状态机的后两个状态：</vt:lpstr>
      <vt:lpstr>resolve_board 伪代码</vt:lpstr>
      <vt:lpstr>最后的总装</vt:lpstr>
      <vt:lpstr>达成成就：来一局？</vt:lpstr>
      <vt:lpstr>总结：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mingqi he</dc:creator>
  <cp:lastModifiedBy>mingqi he</cp:lastModifiedBy>
  <cp:revision>23</cp:revision>
  <dcterms:created xsi:type="dcterms:W3CDTF">2026-09-08T02:55:37Z</dcterms:created>
  <dcterms:modified xsi:type="dcterms:W3CDTF">2026-09-10T08:55:41Z</dcterms:modified>
</cp:coreProperties>
</file>