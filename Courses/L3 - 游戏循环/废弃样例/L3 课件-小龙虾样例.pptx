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A688E-9FDA-59B3-B74A-82C18D466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392EA3-386B-E0C5-5DBC-FA321455D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3715A-5386-633E-2D89-F855B5AD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03E40A-6705-19F9-FC0B-669F00D0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180C3-B3A7-1C5D-E2EC-77BA1052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27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D74E9-75C8-1853-297D-B052857E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DC167-22C8-5FDB-899B-A9F6816C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0068D-7C93-190F-BF7C-79003108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C4ED5-4D0C-89E5-B40F-DCBEF6E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7F81-1245-ED87-7BCB-25653B3D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353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C953D-37ED-84FC-6CF7-92EFEF32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00041-5F5E-5944-42DA-F34057F9A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B38FD-D12D-953A-A84E-B6B93AD8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7523-FA4A-F79A-C38D-D0B7467C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0CA338-BA04-ED7A-7977-37C97EB2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74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2E200-2162-4C19-A867-EC45EDC4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A5808-052F-B91E-6E63-5F681A85B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EDC0E4-5E42-5497-36A2-7899BEDB2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16AE4E-46CC-3153-BF43-0305BEE4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7B5BCB-BCB6-DBCA-1AE5-1EB6D07B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D82F6A-9958-EF10-DF2A-C8504A67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8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7553A-7D0D-931C-7C0B-3BB6864D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5166E-B41C-FAF8-058D-845B845C8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9CC38-1572-120B-CE2B-2B5F017F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13AED5-FB50-F116-0425-9C68DF178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C13686-6334-57AE-5B6C-CB5F0FA72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A44E92-5DAF-5B3D-332B-5D7DD72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0358D7-E2DF-35DF-8893-CD24CC5A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6AE83A-3DCE-7359-820D-CF18CAF4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24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7F992-1CEC-CF70-1BAA-D3A0DB147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A80A22-7AD7-E08D-9451-46B528BD0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67016-B0B1-8A6A-A527-AAEF322F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112C4E-A82C-A87D-7E57-A7DBC6DD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23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9036A6-0C69-45A4-5426-592D16E0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47C57F-E80D-3E00-A28E-70974A38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B53FEF-BFDC-6CC8-53A0-19B04AE1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51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19D22-DE7A-8AD2-3FF5-D9076133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01796-0E77-AB7E-59E8-F44E34ADE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114AF-55BD-94BF-65B8-B424CE8D4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3568C4-EDC0-0F40-A85E-22483CAE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735A5-474E-B17B-18BF-4F7D567C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72E2E4-1951-AB88-5EB3-0618F59B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2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C782D-0115-C8E6-9AC6-673F733B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3FBED3-3D63-EA82-CA3E-43F31DC51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E28866-EB01-BB69-8CA9-C0648CD23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29D480-729A-8E13-4B39-428A02B0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ADE747-0656-39B3-874E-4B89D71D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A5AA65-3D6E-1CBE-81E3-6786FFEA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58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AF086-E626-9070-4E08-5464676A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E9641E-3321-5349-0F03-EB617251F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CD200-2817-9AA1-1804-2679A174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DD6C5-FB80-EB4A-DC3E-2457421B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EBC19D-8B5D-71B2-1013-7C22AE92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7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1556DB-D2D9-C470-F858-8D8BE4B7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7423F4-93C4-A2B6-28F6-5B85861F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347146-0607-FF2D-440E-741FEAC0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F77185-1E47-18D8-938C-81504B79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5DA51-2D5B-7DDF-DD10-B5A3D4F8A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35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AF52B-5465-7A48-95CC-3B1E27A4BFCA}" type="datetimeFigureOut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2026/8/27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1C3DBC-66A6-3747-B537-D9767DBD74A0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4624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E0C56D-70E1-AD1D-8EC4-F8056CAF4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DE0841-C32B-C633-3F04-A2792EC7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69D1A-D870-46AD-B610-1CA6C87F0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AED07-58B0-490A-8690-F56B04D5E0C0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B9112-AF41-4F87-7AEE-0BD50D935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4101A8-BCDB-2232-D51A-02242E3C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4560-D7F5-43A5-AA53-837E5F8DAB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3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83AF52B-5465-7A48-95CC-3B1E27A4BFCA}" type="datetimeFigureOut">
              <a:rPr kumimoji="1" lang="zh-CN" altLang="en-US" smtClean="0"/>
              <a:pPr/>
              <a:t>2026/8/27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41C3DBC-66A6-3747-B537-D9767DBD74A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L3 —— 游戏循环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240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B88A2"/>
                </a:solidFill>
                <a:latin typeface="微软雅黑"/>
                <a:ea typeface="微软雅黑"/>
              </a:rPr>
              <a:t>消除 → 下落 → 连锁：让三消真正"转"起来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By: pppig ｜ 联合社课 · 游戏开发先导课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⭐ 本课实操：写人生第一个函数 _calc_score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先看地图：从"交换成功"到"循环转起来"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7940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【伪代码 · 完整游戏循环】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交换成功（L2 已会）：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① 检查：还有没有三消？（find_matches）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② 有 → 消除 + 计分（clear_matches：分数 × 连锁次数）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③ 下落 + 顶部补新（fall_and_refill）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④ 回到 ① 再检查 ← 这就是"连锁"！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⑤ 没有三消了 → 结束（解锁输入）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445000"/>
            <a:ext cx="10744200" cy="1129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L2 留的黑盒 resolve_board 今天拆开：一个 while 循环，三件事反复做</a:t>
            </a:r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检查 → 消除 → 下落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第④步"回到①再检查"就是连锁——下落重新排列，可能又凑出新三消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上节课我们做到了什么？（回顾 L2）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7940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【交互层】点一下，游戏会反应：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点击 → world_to_grid → get_gem_at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→ 规则表：选中 / 取消 / 交换 / 换选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状态机：IDLE → SELECTED → SWAPPING → RESOLVING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【判定层】怎么知道"三个连成一条"：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find_matches：逐行扫 run≥3 → 逐列扫 → 去重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try_swap：先交换 → 检查 → 无匹配弹回（回滚）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4450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记住状态机四个状态：今天 SWAPPING / RESOLVING 两个"刹车"正式登场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find_matches 今天会在循环里被反复调用——黑盒复用，不用改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作业讲评：匹配长度改 4 连 / print 打印颜色——问题集中答疑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消掉之后，上面空了怎么办？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454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40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┌─────────────────────────────────┐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│                                 ▼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① 交换成功        ② 三消消除        ③ 上面空了！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▲                                 │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│                            宝石要掉下来填坑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│                                 │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│                                 ▼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⑥ 可能连锁 ──── ⑤ 顶部补新 ◀──── ④ 下落压实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│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└──── 分数 ×2 ×3 飙升，游戏停不下来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1054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消掉一行三个宝石，上面空出来的洞谁来填？新宝石从哪来？填完会不会又凑出新三消？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这一连串"自己动起来"就是今天的主题——游戏循环</a:t>
            </a:r>
          </a:p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今天三个目标：①连锁循环（T2）②动画串行（T3）③人生第一个函数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今天三件事：循环 / 串行 / 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1242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07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目标① 连锁循环（T2）：while 有匹配 → 消除 → 下落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目标② 动画串行（T3）：await tween.finished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目标③ 人生第一个函数：_calc_score（计分规则自己写）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全景（本课代码去哪）：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board.gd ⑨ resolve_board    ← 循环引擎（10 行）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board.gd ⑩ clear_matches    ← 消除 + 计分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board.gd ⑪ fall_and_refill  ← 下落 + 补新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gem.gd   ④ 动画三件套       ← 表演（T3 模板）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7752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今天代码全在 board.gd——main.gd 一个字不用改（L2 已接好流程）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三件事环环相扣：循环靠动画串行才能不乱，计分函数挂在消除上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实操是重头戏（40 分钟）：写人生第一个函数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动画三件套：一颗宝石的三种"动法"（gem.gd 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8128000" cy="401574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8051800" cy="39649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## 动画①：滑动交换（0.15 秒）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func animate_swap_to(target: Vector2) -&gt; void: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var tween := create_tween()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tween.tween_property(self, "position", target, 0.15)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await tween.finished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## 动画②：消除（缩小 + 淡出，0.2 秒，同时进行）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func animate_clear() -&gt; void: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var tween := create_tween()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tween.set_parallel(true)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tween.tween_property(self, "scale", Vector2(0.2, 0.2), 0.2)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tween.tween_property(self, "modulate:a", 0.0, 0.2)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await tween.finished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666740"/>
            <a:ext cx="10744200" cy="108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Tween = 动画调度器</a:t>
            </a:r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：一句 tween_property 让属性随时间平滑变化——"滑动"的本质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三个函数套路一样：create_tween → tween_property → await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③下落时长由调用方传入（落得远花得久）——为什么？下一页揭晓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为什么动画必须"等"？（T3 模板 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8128000" cy="401574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8051800" cy="39649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❌ 不 await（并发）：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消除动画播到一半 → 下落已经开始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→ 两颗宝石位置交叉 → 乱飞穿帮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✅ await 串行：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消除动画播完 → 才播下落 → 顺序清清楚楚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func animate_clear() -&gt; void: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var tween := create_tween()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tween.set_parallel(true)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tween.tween_property(self, "scale", Vector2(0.2, 0.2), 0.2)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tween.tween_property(self, "modulate:a", 0.0, 0.2)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await tween.finished    # ← T3 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666740"/>
            <a:ext cx="10744200" cy="108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await tween.finished = 动画的刹车</a:t>
            </a:r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：播完之前，代码停在这行不往下走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不写会乱：同一颗宝石同时被两个 Tween 控制，必然穿帮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L2 交换动画其实已用过——今天正式命名：T3（可背）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并行 ≠ 串行：一个动画内部可以"同时"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8128000" cy="34213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8051800" cy="3370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【一个动画内部】可以并行（set_parallel(true)）：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缩小 + 淡出 同时进行 → 0.2 秒后既小又透明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（两件事不冲突，可以同时发生）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【动画之间】必须串行（await tween.finished）：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消除播完 → 才能播下落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（同一颗宝石的位置不能被两个动画同时改）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tween.set_parallel(true)      # 并行模式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tween.tween_property(self, "scale", Vector2(0.2, 0.2), 0.2)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tween.tween_property(self, "modulate:a", 0.0, 0.2)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072380"/>
            <a:ext cx="10744200" cy="82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两个层面：动画内部可并行，动画之间必须串行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类比：一个人可以边走边挥手（并行）；两个人开同一扇门要一个个来（串行）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5 颗宝石同时消除？只等第一颗就够了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4213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370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var first: Gem = null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for gem in matches: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if gem == null: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continue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var g2: Gem = gem as Gem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if first == null: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first = g2            # 第一颗：稍后 await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else: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g2.animate_clear()    # 其余：开播不等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if first != null: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await first.animate_clear()   # 等第一颗 = 全部播完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07238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所有宝石动画时长一样（都 0.2 秒）→ 一起开播 → 第一颗播完 = 全部播完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同组动画：播放并行，等待只一次——省时间，代码短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前提是时长一样——记住这个前提，clear_matches 里就这么用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先看循环：消除 → 下落 → 再检查（模板 T2 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1242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07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结算开始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│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└─ while true（无限循环）: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├─ 检查：还有匹配吗？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│    ├─ 没有 → break（结算结束）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│    └─ 有 → 继续：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│         ├─ 消除 + 计分（第1次×1，第2次×2…）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│         ├─ 下落 + 顶部补新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│         └─ 回循环开头再检查 ← 连锁！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775200"/>
            <a:ext cx="10744200" cy="14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连锁 = 循环重复</a:t>
            </a:r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：下落重新排列宝石，可能又凑出新三消——循环就是"只要有得消就继续消"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chain 每次 +1：第 2 次消除 ×2、第 3 次 ×3——连锁越深，分数越爆炸</a:t>
            </a:r>
          </a:p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T2 模板（可背）：while 有匹配: 消除 → 下落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resolve_board —— 循环的代码长这样（10 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8270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776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func resolve_board() -&gt; void: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var chain := 1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while true: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var matches: Array = find_matches()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if matches.is_empty():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break                        # 没有匹配，结束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await clear_matches(matches, chain)   # 消除 + 计分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await fall_and_refill()               # 下落 + 补新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chain += 1                            # 连锁次数 +1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47802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10 行，本课最短但最重要的函数——跟伪代码一模一样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await（T3）现场应用：消除播完才下落，下落播完才回循环开头——顺序不能乱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find_matches 是 L2 判定层写的——黑盒复用；break 是唯一出口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B88A2"/>
                </a:solidFill>
                <a:latin typeface="微软雅黑"/>
                <a:ea typeface="微软雅黑"/>
              </a:rPr>
              <a:t>先看下落：一列一列，压实 + 补货（fall_and_refill）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7846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733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fall_and_refill（下落 + 补新）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│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├─ 1. 开个"记账本" movers：记录每颗要动的宝石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│      → 落到哪 → 花多久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│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├─ 2. 逐列处理（8 列）：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│     ① 现有宝石下沉：自下而上扫，下面有洞 → 搬下去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│     ② 顶部补新：空位生成新宝石，起点在屏幕外（行 -1,-2…）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│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└─ 3. 一次性播放：一个并行 Tween 同时播所有下落动画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（await 一次，全部播完再返回）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435600"/>
            <a:ext cx="10744200" cy="13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下落 = 先记账、后播放</a:t>
            </a:r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：先记谁/去哪/多久，再一次性播动画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三个细节：自下而上压实（像倒沙子）/ 新宝石屏幕外排队 / 统一播放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数据与表现分离的进阶版——L2 交换动画也是这思路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B88A2"/>
                </a:solidFill>
                <a:latin typeface="微软雅黑"/>
                <a:ea typeface="微软雅黑"/>
              </a:rPr>
              <a:t>fall_and_refill 全貌（上）：记账本 + 逐列压实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41148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40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func fall_and_refill() -&gt; void: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var movers: Array = []                        # 记账本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for col in range(GRID_SIZE):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var write_row: int = GRID_SIZE - 1         # 落点：从最底行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for row in range(GRID_SIZE - 1, -1, -1):   # 自下而上扫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var gem: Gem = grid[col][row] as Gem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if gem == null: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	continue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if write_row != row:                     # 下面有洞 → 搬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	grid[col][row] = null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	grid[col][write_row] = gem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	gem.grid_pos = Vector2i(col, write_row)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	var cells: int = write_row - gem.grid_pos.y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	movers.append({"gem": gem, "target": ..., "duration": ...})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write_row -= 1                           # 落点上移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765800"/>
            <a:ext cx="107442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伪代码三段对代码三段：这是第 1-2 段（记账本 + 压实）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别被长度吓到——真正要懂的就两个点：串行为什么必须 await（已讲）；为什么自下而上 + 按格数算时长（下两页）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4B88A2"/>
                </a:solidFill>
                <a:latin typeface="微软雅黑"/>
                <a:ea typeface="微软雅黑"/>
              </a:rPr>
              <a:t>fall_and_refill 全貌（下）：顶部补新 + 统一播放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9636760" cy="46431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9560560" cy="4592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var spawn_index := 0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while write_row &gt;= 0:                       # 顶部补新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var target_pos := Vector2i(col, write_row)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var start_pos := Vector2i(col, -1 - spawn_index)   # 屏幕外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var gem2: Gem = _spawn_gem(random_gem_type(), target_pos)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gem2.position = grid_to_world(start_pos)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grid[col][write_row] = gem2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movers.append({"gem": gem2, "target": ..., "duration": ...})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spawn_index += 1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	write_row -= 1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if movers.is_empty():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return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var tween: Tween = create_tween()             # 统一播放下落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tween.set_parallel(true)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for item in movers: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tween.tween_property(item["gem"], "position", item["target"], item["duration"])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await tween.finished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6294120"/>
            <a:ext cx="10744200" cy="462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第 3 段：补新（屏幕外排队）+ 统一播放（一个并行 Tween，await 一次）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movers.is_empty() 防御：没宝石要动就直接返回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下落的核心：自下而上 + 一格只填一次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4213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3705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var write_row: int = GRID_SIZE - 1         # 落点：从最底行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for row in range(GRID_SIZE - 1, -1, -1):   # 自下而上扫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var gem: Gem = grid[col][row] as Gem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if gem == null: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	continue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if write_row != row:                     # 下面有洞 → 搬下去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	grid[col][row] = null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	grid[col][write_row] = gem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	gem.grid_pos = Vector2i(col, write_row)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	movers.append({"gem": gem, ...})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write_row -= 1                           # 落点上移一格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072380"/>
            <a:ext cx="10744200" cy="14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write_row = 落点指针</a:t>
            </a:r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：从最底行往上走，扫到的宝石有洞就搬到落点，然后落点上移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为什么自下而上？从上往下扫，宝石的"落点"计算会乱——自下而上 = 每个空洞只被填一次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数据先行：grid 和 grid_pos 先更新，动画只是"表演"（L2 套路）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时长按格数算：落得远，花得久（恒速下落）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11061700" cy="18034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10985500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		var cells: int = write_row - from_row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		var duration: float = maxf(FALL_PER_CELL, float(cells) * FALL_PER_CELL)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		# FALL_PER_CELL = 0.08（board.gd 顶部常量）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			# 落 1 格 = 0.08s，落 3 格 = 0.24s —— 近似恒速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4544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为什么按格数：落 1 格和落 5 格用同样时间，速度忽快忽慢——不像重力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maxf(最小值, 值) = 取较大者：保证动画不会短到"瞬移"</a:t>
            </a:r>
          </a:p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一个数字 = 手感：0.08 改成 0.2 立刻慢动作——课后作业就是改它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补货：新宝石从屏幕外排队落下来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8505190" cy="31242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8428990" cy="307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var spawn_index := 0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while write_row &gt;= 0:                       # 还有空位 → 补新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var target_pos := Vector2i(col, write_row)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var start_pos := Vector2i(col, -1 - spawn_index)   # 屏幕外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var gem2: Gem = _spawn_gem(random_gem_type(), target_pos)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gem2.position = grid_to_world(start_pos)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grid[col][write_row] = gem2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movers.append({"gem": gem2, "target": ..., "duration": ...})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spawn_index += 1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write_row -=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7752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起点行 -1、-2……越靠上的空位起点越高——"补货机从上往下补"，不是凭空出现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_spawn_gem 是 L1 学的：照图纸 instantiate + setup——新宝石也是图纸造的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random_gem_type() 颜色随机 → 可能凑出新三消 → 连锁的源头（回 C1 循环）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补货 + 一起动：记账完毕，统一兑现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10768330" cy="22326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10692130" cy="21818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if movers.is_empty():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return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var tween: Tween = create_tween()             # 记账完毕，统一兑现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tween.set_parallel(true)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for item in movers: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tween.tween_property(item["gem"], "position", item["target"], item["duration"])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await tween.finished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88366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为什么先记账后播放？边扫边播 → 第 1 颗先落、第 5 颗后落 → 画面乱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记账本模式：一个并行 Tween 一起播 → 所有宝石同时开始、同时结束，只 await 一次</a:t>
            </a:r>
          </a:p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这个模式以后写动画反复用——先记账、后兑现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clear_matches：清数据 → 播动画 → 删节点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41148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40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func clear_matches(matches: Array, chain: int) -&gt; void: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match_cleared.emit()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var groups: Array = find_match_groups()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var base: int = _calc_score(groups)     # ← 实操函数在这被调用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var gained: int = base * chain          # 连锁倍率 ×2 ×3…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score += gained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score_changed.emit(score)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# ① 先从数据表移除（grid 清成 null）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for gem in matches: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if gem == null: continue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	grid[gem.grid_pos.x][gem.grid_pos.y] = null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# ② 并行播放消除动画——只 await 第一颗（A4 技巧）</a:t>
            </a:r>
          </a:p>
          <a:p>
            <a:r>
              <a:rPr sz="1600" b="0">
                <a:solidFill>
                  <a:srgbClr val="1F1F1F"/>
                </a:solidFill>
                <a:latin typeface="Consolas"/>
                <a:ea typeface="Consolas"/>
              </a:rPr>
              <a:t>	# ③ 动画结束后 queue_free 删节点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765800"/>
            <a:ext cx="107442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三步：清数据 → 播动画（只 await 第一颗）→ 删节点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数据先行、动画后行——和 L2 交换一个套路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计分按"组"算（find_match_groups）：L 形共用一颗的组分开算——L2 伏笔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分数怎么涨？基础分 × 连锁倍率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1242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07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计分 = 基础分（_calc_score）× 连锁倍率（chain）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例 1：第一次消除，一组 3 连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基础分 = 30（3 个 = 30 分）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× chain = 1 → 得 30 分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例 2：连锁第 3 次，一组 4 连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基础分 = 40（4 个 = 40 分）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× chain = 3 → 得 120 分！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7752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基础分看一组几个（3个30、4个40）——规则由 _calc_score 定，就是你实操要写的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连锁倍率 ×n：鼓励连锁——三消的爽感引擎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两个信号（match_cleared / score_changed）发出去有人自动响应——L4 细讲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SWAPPING / RESOLVING：动画期间的"刹车"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1242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07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L2 状态机：IDLE / SELECTED / SWAPPING / RESOLVING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今天补完最后两块拼图：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SWAPPING  = 交换动画播放中 → 锁输入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RESOLVING = 结算循环运行中 → 锁输入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锁输入怎么实现？（L2 已写，回顾）：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func _unhandled_input(event: InputEvent) -&gt; void: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if state == State.SWAPPING or state == State.RESOLVING: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return          # 动画中：直接忽略点击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7752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为什么锁：结算循环是 async 的（要等动画）——动画期间又点宝石，状态就乱了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谁解锁：循环 break 后 Main 把 state 设回 IDLE——L2 的 _do_swap 已写好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今天不用写这行代码——L2 已装好刹车，本课让 RESOLVING 真正派上用场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函数是什么？榨汁机（输入 → 处理 → 输出）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7940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      ┌─────────────┐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水果 ──▶  榨汁机    ──▶ 果汁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（输入）  （处理）    （输出）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函数也一样：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groups（匹配组数组）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──▶ 处理：遍历 + 数个数 + 套公式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──▶ 总分（int）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445000"/>
            <a:ext cx="10744200" cy="14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函数 = 输入 → 处理 → 输出</a:t>
            </a:r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：把一段逻辑装进"盒子"，给它输入，它给你输出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为什么需要：①复用（写一次到处用）②分工（调用的人不用管内部——黑盒思想正面版）</a:t>
            </a:r>
          </a:p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你已经用过一堆函数（find_matches / grid_to_world）——今天自己造一个！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函数的"长相"：签名四要素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7940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func 函数名(参数: 类型) -&gt; 返回类型: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函数体（处理逻辑）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return 结果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实战（我们的实操题）：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func _calc_score(groups: Array) -&gt; int: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# 函数体：你来写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	pass        # pass = 空占位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4450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四要素：func 关键字 / 名字（_开头=私有）/ 参数（带类型）/ -&gt; int 返回类型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写了 -&gt; int 就必须 return 整数，否则报错——实操最容易踩的坑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pass 是占位：函数体空着不报错——模板就是带签名的空壳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轮到你了：写 _calc_score（人生第一个函数 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7185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66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需求：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输入：groups（匹配组数组）——每组 ≥3 个同色宝石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输出：总分（int）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规则：每组 3 个 = 30 分，每多 1 个 +10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     4 连 = 40 分，5 连 = 50 分…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例子：[红红红, 蓝蓝蓝蓝] → 30 + 40 = 70 分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模板（签名已写好，函数体留空）：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func _calc_score(groups: Array) -&gt; int: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# TODO：你来填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536956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需求一句话：3 个 = 30 分，多 1 个 +10。输入匹配组，输出总分</a:t>
            </a:r>
          </a:p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模板在实操文件 Courses/实操模板/L3-calc-score.md——签名注释都写好，你填函数体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讲师先完整写一遍（下一页）→ 你们自己写 → F5 消一组看分数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讲师示范：一行一行来（参考答案）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2326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1818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func _calc_score(groups: Array) -&gt; int: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var total := 0                  # ① 开"总分"账本，初始 0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for group in groups:            # ② 遍历每一组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var n: int = group.size()   # ③ 数一数这组几颗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if n &gt;= 3:                  # ④ 够 3 个才算分（不是 &gt;3！）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		total += 30 + (n - 3) * 10   # ⑤ 套公式累加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	return total                    # ⑥ 交回总分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88366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①开账本 ②for 遍历（L1 学过）③.size() 数个数 ④&gt;=3 才算（3连也要算！）⑤30+(n-3)*10 ⑥return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逐行跟着写一遍，写完抄进自己的 board.gd ⑩ 区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抄也是一种学习——抄完改成自己的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写的时候就用这三个零件（卡住看这里）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31242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307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三个零件：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遍历  for group in groups:         ← 一组一组处理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数数  var n: int = group.size()    ← 这组有几颗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累加  total += 30 + (n - 3) * 10   ← 套公式加分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防手抖（巡视常见错误）：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❌ 忘写 return total       → 报错（-&gt; int 必须返回）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❌ group.size() 少括号     → 报错（size 是函数要带 ()）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❌ if n &gt; 3                → 3 连的组被跳过（应 &gt;= 3）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✅ 空数组传入             → 循环不执行，返回 0（正常）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7752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三个零件：for 遍历、size 数数、+= 累加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四个防手抖：忘 return / size 少括号 / n&gt;3 漏算 / 空数组返回 0 是正常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写不出来？先抄我的再改——抄也是一种学习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写完怎么验证？F5 消除看分数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4638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41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F5 运行 → 制造消除 → 看分数：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消除 3 连      → 分数 +30      ✅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消除 4 连      → 分数 +40      ✅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3 连 + 4 连    → 分数 +70      ✅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连锁 2 次      → 第 2 次消除 ×2 ✅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空数组（防御） → 返回 0 不报错 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114800"/>
            <a:ext cx="10744200" cy="1179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验证标准：3 连 30 分、4 连 40 分、多组累加、连锁自动 ×n</a:t>
            </a:r>
          </a:p>
          <a:p>
            <a:r>
              <a:rPr sz="1800" b="0">
                <a:solidFill>
                  <a:srgbClr val="000000"/>
                </a:solidFill>
                <a:latin typeface="微软雅黑"/>
                <a:ea typeface="微软雅黑"/>
              </a:rPr>
              <a:t>连锁不用专门造——玩着玩着自然触发，看到 ×2 ×3 飙升就是成功</a:t>
            </a:r>
          </a:p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都过了？你已从"改代码的人"变成"写代码的人"——人生第一个函数 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还想玩？课后作业 + 挑战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876540" cy="28270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800340" cy="2776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课后作业（二选一，都是改一行）：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① 加分规则改成 3 个 = 50 分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  → total += 50 + (n - 3) * 10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② 连锁倍率 ×2 封顶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  → clear_matches 里 base * chain 改 base * min(chain, 2)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挑战 More：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给连锁加音效节奏（参考 match_cleared 信号）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查查 min() 是什么函数——刚学的"函数"知识立刻用上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478020"/>
            <a:ext cx="10744200" cy="82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作业二选一，都是改一行：①30→50（一个数字）②min(chain,2) 封顶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min 是 Godot 内置函数，取较小者——你刚学会写函数，函数无处不在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恭喜：你写了人生第一个函数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52984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47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本课四件套（都进你的"工具箱"）：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T2 结算循环   while 有匹配: 消除 → 下落   （连锁 = 循环）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T3 动画串行   await tween.finished        （动画之间必须等）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记账本模式    movers 先记账 → 统一兑现     （先记账后播放）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函数          func 名字(参数) -&gt; 返回类型  （输入→处理→输出）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里程碑：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L1 看代码 → L2 读代码 → L3 写代码 → L4 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180840"/>
            <a:ext cx="10744200" cy="82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四件套背下来：T2 循环 / T3 串行 / 记账本 / 函数——L4 和以后做游戏都用得上</a:t>
            </a:r>
          </a:p>
          <a:p>
            <a:r>
              <a:rPr sz="1800" b="1">
                <a:solidFill>
                  <a:srgbClr val="C00000"/>
                </a:solidFill>
                <a:latin typeface="微软雅黑"/>
                <a:ea typeface="微软雅黑"/>
              </a:rPr>
              <a:t>里程碑：L1 看、L2 读、L3 写——完成从"玩家"到"作者"的第一步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今天的三件事（循环 / 串行 / 函数）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46380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41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① 循环（T2）：while 有匹配 → 消除 → 下落 —— 连锁 = 循环重复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② 串行（T3）：await tween.finished —— 动画之间必须等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③ 函数：输入 → 处理 → 输出 —— 你写完了人生第一个函数！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完整循环再走一遍（F5）：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交换 → 消除（缩小+淡出）→ 下落（恒速）→ 补新 → 可能连锁</a:t>
            </a:r>
          </a:p>
          <a:p>
            <a:r>
              <a:rPr sz="2000" b="0">
                <a:solidFill>
                  <a:srgbClr val="1F1F1F"/>
                </a:solidFill>
                <a:latin typeface="Consolas"/>
                <a:ea typeface="Consolas"/>
              </a:rPr>
              <a:t>  分数：基础分 × 连锁倍率，一路飙升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114800"/>
            <a:ext cx="10744200" cy="82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微软雅黑"/>
                <a:ea typeface="微软雅黑"/>
              </a:rPr>
              <a:t>今天三件事：循环、串行、函数——最后一个尤其重要</a:t>
            </a:r>
          </a:p>
          <a:p>
            <a:r>
              <a:rPr sz="1800" b="0">
                <a:solidFill>
                  <a:srgbClr val="00B050"/>
                </a:solidFill>
                <a:latin typeface="微软雅黑"/>
                <a:ea typeface="微软雅黑"/>
              </a:rPr>
              <a:t>F5 再看一遍完整循环——今天你们把每一环都拆开看过了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30400" y="762000"/>
            <a:ext cx="9550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4B88A2"/>
                </a:solidFill>
                <a:latin typeface="微软雅黑"/>
                <a:ea typeface="微软雅黑"/>
              </a:rPr>
              <a:t>下节课：整个游戏怎么串起来的 + 打包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98600"/>
            <a:ext cx="7696200" cy="282702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524000"/>
            <a:ext cx="7620000" cy="2776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第 4 课《架构与发布》：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· 信号流全景：HUD → Main → Board 怎么对话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 （match_cleared / score_changed 今天已见过）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· 四个角色：main（指挥）/ board（规则）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  / gem（棋子）/ hud（界面）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· 打包：做成 exe / 网页，发给朋友玩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/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彩蛋：await 和信号其实是同一套机制——</a:t>
            </a:r>
          </a:p>
          <a:p>
            <a:r>
              <a:rPr sz="1800" b="0">
                <a:solidFill>
                  <a:srgbClr val="1F1F1F"/>
                </a:solidFill>
                <a:latin typeface="Consolas"/>
                <a:ea typeface="Consolas"/>
              </a:rPr>
              <a:t>  今天你用了 await，下节课就懂信号了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478020"/>
            <a:ext cx="10744200" cy="82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B050"/>
                </a:solidFill>
                <a:latin typeface="微软雅黑"/>
                <a:ea typeface="微软雅黑"/>
              </a:rPr>
              <a:t>下节课：信号流全景 + 打包 exe——你做的游戏就能发给别人玩了</a:t>
            </a:r>
          </a:p>
          <a:p>
            <a:r>
              <a:rPr sz="1800" b="0">
                <a:solidFill>
                  <a:srgbClr val="C00000"/>
                </a:solidFill>
                <a:latin typeface="微软雅黑"/>
                <a:ea typeface="微软雅黑"/>
              </a:rPr>
              <a:t>彩蛋：await 和信号是同一套机制——到时候就全通了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6232</Words>
  <Application>Microsoft Office PowerPoint</Application>
  <PresentationFormat>宽屏</PresentationFormat>
  <Paragraphs>302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Microsoft YaHei UI</vt:lpstr>
      <vt:lpstr>等线</vt:lpstr>
      <vt:lpstr>等线 Light</vt:lpstr>
      <vt:lpstr>华文行楷</vt:lpstr>
      <vt:lpstr>微软雅黑</vt:lpstr>
      <vt:lpstr>Arial</vt:lpstr>
      <vt:lpstr>Consolas</vt:lpstr>
      <vt:lpstr>Times New Roman</vt:lpstr>
      <vt:lpstr>Office 主题​​</vt:lpstr>
      <vt:lpstr>1_Office 主题​​</vt:lpstr>
      <vt:lpstr>包装程序外壳对象</vt:lpstr>
      <vt:lpstr>Infoco*IGC 联合社课 游戏开发先导课</vt:lpstr>
      <vt:lpstr>欢迎走上这条无底的不归路！（模拟浇冷水的背景图）</vt:lpstr>
      <vt:lpstr>课程计划：一份基础三消游戏</vt:lpstr>
      <vt:lpstr>需要你去做的：</vt:lpstr>
      <vt:lpstr>链接页</vt:lpstr>
      <vt:lpstr>为什么用Godot？</vt:lpstr>
      <vt:lpstr>为什么讲三消？</vt:lpstr>
      <vt:lpstr>设计拆解</vt:lpstr>
      <vt:lpstr>好了现在终于轮到我们的实操环节了（喜）</vt:lpstr>
      <vt:lpstr>新项目</vt:lpstr>
      <vt:lpstr>设置和素材</vt:lpstr>
      <vt:lpstr>进度已达成：这是？工作台！</vt:lpstr>
      <vt:lpstr>gem.tscn</vt:lpstr>
      <vt:lpstr>调整大小</vt:lpstr>
      <vt:lpstr>如法炮制一下，添加ColorRect</vt:lpstr>
      <vt:lpstr>准备添加灵魂</vt:lpstr>
      <vt:lpstr>进度已达成：整装上阵！</vt:lpstr>
      <vt:lpstr>开始拼代码环节：代码总览（gem.gd）</vt:lpstr>
      <vt:lpstr>奠定全文基调</vt:lpstr>
      <vt:lpstr>枚举宝石类型</vt:lpstr>
      <vt:lpstr>这是什么石头？石头在哪里？（抽屉格）</vt:lpstr>
      <vt:lpstr>获得子节点</vt:lpstr>
      <vt:lpstr>换色的方法 </vt:lpstr>
      <vt:lpstr>初始设置（登记身份ID）</vt:lpstr>
      <vt:lpstr>回到根节点，确认新增的内容</vt:lpstr>
      <vt:lpstr>开始添加宝石贴图，处理小警告</vt:lpstr>
      <vt:lpstr>达成成就：钻石！</vt:lpstr>
      <vt:lpstr>是时候开始准备主场景了~</vt:lpstr>
      <vt:lpstr>board.gd需要做的：</vt:lpstr>
      <vt:lpstr>原料：棋盘的格子和大小，准备实例化</vt:lpstr>
      <vt:lpstr>继续弄原料：待填满的数组</vt:lpstr>
      <vt:lpstr>零件：随机宝石</vt:lpstr>
      <vt:lpstr>零件：逻辑坐标 → 像素坐标</vt:lpstr>
      <vt:lpstr>有了原料和零件，那么我们开始组装吧~</vt:lpstr>
      <vt:lpstr>让宝石填满全格：清场 → 清表 → 双层循环 → 装表</vt:lpstr>
      <vt:lpstr>临时借用，判断三消是否成立</vt:lpstr>
      <vt:lpstr>保证游戏体验：开局查已有匹配 → 有就换随机色 → 再查</vt:lpstr>
      <vt:lpstr>组装</vt:lpstr>
      <vt:lpstr>继续优化：让棋盘位于窗口正中央</vt:lpstr>
      <vt:lpstr>总装！插上电源！</vt:lpstr>
      <vt:lpstr>达成成就：组织向导</vt:lpstr>
      <vt:lpstr>总结</vt:lpstr>
      <vt:lpstr>谢谢大家！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56</cp:revision>
  <dcterms:created xsi:type="dcterms:W3CDTF">2026-08-16T07:46:12Z</dcterms:created>
  <dcterms:modified xsi:type="dcterms:W3CDTF">2026-08-27T13:21:08Z</dcterms:modified>
</cp:coreProperties>
</file>